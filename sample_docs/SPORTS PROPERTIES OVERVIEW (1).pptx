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7" r:id="rId2"/>
    <p:sldId id="262" r:id="rId3"/>
    <p:sldId id="268" r:id="rId4"/>
    <p:sldId id="256" r:id="rId5"/>
    <p:sldId id="258" r:id="rId6"/>
    <p:sldId id="263" r:id="rId7"/>
    <p:sldId id="259" r:id="rId8"/>
    <p:sldId id="261" r:id="rId9"/>
    <p:sldId id="260" r:id="rId10"/>
    <p:sldId id="264" r:id="rId11"/>
    <p:sldId id="265" r:id="rId12"/>
    <p:sldId id="267"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06"/>
    <p:restoredTop sz="96371"/>
  </p:normalViewPr>
  <p:slideViewPr>
    <p:cSldViewPr snapToGrid="0" snapToObjects="1">
      <p:cViewPr varScale="1">
        <p:scale>
          <a:sx n="60" d="100"/>
          <a:sy n="60" d="100"/>
        </p:scale>
        <p:origin x="192" y="1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6470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EA6E0-AE45-048F-85CF-F8D6A741F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A2550-E3C1-A2A8-46B8-8B7A42D7E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B5CDC-A2FB-77C5-D793-CBE3DA6C1E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1EE1E9-0B83-0B11-9551-41183FEBE2CA}"/>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098316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5CA93-8977-45EF-42A8-7A2805699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7FF0E-34F0-4253-2E08-8E25105276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4B7DC-E36C-0031-6DAF-84EB440269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F7DE7D-84D8-B68D-9754-5265023DB92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86933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BD021-CE8C-AE13-BD06-F713C67A6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13CB7-DBC9-6B20-D876-EACB7E304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79293-FB69-C6CF-4E33-D958FF5ECD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EA6CFD-7040-4681-E2DF-DF49D2033C8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94115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DAEB6-D88B-0236-E773-9F4086CA2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789E0-6869-327F-9418-C1C904616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17E90-CE27-07F4-9A3E-00F3D82B42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F8D38C-7E20-A789-A0D5-FD08BFD0F10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96961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7E114-6A2C-1E6B-95D5-A854011C2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BB055-9E74-6452-D96B-9643BD535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680F6-6F77-F67C-7433-5E94D3BBE9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B6CF32-F9B5-0BB3-43F3-EA71F5CEF2A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50485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20846-058B-1BE7-A2E6-782B8AAD2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69E5A-FCD8-5D3D-F28C-24F17D2742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29CAA-5419-1FB1-690D-F2EA2F1AE2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B6E043-CE0C-985B-0622-03063889F41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74793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741DC-C35C-4211-23D1-5459E7594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EBED8-EFF5-2EF0-69B6-59C65EC9E9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37A3E-B49E-1B93-DBD3-B0D2BADB77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342FA4-A545-B9C5-630E-31D8EEDBAB8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0862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0D4A0-ED2D-569E-3E69-BFCF78992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C1782-CCD1-074A-C0A0-AE39F7355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8A93C-0E1F-64F2-52B0-A1E8C8E564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9B51F-4C22-9D95-317C-87FF1ECA74B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040855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8B101-06EF-8FFC-5536-541BFE636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FD97B-2DEB-8BB0-2B83-91F9BDE9C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EC05A7-68C9-EE87-5641-0C5E08129F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5B832E-0409-0A9A-3527-38BF5894D5F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76201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D38C9-AC76-8327-814E-1AFB3C5BA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DBBCE-D35A-BBAB-9209-1406DB3FA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E745A-F221-6E70-4359-4AF650910B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BEA896-2DBB-157C-AF5A-60790EDB716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32407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3A1F6-FE30-78A2-2C6E-1BD8BFE24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81234-CF7F-4F41-6AF3-79D330A04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43EF7F-1844-A996-7518-603CDAF084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405195-4348-42EA-7B53-034F671BEF1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58417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C05400-A965-582A-1C6B-9C44A607F9D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19223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08EF26-5C57-31AE-EC91-E5BAC80B23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AA194A-E081-88E7-6649-611CCBE406C4}"/>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2CD3AE2E-AEC3-6919-88EA-1E1DADE8A86E}"/>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ENGLISH PREMIER LEAGUE</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D4F24DCE-BDF9-6FFD-25DA-CDE43F3C6259}"/>
              </a:ext>
            </a:extLst>
          </p:cNvPr>
          <p:cNvGrpSpPr/>
          <p:nvPr/>
        </p:nvGrpSpPr>
        <p:grpSpPr>
          <a:xfrm>
            <a:off x="75257" y="731519"/>
            <a:ext cx="1234440" cy="6016521"/>
            <a:chOff x="371704" y="1051560"/>
            <a:chExt cx="2084832" cy="5394960"/>
          </a:xfrm>
        </p:grpSpPr>
        <p:sp>
          <p:nvSpPr>
            <p:cNvPr id="4" name="Shape 2">
              <a:extLst>
                <a:ext uri="{FF2B5EF4-FFF2-40B4-BE49-F238E27FC236}">
                  <a16:creationId xmlns:a16="http://schemas.microsoft.com/office/drawing/2014/main" id="{9ED2C772-5E35-6D9F-79AC-5791348E0DF8}"/>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3690669F-C155-9C3A-1AA5-D17A0138AB0A}"/>
                </a:ext>
              </a:extLst>
            </p:cNvPr>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48C17067-8581-2C34-834C-ABCDA144C2D5}"/>
                </a:ext>
              </a:extLst>
            </p:cNvPr>
            <p:cNvSpPr/>
            <p:nvPr/>
          </p:nvSpPr>
          <p:spPr>
            <a:xfrm>
              <a:off x="508864" y="1600200"/>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700" dirty="0">
                <a:latin typeface="Lato" panose="020F0502020204030203" pitchFamily="34" charset="0"/>
                <a:ea typeface="Lato" panose="020F0502020204030203" pitchFamily="34" charset="0"/>
                <a:cs typeface="Lato" panose="020F0502020204030203"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Sport: football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Competition: 20 clubs, 38 matches per club / 380 matches per season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Geographic base: England, with a highly international player, ownership and audience profile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Current media-rights value: ~$5.11bn (€4.4bn) per season on an </a:t>
              </a:r>
              <a:r>
                <a:rPr lang="en-US" altLang="en-US" sz="700" dirty="0" err="1">
                  <a:latin typeface="Lato" panose="020F0502020204030203" pitchFamily="34" charset="0"/>
                  <a:ea typeface="Lato" panose="020F0502020204030203" pitchFamily="34" charset="0"/>
                  <a:cs typeface="Lato" panose="020F0502020204030203" pitchFamily="34" charset="0"/>
                </a:rPr>
                <a:t>annualised</a:t>
              </a:r>
              <a:r>
                <a:rPr lang="en-US" altLang="en-US" sz="700" dirty="0">
                  <a:latin typeface="Lato" panose="020F0502020204030203" pitchFamily="34" charset="0"/>
                  <a:ea typeface="Lato" panose="020F0502020204030203" pitchFamily="34" charset="0"/>
                  <a:cs typeface="Lato" panose="020F0502020204030203" pitchFamily="34" charset="0"/>
                </a:rPr>
                <a:t> basis for 2025/26–2027/28.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This represents +22% vs. the previous cycle ($4.18bn/year) and ~36% vs. 2019–22 ($3.77bn/year), although FX movements account for part of the dollar-denominated growth.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International rights now exceed domestic rights: ~$2.88bn vs. ~$2.23bn annually.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Current rights economics establish the Premier League as the most valuable domestic football league globally and, according to </a:t>
              </a:r>
              <a:r>
                <a:rPr lang="en-US" altLang="en-US" sz="700" dirty="0" err="1">
                  <a:latin typeface="Lato" panose="020F0502020204030203" pitchFamily="34" charset="0"/>
                  <a:ea typeface="Lato" panose="020F0502020204030203" pitchFamily="34" charset="0"/>
                  <a:cs typeface="Lato" panose="020F0502020204030203" pitchFamily="34" charset="0"/>
                </a:rPr>
                <a:t>SportBusiness</a:t>
              </a:r>
              <a:r>
                <a:rPr lang="en-US" altLang="en-US" sz="700" dirty="0">
                  <a:latin typeface="Lato" panose="020F0502020204030203" pitchFamily="34" charset="0"/>
                  <a:ea typeface="Lato" panose="020F0502020204030203" pitchFamily="34" charset="0"/>
                  <a:cs typeface="Lato" panose="020F0502020204030203" pitchFamily="34" charset="0"/>
                </a:rPr>
                <a:t>, the second-most valuable sports property by media rights behind the NFL. </a:t>
              </a:r>
            </a:p>
          </p:txBody>
        </p:sp>
      </p:grpSp>
      <p:grpSp>
        <p:nvGrpSpPr>
          <p:cNvPr id="22" name="Group 21">
            <a:extLst>
              <a:ext uri="{FF2B5EF4-FFF2-40B4-BE49-F238E27FC236}">
                <a16:creationId xmlns:a16="http://schemas.microsoft.com/office/drawing/2014/main" id="{CD551349-07DE-D6E2-285F-ECA051D4F859}"/>
              </a:ext>
            </a:extLst>
          </p:cNvPr>
          <p:cNvGrpSpPr/>
          <p:nvPr/>
        </p:nvGrpSpPr>
        <p:grpSpPr>
          <a:xfrm>
            <a:off x="1364244" y="731519"/>
            <a:ext cx="1796285" cy="6016521"/>
            <a:chOff x="2712568" y="1051560"/>
            <a:chExt cx="2084832" cy="5394960"/>
          </a:xfrm>
        </p:grpSpPr>
        <p:sp>
          <p:nvSpPr>
            <p:cNvPr id="7" name="Shape 5">
              <a:extLst>
                <a:ext uri="{FF2B5EF4-FFF2-40B4-BE49-F238E27FC236}">
                  <a16:creationId xmlns:a16="http://schemas.microsoft.com/office/drawing/2014/main" id="{EDB47116-0640-D46F-2F5A-26E506C111F6}"/>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14C5D3BB-2BC8-0D66-3CFD-4859303CBB51}"/>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E00BE637-1933-C7C5-6A60-C252E825CF7F}"/>
                </a:ext>
              </a:extLst>
            </p:cNvPr>
            <p:cNvSpPr/>
            <p:nvPr/>
          </p:nvSpPr>
          <p:spPr>
            <a:xfrm>
              <a:off x="2849728" y="1600200"/>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8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Premier League is fundamentally a global rather than UK-only media property, reflected by international rights generating ~56% of total media revenue.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All 380 matches are available to broadcasters in many overseas markets, including MENA and France.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International demand is geographically diversified, with particularly high-value markets across the US, Nordics, Sub-Saharan Africa, MENA and Asia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In the UK, the new rights cycle substantially expands live availability: broadcasters receive at least 267 matches per season vs. 200 previously, a ~34% increase.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Premier League content is increasingly used not only to sell TV subscriptions but as an acquisition/retention product for streaming, telecom and e-commerce ecosystems — e.g. Peacock/NBC, Coupang Play, Stan Sport and StarHub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The 2026 FIFA World Cup in North America could provide an additional catalyst for US football interest immediately before the Premier League's next US rights negotiation. </a:t>
              </a:r>
            </a:p>
          </p:txBody>
        </p:sp>
      </p:grpSp>
      <p:grpSp>
        <p:nvGrpSpPr>
          <p:cNvPr id="23" name="Group 22">
            <a:extLst>
              <a:ext uri="{FF2B5EF4-FFF2-40B4-BE49-F238E27FC236}">
                <a16:creationId xmlns:a16="http://schemas.microsoft.com/office/drawing/2014/main" id="{30A47BCD-8729-A1F9-068E-B398F97157F9}"/>
              </a:ext>
            </a:extLst>
          </p:cNvPr>
          <p:cNvGrpSpPr/>
          <p:nvPr/>
        </p:nvGrpSpPr>
        <p:grpSpPr>
          <a:xfrm>
            <a:off x="3215077" y="731519"/>
            <a:ext cx="2825288" cy="6016521"/>
            <a:chOff x="5053432" y="1051560"/>
            <a:chExt cx="2084832" cy="5394960"/>
          </a:xfrm>
        </p:grpSpPr>
        <p:sp>
          <p:nvSpPr>
            <p:cNvPr id="10" name="Shape 8">
              <a:extLst>
                <a:ext uri="{FF2B5EF4-FFF2-40B4-BE49-F238E27FC236}">
                  <a16:creationId xmlns:a16="http://schemas.microsoft.com/office/drawing/2014/main" id="{1D1FDC4E-F490-2A16-7A54-092128813182}"/>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12138194-D789-9A41-B647-96F4AE4856AB}"/>
                </a:ext>
              </a:extLst>
            </p:cNvPr>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7C04CF9B-6D70-F703-3B83-7B726AE97220}"/>
                </a:ext>
              </a:extLst>
            </p:cNvPr>
            <p:cNvSpPr/>
            <p:nvPr/>
          </p:nvSpPr>
          <p:spPr>
            <a:xfrm>
              <a:off x="5072820" y="1525273"/>
              <a:ext cx="2007653"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Total: ~$5.11bn/year, 2025/26–2027/28 </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annualised</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international ~$2.88bn + domestic ~$2.23bn.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UK — Sky: ~$1.70bn/year, 2025/26–2028/29; minimum 215 and maximum 224 live matches/year.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UK — TNT Sports: ~$432m/year, 52 exclusive matches/year.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UK — BBC: ~$90.8m/year for FTA highlights, including Match of the Day.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USA — NBC: $450m/year, 2022/23–2027/28; &gt;2x prior $167m/year agreement.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Nordics — Viaplay: ~€390m/year, 2022/23–2027/28; +116% vs. previous cycle. Amazon sublicenses one weekly match in Denmark and Sweden.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Sub-Saharan Africa — SuperSport: ~$200m/year, 2025/26–2027/28; down from approximately $225m previously.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MENA — beIN: ~$183m/year, 2025/26–2027/28; ~10% uplift from ~$167m/year.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Balkans — Telekom </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Srbija</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$116m/year, 2022/23–2027/28; extraordinary ~700% increase from $13.5m/year previously.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South America — ESPN: ~$110m/year, 2025/26–2027/28; flat vs. previous cycle.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Thailand/Cambodia/Laos — Jasmine: ~$100m/year, 2025/26–2030/31; approximately double previous ~$50m/year deal.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France — Canal+: current value undisclosed; previous cycle worth ~$87–93m/year.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Australia — Nine/Stan Sport: underlying Optus contract averages A$100m/year (~$65m at 2025 FX) through 2027/28; rights transferred to Nine following closure of Optus Sport.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China — Migu: just under $60m/year, 2025/26–2027/28; +50% vs. ~$40m/year previous cycle.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South Korea — Coupang: $50m/year, 2025/26–2030/31; +66% vs. previous cycle and includes FA Cup.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Singapore — StarHub: $45–50m/year, 2022/23–2027/28.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Hong Kong — Now TV: ~$48m/year, 2025/26–2027/28, including FA Cup.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Data — Genius Sports / Football </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DataCo</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~$105–110m/year, 2025/26–2028/29, across &gt;4,000 matches from the PL, EFL and SPFL; ~250% uplift from previous agreement</a:t>
              </a:r>
            </a:p>
          </p:txBody>
        </p:sp>
      </p:grpSp>
      <p:grpSp>
        <p:nvGrpSpPr>
          <p:cNvPr id="24" name="Group 23">
            <a:extLst>
              <a:ext uri="{FF2B5EF4-FFF2-40B4-BE49-F238E27FC236}">
                <a16:creationId xmlns:a16="http://schemas.microsoft.com/office/drawing/2014/main" id="{A065AE41-83F2-69E1-F291-02691EA97D4E}"/>
              </a:ext>
            </a:extLst>
          </p:cNvPr>
          <p:cNvGrpSpPr/>
          <p:nvPr/>
        </p:nvGrpSpPr>
        <p:grpSpPr>
          <a:xfrm>
            <a:off x="6121187" y="731519"/>
            <a:ext cx="2478803" cy="6016521"/>
            <a:chOff x="7394296" y="1051560"/>
            <a:chExt cx="2203704" cy="5394960"/>
          </a:xfrm>
        </p:grpSpPr>
        <p:sp>
          <p:nvSpPr>
            <p:cNvPr id="13" name="Shape 11">
              <a:extLst>
                <a:ext uri="{FF2B5EF4-FFF2-40B4-BE49-F238E27FC236}">
                  <a16:creationId xmlns:a16="http://schemas.microsoft.com/office/drawing/2014/main" id="{BAE4CA48-C909-9020-BB7C-EE8E1BA651D5}"/>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46508E6A-24EE-1687-C0ED-7D122D09ABB9}"/>
                </a:ext>
              </a:extLst>
            </p:cNvPr>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9E5AD4DD-56B5-7AA0-4023-624BF6038BD0}"/>
                </a:ext>
              </a:extLst>
            </p:cNvPr>
            <p:cNvSpPr/>
            <p:nvPr/>
          </p:nvSpPr>
          <p:spPr>
            <a:xfrm>
              <a:off x="7464281" y="1600200"/>
              <a:ext cx="206993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International rights have become the main growth engine: international income increased nearly 30% to $2.88bn/year, compared with only ~4% growth in UK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pay-TV</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rights.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The Premier League has successfully increased UK rights value largely by selling more inventory rather than dramatically increasing the price per match: minimum live games rose from 200 to 267, while Sky pays only ~7% more for 68–75% more matches.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Premier League Productions moves in-house from 2026/27, ending IMG's &gt;20-year role operating the production/distribution operation with the league.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Thailand/Cambodia/Laos emerged as a major growth market: Jasmine nearly doubled the rights value to ~$100m/year, illustrating the ability of new digital/telco entrants to create bidding tension.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China partially recovered: Migu's ~$60m/year agreement is +50%, but remains dramatically below the failed PP Sports contract of ~$233m/year agreed for 2019–22.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Australia's distribution model changed materially: Optus Sport closed in 2025 and its Premier League rights transferred to Nine, which distributes them through Stan Sport.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Market concentration is increasing: reduced broadcaster competition has already pressured values in markets such as Sub-Saharan Africa and France, while extreme competitive bidding produced unusually large uplifts in markets such as the Balkans and Thailand.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Next major international rights sales begin from 2028/29, followed by the UK cycle from 2029/30. </a:t>
              </a:r>
            </a:p>
          </p:txBody>
        </p:sp>
      </p:grpSp>
      <p:grpSp>
        <p:nvGrpSpPr>
          <p:cNvPr id="26" name="Group 25">
            <a:extLst>
              <a:ext uri="{FF2B5EF4-FFF2-40B4-BE49-F238E27FC236}">
                <a16:creationId xmlns:a16="http://schemas.microsoft.com/office/drawing/2014/main" id="{E56AD8ED-0841-6B9E-A7E1-B4E82360E3E5}"/>
              </a:ext>
            </a:extLst>
          </p:cNvPr>
          <p:cNvGrpSpPr/>
          <p:nvPr/>
        </p:nvGrpSpPr>
        <p:grpSpPr>
          <a:xfrm>
            <a:off x="8661952" y="731519"/>
            <a:ext cx="3454791" cy="6016521"/>
            <a:chOff x="9735160" y="1051560"/>
            <a:chExt cx="2084832" cy="5394960"/>
          </a:xfrm>
        </p:grpSpPr>
        <p:sp>
          <p:nvSpPr>
            <p:cNvPr id="16" name="Shape 14">
              <a:extLst>
                <a:ext uri="{FF2B5EF4-FFF2-40B4-BE49-F238E27FC236}">
                  <a16:creationId xmlns:a16="http://schemas.microsoft.com/office/drawing/2014/main" id="{D30FA099-FA72-DB7B-B726-C400DB245E5F}"/>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8FB7D92D-55D7-482D-D60D-20561A123B77}"/>
                </a:ext>
              </a:extLst>
            </p:cNvPr>
            <p:cNvSpPr/>
            <p:nvPr/>
          </p:nvSpPr>
          <p:spPr>
            <a:xfrm>
              <a:off x="9735160"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506E8576-9FA5-43EE-081A-BA78CDD8FE6C}"/>
                </a:ext>
              </a:extLst>
            </p:cNvPr>
            <p:cNvSpPr/>
            <p:nvPr/>
          </p:nvSpPr>
          <p:spPr>
            <a:xfrm>
              <a:off x="9872320" y="1558684"/>
              <a:ext cx="1810512" cy="470916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Premier League's principal competitive advantage is its international </a:t>
              </a:r>
              <a:r>
                <a:rPr lang="en-US" sz="700" dirty="0" err="1">
                  <a:latin typeface="Lato" panose="020F0502020204030203" pitchFamily="34" charset="0"/>
                  <a:ea typeface="Lato" panose="020F0502020204030203" pitchFamily="34" charset="0"/>
                  <a:cs typeface="Lato" panose="020F0502020204030203" pitchFamily="34" charset="0"/>
                </a:rPr>
                <a:t>monetisation</a:t>
              </a:r>
              <a:r>
                <a:rPr lang="en-US" sz="700" dirty="0">
                  <a:latin typeface="Lato" panose="020F0502020204030203" pitchFamily="34" charset="0"/>
                  <a:ea typeface="Lato" panose="020F0502020204030203" pitchFamily="34" charset="0"/>
                  <a:cs typeface="Lato" panose="020F0502020204030203" pitchFamily="34" charset="0"/>
                </a:rPr>
                <a:t>. At ~$2.88bn/year, overseas rights are ~29% higher than domestic rights and account for roughly 56% of total media-rights revenue. This differentiates it from most European football leagues, which remain substantially more dependent on their home markets.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International diversification reduces dependence on any single territory. Even the largest overseas contract — NBC at $450m/year — represents &lt;10% of total rights revenue. Weakness in China, France or Africa can therefore be offset by growth elsewhere.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The US is the biggest renewal opportunity/risk. NBC's $450m/year deal was secured amid exceptional bidding competition; maintaining that valuation after 2027/28 will be a major test. Timing immediately after the 2026 World Cup is </a:t>
              </a:r>
              <a:r>
                <a:rPr lang="en-US" sz="700" dirty="0" err="1">
                  <a:latin typeface="Lato" panose="020F0502020204030203" pitchFamily="34" charset="0"/>
                  <a:ea typeface="Lato" panose="020F0502020204030203" pitchFamily="34" charset="0"/>
                  <a:cs typeface="Lato" panose="020F0502020204030203" pitchFamily="34" charset="0"/>
                </a:rPr>
                <a:t>favourable</a:t>
              </a:r>
              <a:r>
                <a:rPr lang="en-US" sz="700" dirty="0">
                  <a:latin typeface="Lato" panose="020F0502020204030203" pitchFamily="34" charset="0"/>
                  <a:ea typeface="Lato" panose="020F0502020204030203" pitchFamily="34" charset="0"/>
                  <a:cs typeface="Lato" panose="020F0502020204030203" pitchFamily="34" charset="0"/>
                </a:rPr>
                <a:t>.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Domestic rights growth is less impressive than the headline suggests. Sky pays ~7% more but receives 68–75% more matches, indicating substantial compression in implied value per live game. Limited competition against Sky could constrain the next cycle.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Further domestic growth requires structural change. The largest remaining inventory lever is making all 380 matches available by relaxing the Saturday 3pm blackout; regulatory changes permitting a single buyer or longer contracts could also generate a premium.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Streaming/platform convergence is a major long-term opportunity. Amazon, Apple, Netflix and DAZN could eventually support regional/global rather than territory-by-territory deals. However, the league currently believes local-market sales still </a:t>
              </a:r>
              <a:r>
                <a:rPr lang="en-US" sz="700" dirty="0" err="1">
                  <a:latin typeface="Lato" panose="020F0502020204030203" pitchFamily="34" charset="0"/>
                  <a:ea typeface="Lato" panose="020F0502020204030203" pitchFamily="34" charset="0"/>
                  <a:cs typeface="Lato" panose="020F0502020204030203" pitchFamily="34" charset="0"/>
                </a:rPr>
                <a:t>maximise</a:t>
              </a:r>
              <a:r>
                <a:rPr lang="en-US" sz="700" dirty="0">
                  <a:latin typeface="Lato" panose="020F0502020204030203" pitchFamily="34" charset="0"/>
                  <a:ea typeface="Lato" panose="020F0502020204030203" pitchFamily="34" charset="0"/>
                  <a:cs typeface="Lato" panose="020F0502020204030203" pitchFamily="34" charset="0"/>
                </a:rPr>
                <a:t> value for a premium property.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DTC remains an option rather than an immediate strategy. The Premier League possesses the production and distribution capabilities to launch its own service, particularly after bringing production in-house, but doing so would transfer subscriber/acquisition risk from broadcasters to clubs.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Competitive intensity matters enormously. The Balkans delivered a ~700% increase when Telekom </a:t>
              </a:r>
              <a:r>
                <a:rPr lang="en-US" sz="700" dirty="0" err="1">
                  <a:latin typeface="Lato" panose="020F0502020204030203" pitchFamily="34" charset="0"/>
                  <a:ea typeface="Lato" panose="020F0502020204030203" pitchFamily="34" charset="0"/>
                  <a:cs typeface="Lato" panose="020F0502020204030203" pitchFamily="34" charset="0"/>
                </a:rPr>
                <a:t>Srbija</a:t>
              </a:r>
              <a:r>
                <a:rPr lang="en-US" sz="700" dirty="0">
                  <a:latin typeface="Lato" panose="020F0502020204030203" pitchFamily="34" charset="0"/>
                  <a:ea typeface="Lato" panose="020F0502020204030203" pitchFamily="34" charset="0"/>
                  <a:cs typeface="Lato" panose="020F0502020204030203" pitchFamily="34" charset="0"/>
                </a:rPr>
                <a:t> and United competed aggressively, whereas reduced competition has pressured France and Sub-Saharan Africa. The Premier League's future rights trajectory therefore depends as much on broadcaster competition as underlying fan demand.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Overall: the Premier League remains the benchmark international football media property. Its ~$5.1bn annual rights base, international revenue exceeding domestic revenue, and ability to command nine-figure contracts across numerous territories give it exceptional resilience. The principal question for the next cycle is whether further growth comes from higher pricing, additional match inventory, new global technology bidders or a structural move toward regional/global distribution rather than the traditional territory-by-territory model.</a:t>
              </a:r>
            </a:p>
          </p:txBody>
        </p:sp>
      </p:grpSp>
    </p:spTree>
    <p:extLst>
      <p:ext uri="{BB962C8B-B14F-4D97-AF65-F5344CB8AC3E}">
        <p14:creationId xmlns:p14="http://schemas.microsoft.com/office/powerpoint/2010/main" val="2926538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E0EAB41-3525-1A5E-C470-C31E10423D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59F412D-D320-EE23-FF10-FC4D427C8035}"/>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380A94F1-3F53-D989-DFCF-93E72A554DC3}"/>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FIFA WORLD CUP</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6BBB8172-1045-F53E-42A2-219A4E19EF96}"/>
              </a:ext>
            </a:extLst>
          </p:cNvPr>
          <p:cNvGrpSpPr/>
          <p:nvPr/>
        </p:nvGrpSpPr>
        <p:grpSpPr>
          <a:xfrm>
            <a:off x="75256" y="731519"/>
            <a:ext cx="1363907" cy="6016521"/>
            <a:chOff x="371704" y="1051560"/>
            <a:chExt cx="2084832" cy="5394960"/>
          </a:xfrm>
        </p:grpSpPr>
        <p:sp>
          <p:nvSpPr>
            <p:cNvPr id="4" name="Shape 2">
              <a:extLst>
                <a:ext uri="{FF2B5EF4-FFF2-40B4-BE49-F238E27FC236}">
                  <a16:creationId xmlns:a16="http://schemas.microsoft.com/office/drawing/2014/main" id="{4A8BAFF0-1C27-7EE2-B5EA-823268812845}"/>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39B07BFB-041A-49B6-3882-A70E4BCAB800}"/>
                </a:ext>
              </a:extLst>
            </p:cNvPr>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77B6213A-A613-33C8-988A-E5FF3C3510CC}"/>
                </a:ext>
              </a:extLst>
            </p:cNvPr>
            <p:cNvSpPr/>
            <p:nvPr/>
          </p:nvSpPr>
          <p:spPr>
            <a:xfrm>
              <a:off x="508864" y="1600200"/>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700" dirty="0">
                <a:latin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Sport: football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Property: FIFA World Cup, FIFA's flagship men's national-team competition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The 2026 World Cup is hosted by the US, Canada and Mexico and expands from 32 to 48 teams.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Match inventory increases from 64 to 104 matches (+62.5%), a major driver of the increase in rights value.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FIFA is on course to generate at least $4.3bn (€3.7bn) in media-rights revenue in 2026, &gt;45% above 2022. FIFA reports revenue by year/cycle rather than individual tournament, although most 2026 value is attributable to the World Cup.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FIFA's 2023–26 cycle is budgeted to generate $13bn of total revenue, +72% versus $7.568bn in 2019–22. The cycle also includes the 2025 Club World Cup and 2023 Women's World Cup.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Media rights represent approximately 44% of FIFA's 2026 revenue, alongside ~$3.0bn from hospitality/ticketing and ~$1.8bn from marketing rights.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FIFA has also introduced new betting/data and social-media rights products, adding ~$80m of incremental revenue for 2026.</a:t>
              </a:r>
            </a:p>
          </p:txBody>
        </p:sp>
      </p:grpSp>
      <p:grpSp>
        <p:nvGrpSpPr>
          <p:cNvPr id="22" name="Group 21">
            <a:extLst>
              <a:ext uri="{FF2B5EF4-FFF2-40B4-BE49-F238E27FC236}">
                <a16:creationId xmlns:a16="http://schemas.microsoft.com/office/drawing/2014/main" id="{19380023-FAA6-A327-C0E7-C82560EDBE35}"/>
              </a:ext>
            </a:extLst>
          </p:cNvPr>
          <p:cNvGrpSpPr/>
          <p:nvPr/>
        </p:nvGrpSpPr>
        <p:grpSpPr>
          <a:xfrm>
            <a:off x="1650684" y="731519"/>
            <a:ext cx="1796285" cy="6016521"/>
            <a:chOff x="2712568" y="1051560"/>
            <a:chExt cx="2084832" cy="5394960"/>
          </a:xfrm>
        </p:grpSpPr>
        <p:sp>
          <p:nvSpPr>
            <p:cNvPr id="7" name="Shape 5">
              <a:extLst>
                <a:ext uri="{FF2B5EF4-FFF2-40B4-BE49-F238E27FC236}">
                  <a16:creationId xmlns:a16="http://schemas.microsoft.com/office/drawing/2014/main" id="{0EC9B79C-945B-9C8B-92FD-E97F4F381CDE}"/>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49BF5BD8-AE40-65D1-5D05-70B641E5F21A}"/>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2666ABEE-FE62-7590-1BE4-08A50F39EE58}"/>
                </a:ext>
              </a:extLst>
            </p:cNvPr>
            <p:cNvSpPr/>
            <p:nvPr/>
          </p:nvSpPr>
          <p:spPr>
            <a:xfrm>
              <a:off x="2849728" y="1352314"/>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8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The World Cup is a genuinely global media property, with meaningful nine-figure rights values across North America, Latin America, Europe, Asia, MENA and Africa.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Expansion to 48 teams broadens the tournament's geographic relevance as well as increasing match inventory.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Africa illustrates this effect particularly clearly: 10 African teams participate in 2026 versus five in 2022, while Sub-Saharan African rights value doubled to ~$100m.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FIFA continues to balance FTA reach and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pay-TV</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monetisation</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Examples include M6 + beIN in France, Rai + DAZN in Italy and RTVE +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Mediapro</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/DAZN in Spain.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FIFA is actively targeting younger/digital audiences through TikTok and YouTube, which together are paying at least $45m for new social-media content packages.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The model allows participating broadcasters to stream the first 10 minutes of matches on social platforms, designed to funnel social audiences toward full-match coverage.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FIFA is therefore increasingly treating social platforms as paid distribution partners rather than purely promotional channels.</a:t>
              </a:r>
            </a:p>
          </p:txBody>
        </p:sp>
      </p:grpSp>
      <p:grpSp>
        <p:nvGrpSpPr>
          <p:cNvPr id="23" name="Group 22">
            <a:extLst>
              <a:ext uri="{FF2B5EF4-FFF2-40B4-BE49-F238E27FC236}">
                <a16:creationId xmlns:a16="http://schemas.microsoft.com/office/drawing/2014/main" id="{40EB6391-E73A-349A-3447-F24104ADD047}"/>
              </a:ext>
            </a:extLst>
          </p:cNvPr>
          <p:cNvGrpSpPr/>
          <p:nvPr/>
        </p:nvGrpSpPr>
        <p:grpSpPr>
          <a:xfrm>
            <a:off x="3512536" y="731519"/>
            <a:ext cx="2825288" cy="6016521"/>
            <a:chOff x="5053432" y="1051560"/>
            <a:chExt cx="2084832" cy="5394960"/>
          </a:xfrm>
        </p:grpSpPr>
        <p:sp>
          <p:nvSpPr>
            <p:cNvPr id="10" name="Shape 8">
              <a:extLst>
                <a:ext uri="{FF2B5EF4-FFF2-40B4-BE49-F238E27FC236}">
                  <a16:creationId xmlns:a16="http://schemas.microsoft.com/office/drawing/2014/main" id="{6861579E-6636-E405-792E-370A324048CC}"/>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E3BA1A15-B01F-0B8F-7968-E0F44D43FEEE}"/>
                </a:ext>
              </a:extLst>
            </p:cNvPr>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C05BF40F-CF06-A225-2ACA-CABF07903E7A}"/>
                </a:ext>
              </a:extLst>
            </p:cNvPr>
            <p:cNvSpPr/>
            <p:nvPr/>
          </p:nvSpPr>
          <p:spPr>
            <a:xfrm>
              <a:off x="5072820" y="1525273"/>
              <a:ext cx="2007653"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Total 2026 media rights: at least $4.3bn, &gt;45% above the 2022 World Cup year.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USA — Fox: $480m for 2026 English-language rights, comprising $300m base rights + $180m hosting bonus.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USA — Telemundo: $465m for Spanish-language rights, comprising $350m base + $115m hosting bonus.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Canada — Bell Media/CTV/TSN/RDS: $44m for 2026, increased from an initial $41.6m following the North American hosting award.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Spanish-speaking Latin America —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Mountrigi</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/Televisa: $250m attributed to the 2026 tournament.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Brazil — Globo +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LiveMode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CazéTV</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$310m combined ($220m Globo + $90m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LiveMode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broadly equal to FIFA's 2022 proceeds from the two groups.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Germany — Deutsche Telekom: men's 2026 rights represent almost all of a $245m combined package also containing 2027 Women's World Cup rights; ARD/ZDF sublicense coverage.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France — M6 + beIN: €150m combined (€120m for M6's 54 FTA matches + €30m for beIN's all-104-match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pay-TV</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package), approximately +25% vs. 2022.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Italy — Rai + DAZN: approximately €120m combined, down €45m/~27% versus 2022 following Italy's failure to qualify. Rai pays ~€85m and DAZN ~€35m.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Spain — RTVE: approximately $62m; RTVE sublicensed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pay-TV</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rights to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Mediapro</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for ~$20m, with DAZN distributing the resulting 104-match channel.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EBU — 10 European territories: just over $43m attributed to the 2026 edition.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China — CMG/CCTV: approximately $480m covering the 2026 + 2030 men's and 2027 + 2031 women's World Cups; most value is attributed to the men's competitions.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Japan — Dentsu: approximately $215m for 2026; slightly lower in USD than the implied previous per-tournament value but materially higher in yen.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South Korea — JTBC: approximately $275m covering the 2026 + 2030 men's World Cups and 2027 Women's World Cup.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Sub-Saharan Africa — New World TV + SuperSport: approximately $100m combined, double the ~$50m generated for 2022.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MENA — beIN: $480m total for the 2026 + 2030 World Cups, versus ~$400m for 2018 + 2022.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Global betting/data — Stats Perform: approximately $35m under a 2026–29 FIFA-wide agreement, with most value attributable to the World Cup.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Social — TikTok + YouTube: at least $45m combined for 2026: TikTok ≥$25m and YouTube ~$20m. </a:t>
              </a:r>
            </a:p>
          </p:txBody>
        </p:sp>
      </p:grpSp>
      <p:grpSp>
        <p:nvGrpSpPr>
          <p:cNvPr id="24" name="Group 23">
            <a:extLst>
              <a:ext uri="{FF2B5EF4-FFF2-40B4-BE49-F238E27FC236}">
                <a16:creationId xmlns:a16="http://schemas.microsoft.com/office/drawing/2014/main" id="{D0C7D4FF-72DC-5C0A-301D-3525686813C3}"/>
              </a:ext>
            </a:extLst>
          </p:cNvPr>
          <p:cNvGrpSpPr/>
          <p:nvPr/>
        </p:nvGrpSpPr>
        <p:grpSpPr>
          <a:xfrm>
            <a:off x="6411817" y="731519"/>
            <a:ext cx="1916935" cy="6016521"/>
            <a:chOff x="7394296" y="1051560"/>
            <a:chExt cx="2203704" cy="5394960"/>
          </a:xfrm>
        </p:grpSpPr>
        <p:sp>
          <p:nvSpPr>
            <p:cNvPr id="13" name="Shape 11">
              <a:extLst>
                <a:ext uri="{FF2B5EF4-FFF2-40B4-BE49-F238E27FC236}">
                  <a16:creationId xmlns:a16="http://schemas.microsoft.com/office/drawing/2014/main" id="{09C47E19-B93B-A991-B22C-91B65BE9FAE9}"/>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FDC41C57-D668-108B-B453-60A42D29F6B8}"/>
                </a:ext>
              </a:extLst>
            </p:cNvPr>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1241454E-2F7B-9EB0-C3BB-D9939E9DFC58}"/>
                </a:ext>
              </a:extLst>
            </p:cNvPr>
            <p:cNvSpPr/>
            <p:nvPr/>
          </p:nvSpPr>
          <p:spPr>
            <a:xfrm>
              <a:off x="7464281" y="1600200"/>
              <a:ext cx="206993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2026 expansion is the fundamental revenue catalyst. Moving from 64 to 104 matches gives broadcasters &gt;60% more inventory and allows FIFA to </a:t>
              </a:r>
              <a:r>
                <a:rPr lang="en-US" altLang="en-US" sz="800" dirty="0" err="1">
                  <a:latin typeface="Lato" panose="020F0502020204030203" pitchFamily="34" charset="0"/>
                  <a:ea typeface="Lato" panose="020F0502020204030203" pitchFamily="34" charset="0"/>
                  <a:cs typeface="Lato" panose="020F0502020204030203" pitchFamily="34" charset="0"/>
                </a:rPr>
                <a:t>monetise</a:t>
              </a:r>
              <a:r>
                <a:rPr lang="en-US" altLang="en-US" sz="800" dirty="0">
                  <a:latin typeface="Lato" panose="020F0502020204030203" pitchFamily="34" charset="0"/>
                  <a:ea typeface="Lato" panose="020F0502020204030203" pitchFamily="34" charset="0"/>
                  <a:cs typeface="Lato" panose="020F0502020204030203" pitchFamily="34" charset="0"/>
                </a:rPr>
                <a:t> substantially more games, advertising slots and digital content.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FIFA's media-rights income is consequently on course to be &gt;45% higher than in 2022, despite difficult conditions across the global sports-rights and advertising markets.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FIFA has brought Asian rights sales back in-house, eliminating agency margins that previously went to Infront; Infront reportedly generated ~$170m from FIFA Asian-rights sales between 2015 and 2022.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FIFA has also shifted European sales toward a market-by-market approach, increasing competitive pressure rather than relying as heavily on large EBU packages.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Sub-Saharan Africa has doubled in value, driven by New World TV's aggressive market entry and the tournament's expanded African representation.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Italy demonstrates the importance of national-team performance: failure to qualify reduced rights value by ~27% despite the tournament expanding from 64 to 104 matches.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Social media has become a directly </a:t>
              </a:r>
              <a:r>
                <a:rPr lang="en-US" altLang="en-US" sz="800" dirty="0" err="1">
                  <a:latin typeface="Lato" panose="020F0502020204030203" pitchFamily="34" charset="0"/>
                  <a:ea typeface="Lato" panose="020F0502020204030203" pitchFamily="34" charset="0"/>
                  <a:cs typeface="Lato" panose="020F0502020204030203" pitchFamily="34" charset="0"/>
                </a:rPr>
                <a:t>monetised</a:t>
              </a:r>
              <a:r>
                <a:rPr lang="en-US" altLang="en-US" sz="800" dirty="0">
                  <a:latin typeface="Lato" panose="020F0502020204030203" pitchFamily="34" charset="0"/>
                  <a:ea typeface="Lato" panose="020F0502020204030203" pitchFamily="34" charset="0"/>
                  <a:cs typeface="Lato" panose="020F0502020204030203" pitchFamily="34" charset="0"/>
                </a:rPr>
                <a:t> rights category. TikTok and YouTube contribute ≥$45m, with Snapchat and Meta also under discussion at the source date.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Betting streaming is another new category: FIFA sold men's World Cup betting streaming rights for the first time through Stats Perform.</a:t>
              </a:r>
            </a:p>
          </p:txBody>
        </p:sp>
      </p:grpSp>
      <p:grpSp>
        <p:nvGrpSpPr>
          <p:cNvPr id="26" name="Group 25">
            <a:extLst>
              <a:ext uri="{FF2B5EF4-FFF2-40B4-BE49-F238E27FC236}">
                <a16:creationId xmlns:a16="http://schemas.microsoft.com/office/drawing/2014/main" id="{44D898DA-B54F-79A3-69A2-0A11CD9011DE}"/>
              </a:ext>
            </a:extLst>
          </p:cNvPr>
          <p:cNvGrpSpPr/>
          <p:nvPr/>
        </p:nvGrpSpPr>
        <p:grpSpPr>
          <a:xfrm>
            <a:off x="8376669" y="292607"/>
            <a:ext cx="3740074" cy="6455433"/>
            <a:chOff x="9735160" y="1051560"/>
            <a:chExt cx="2084832" cy="5394960"/>
          </a:xfrm>
        </p:grpSpPr>
        <p:sp>
          <p:nvSpPr>
            <p:cNvPr id="16" name="Shape 14">
              <a:extLst>
                <a:ext uri="{FF2B5EF4-FFF2-40B4-BE49-F238E27FC236}">
                  <a16:creationId xmlns:a16="http://schemas.microsoft.com/office/drawing/2014/main" id="{B150E58D-E7C4-6FD6-2DE6-A5E78473C1FD}"/>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467739D4-F36F-DD93-2249-C8A2B4B09F19}"/>
                </a:ext>
              </a:extLst>
            </p:cNvPr>
            <p:cNvSpPr/>
            <p:nvPr/>
          </p:nvSpPr>
          <p:spPr>
            <a:xfrm>
              <a:off x="9735160" y="1064319"/>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DCE87D2E-DAC1-3E86-BDCF-A6B2397786FD}"/>
                </a:ext>
              </a:extLst>
            </p:cNvPr>
            <p:cNvSpPr/>
            <p:nvPr/>
          </p:nvSpPr>
          <p:spPr>
            <a:xfrm>
              <a:off x="9872320" y="1469826"/>
              <a:ext cx="1810512" cy="470916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The World Cup is one of the most </a:t>
              </a:r>
              <a:r>
                <a:rPr lang="en-US" sz="700" dirty="0" err="1">
                  <a:latin typeface="Lato" panose="020F0502020204030203" pitchFamily="34" charset="0"/>
                  <a:ea typeface="Lato" panose="020F0502020204030203" pitchFamily="34" charset="0"/>
                  <a:cs typeface="Lato" panose="020F0502020204030203" pitchFamily="34" charset="0"/>
                </a:rPr>
                <a:t>monetisable</a:t>
              </a:r>
              <a:r>
                <a:rPr lang="en-US" sz="700" dirty="0">
                  <a:latin typeface="Lato" panose="020F0502020204030203" pitchFamily="34" charset="0"/>
                  <a:ea typeface="Lato" panose="020F0502020204030203" pitchFamily="34" charset="0"/>
                  <a:cs typeface="Lato" panose="020F0502020204030203" pitchFamily="34" charset="0"/>
                </a:rPr>
                <a:t> scarce-event properties in global sport. At ≥$4.3bn of 2026 media-rights income, a tournament held only once every four years generates economics comparable with several years of many major annual sports properties.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Expansion is doing much of the heavy lifting. Media revenue rises &gt;45%, but match inventory rises 62.5% (64 → 104). Therefore, the headline revenue increase does not necessarily imply equivalent growth in value per match.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The Americas represent both enormous value and a major missed opportunity. Fox + Telemundo alone contribute $945m, yet both 2026 agreements were effectively extensions rather than competitively tendered deals. </a:t>
              </a:r>
              <a:r>
                <a:rPr lang="en-US" sz="700" dirty="0" err="1">
                  <a:latin typeface="Lato" panose="020F0502020204030203" pitchFamily="34" charset="0"/>
                  <a:ea typeface="Lato" panose="020F0502020204030203" pitchFamily="34" charset="0"/>
                  <a:cs typeface="Lato" panose="020F0502020204030203" pitchFamily="34" charset="0"/>
                </a:rPr>
                <a:t>SportBusiness</a:t>
              </a:r>
              <a:r>
                <a:rPr lang="en-US" sz="700" dirty="0">
                  <a:latin typeface="Lato" panose="020F0502020204030203" pitchFamily="34" charset="0"/>
                  <a:ea typeface="Lato" panose="020F0502020204030203" pitchFamily="34" charset="0"/>
                  <a:cs typeface="Lato" panose="020F0502020204030203" pitchFamily="34" charset="0"/>
                </a:rPr>
                <a:t> notes substantial criticism that FIFA therefore left value on the table.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The Latin American </a:t>
              </a:r>
              <a:r>
                <a:rPr lang="en-US" sz="700" dirty="0" err="1">
                  <a:latin typeface="Lato" panose="020F0502020204030203" pitchFamily="34" charset="0"/>
                  <a:ea typeface="Lato" panose="020F0502020204030203" pitchFamily="34" charset="0"/>
                  <a:cs typeface="Lato" panose="020F0502020204030203" pitchFamily="34" charset="0"/>
                </a:rPr>
                <a:t>Mountrigi</a:t>
              </a:r>
              <a:r>
                <a:rPr lang="en-US" sz="700" dirty="0">
                  <a:latin typeface="Lato" panose="020F0502020204030203" pitchFamily="34" charset="0"/>
                  <a:ea typeface="Lato" panose="020F0502020204030203" pitchFamily="34" charset="0"/>
                  <a:cs typeface="Lato" panose="020F0502020204030203" pitchFamily="34" charset="0"/>
                </a:rPr>
                <a:t> agreement presents an even clearer example. FIFA receives $250m across Spanish-speaking Latin America, while industry estimates cited by </a:t>
              </a:r>
              <a:r>
                <a:rPr lang="en-US" sz="700" dirty="0" err="1">
                  <a:latin typeface="Lato" panose="020F0502020204030203" pitchFamily="34" charset="0"/>
                  <a:ea typeface="Lato" panose="020F0502020204030203" pitchFamily="34" charset="0"/>
                  <a:cs typeface="Lato" panose="020F0502020204030203" pitchFamily="34" charset="0"/>
                </a:rPr>
                <a:t>SportBusiness</a:t>
              </a:r>
              <a:r>
                <a:rPr lang="en-US" sz="700" dirty="0">
                  <a:latin typeface="Lato" panose="020F0502020204030203" pitchFamily="34" charset="0"/>
                  <a:ea typeface="Lato" panose="020F0502020204030203" pitchFamily="34" charset="0"/>
                  <a:cs typeface="Lato" panose="020F0502020204030203" pitchFamily="34" charset="0"/>
                </a:rPr>
                <a:t> suggest Mexico alone could have been worth at least $150m for 2022 under a competitive process.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Selling rights too early created a structural pricing problem. Several contracts were agreed before FIFA knew that 2026 would expand to 48 teams and before North America was awarded hosting rights. FIFA therefore locked in economics before two major value catalysts </a:t>
              </a:r>
              <a:r>
                <a:rPr lang="en-US" sz="700" dirty="0" err="1">
                  <a:latin typeface="Lato" panose="020F0502020204030203" pitchFamily="34" charset="0"/>
                  <a:ea typeface="Lato" panose="020F0502020204030203" pitchFamily="34" charset="0"/>
                  <a:cs typeface="Lato" panose="020F0502020204030203" pitchFamily="34" charset="0"/>
                </a:rPr>
                <a:t>materialised</a:t>
              </a:r>
              <a:r>
                <a:rPr lang="en-US" sz="700" dirty="0">
                  <a:latin typeface="Lato" panose="020F0502020204030203" pitchFamily="34" charset="0"/>
                  <a:ea typeface="Lato" panose="020F0502020204030203" pitchFamily="34" charset="0"/>
                  <a:cs typeface="Lato" panose="020F0502020204030203" pitchFamily="34" charset="0"/>
                </a:rPr>
                <a:t>.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The current strategy appears designed to correct this. Bringing Asian sales in-house and pushing Europe toward territory-by-territory bidding gives FIFA greater control over pricing and allows it to capture margins previously retained by intermediaries.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National-team qualification remains a major local-market variable. Italy's ~27% decline shows that even a World Cup's global brand cannot fully insulate local rights value from whether the home nation participates.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FX is another meaningful variable. Japan demonstrates that underlying local-currency demand can strengthen while FIFA's USD-reported economics deteriorate because of currency depreciation.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Digital platforms are creating incremental inventory rather than simply replacing broadcasters. The TikTok/YouTube model </a:t>
              </a:r>
              <a:r>
                <a:rPr lang="en-US" sz="700" dirty="0" err="1">
                  <a:latin typeface="Lato" panose="020F0502020204030203" pitchFamily="34" charset="0"/>
                  <a:ea typeface="Lato" panose="020F0502020204030203" pitchFamily="34" charset="0"/>
                  <a:cs typeface="Lato" panose="020F0502020204030203" pitchFamily="34" charset="0"/>
                </a:rPr>
                <a:t>monetises</a:t>
              </a:r>
              <a:r>
                <a:rPr lang="en-US" sz="700" dirty="0">
                  <a:latin typeface="Lato" panose="020F0502020204030203" pitchFamily="34" charset="0"/>
                  <a:ea typeface="Lato" panose="020F0502020204030203" pitchFamily="34" charset="0"/>
                  <a:cs typeface="Lato" panose="020F0502020204030203" pitchFamily="34" charset="0"/>
                </a:rPr>
                <a:t> short-form and opening-match content while deliberately directing viewers toward full linear coverage. That allows FIFA to generate new revenue without materially </a:t>
              </a:r>
              <a:r>
                <a:rPr lang="en-US" sz="700" dirty="0" err="1">
                  <a:latin typeface="Lato" panose="020F0502020204030203" pitchFamily="34" charset="0"/>
                  <a:ea typeface="Lato" panose="020F0502020204030203" pitchFamily="34" charset="0"/>
                  <a:cs typeface="Lato" panose="020F0502020204030203" pitchFamily="34" charset="0"/>
                </a:rPr>
                <a:t>cannibalising</a:t>
              </a:r>
              <a:r>
                <a:rPr lang="en-US" sz="700" dirty="0">
                  <a:latin typeface="Lato" panose="020F0502020204030203" pitchFamily="34" charset="0"/>
                  <a:ea typeface="Lato" panose="020F0502020204030203" pitchFamily="34" charset="0"/>
                  <a:cs typeface="Lato" panose="020F0502020204030203" pitchFamily="34" charset="0"/>
                </a:rPr>
                <a:t> its core broadcast packages.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The 2030 cycle should therefore have significant repricing potential. FIFA will enter future negotiations with evidence of the expanded 104-match format, direct experience selling Asia in-house, more digital bidders and fewer legacy contracts negotiated before expansion.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Overall: the FIFA World Cup is a $4.3bn+ media-rights event whose value is still not necessarily fully </a:t>
              </a:r>
              <a:r>
                <a:rPr lang="en-US" sz="700" dirty="0" err="1">
                  <a:latin typeface="Lato" panose="020F0502020204030203" pitchFamily="34" charset="0"/>
                  <a:ea typeface="Lato" panose="020F0502020204030203" pitchFamily="34" charset="0"/>
                  <a:cs typeface="Lato" panose="020F0502020204030203" pitchFamily="34" charset="0"/>
                </a:rPr>
                <a:t>optimised</a:t>
              </a:r>
              <a:r>
                <a:rPr lang="en-US" sz="700" dirty="0">
                  <a:latin typeface="Lato" panose="020F0502020204030203" pitchFamily="34" charset="0"/>
                  <a:ea typeface="Lato" panose="020F0502020204030203" pitchFamily="34" charset="0"/>
                  <a:cs typeface="Lato" panose="020F0502020204030203" pitchFamily="34" charset="0"/>
                </a:rPr>
                <a:t>. The 2026 expansion drives a major headline increase, but legacy agreements in the Americas and challenging Asian conditions constrain the upside. The larger strategic opportunity is 2030 and beyond, when FIFA can combine the proven 48-team format with later sales timing, competitive market-by-market tenders, direct rights sales and new social/betting packages to extract more value from arguably the most global single-event sports property.</a:t>
              </a:r>
            </a:p>
          </p:txBody>
        </p:sp>
      </p:grpSp>
    </p:spTree>
    <p:extLst>
      <p:ext uri="{BB962C8B-B14F-4D97-AF65-F5344CB8AC3E}">
        <p14:creationId xmlns:p14="http://schemas.microsoft.com/office/powerpoint/2010/main" val="2801773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LALIGA</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BA8811D4-50DF-8DE9-604E-CE1EBC8A96A3}"/>
              </a:ext>
            </a:extLst>
          </p:cNvPr>
          <p:cNvGrpSpPr/>
          <p:nvPr/>
        </p:nvGrpSpPr>
        <p:grpSpPr>
          <a:xfrm>
            <a:off x="272143" y="731520"/>
            <a:ext cx="1037553" cy="5833872"/>
            <a:chOff x="371704" y="1051560"/>
            <a:chExt cx="2084832" cy="5394960"/>
          </a:xfrm>
        </p:grpSpPr>
        <p:sp>
          <p:nvSpPr>
            <p:cNvPr id="4" name="Shape 2"/>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p:cNvSpPr/>
            <p:nvPr/>
          </p:nvSpPr>
          <p:spPr>
            <a:xfrm>
              <a:off x="508864" y="1600200"/>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Sport: football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Rights holder/organizer: LaLiga (Liga Nacional de Fútbol Profesional)</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Brands: LaLiga EA Sports (1st tier), LaLiga Hypermotion (2nd tier)</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20 clubs; season runs Aug–May, 38 matchdays</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International distribution is highly fragmented, with 65+ deals across 90+ broadcasters and a mix of agency-led, direct and joint-venture sales models</a:t>
              </a:r>
              <a:endParaRPr lang="en-US" sz="900" dirty="0">
                <a:latin typeface="Lato" panose="020F0502020204030203" pitchFamily="34" charset="0"/>
                <a:ea typeface="Lato" panose="020F0502020204030203" pitchFamily="34" charset="0"/>
                <a:cs typeface="Lato" panose="020F0502020204030203" pitchFamily="34" charset="0"/>
              </a:endParaRPr>
            </a:p>
          </p:txBody>
        </p:sp>
      </p:grpSp>
      <p:grpSp>
        <p:nvGrpSpPr>
          <p:cNvPr id="22" name="Group 21">
            <a:extLst>
              <a:ext uri="{FF2B5EF4-FFF2-40B4-BE49-F238E27FC236}">
                <a16:creationId xmlns:a16="http://schemas.microsoft.com/office/drawing/2014/main" id="{C7545741-0FB5-313B-406A-B0953FF5C416}"/>
              </a:ext>
            </a:extLst>
          </p:cNvPr>
          <p:cNvGrpSpPr/>
          <p:nvPr/>
        </p:nvGrpSpPr>
        <p:grpSpPr>
          <a:xfrm>
            <a:off x="1364244" y="731520"/>
            <a:ext cx="1796285" cy="5833872"/>
            <a:chOff x="2712568" y="1051560"/>
            <a:chExt cx="2084832" cy="5394960"/>
          </a:xfrm>
        </p:grpSpPr>
        <p:sp>
          <p:nvSpPr>
            <p:cNvPr id="7" name="Shape 5"/>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p:cNvSpPr/>
            <p:nvPr/>
          </p:nvSpPr>
          <p:spPr>
            <a:xfrm>
              <a:off x="2849728" y="1600200"/>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Global reach: 2.7bn+ viewers in 2022/23 season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Most-followed of Europe's “Big 5” leagues on social media</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200m+ followers across 16 accounts (X, Instagram, TikTok, Facebook, Weibo, Line)</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Skews young — TikTok is the fastest-growing platform</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LaLiga set a new attendance record in 2025/26, surpassing 17.5 million spectators—up 0.8% year-over-year</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Tv audience in 2022/23 season was 2.7bn </a:t>
              </a: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Regional free-to-air broadcasts achieved a 9.5% audience share in Spain</a:t>
              </a: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Average of ~235,000 unique viewers per regional free-to-air match</a:t>
              </a: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~40% of media rights revenue generated internationally </a:t>
              </a:r>
            </a:p>
          </p:txBody>
        </p:sp>
      </p:grpSp>
      <p:grpSp>
        <p:nvGrpSpPr>
          <p:cNvPr id="23" name="Group 22">
            <a:extLst>
              <a:ext uri="{FF2B5EF4-FFF2-40B4-BE49-F238E27FC236}">
                <a16:creationId xmlns:a16="http://schemas.microsoft.com/office/drawing/2014/main" id="{A0946D75-9C58-5D1D-1EDD-2CE01B73B821}"/>
              </a:ext>
            </a:extLst>
          </p:cNvPr>
          <p:cNvGrpSpPr/>
          <p:nvPr/>
        </p:nvGrpSpPr>
        <p:grpSpPr>
          <a:xfrm>
            <a:off x="3215077" y="731520"/>
            <a:ext cx="2825288" cy="5833872"/>
            <a:chOff x="5053432" y="1051560"/>
            <a:chExt cx="2084832" cy="5394960"/>
          </a:xfrm>
        </p:grpSpPr>
        <p:sp>
          <p:nvSpPr>
            <p:cNvPr id="10" name="Shape 8"/>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p:cNvSpPr/>
            <p:nvPr/>
          </p:nvSpPr>
          <p:spPr>
            <a:xfrm>
              <a:off x="5190592" y="1600200"/>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2024/25 international rights value: €765m, growing ~€20m/yr since 2020/21</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North America (incl. Canada): €144.1m (21/22–28/29)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ESPN</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LaLiga Asia-Pacific: €99.5m</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Mexico &amp; Central America: €61.6m (2024–32)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Sky Mexico</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France: €32m (24/25–25/26); new tender launched May 2026</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Nordics: €25m (26/27–29/30)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TV2 Norway, Disney+</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Russia: €25m (24/25–30/31)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Gazprom Media</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DACH: €15m (21/22–25/26)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DAZN</a:t>
              </a: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 </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Poland: €12m (21/22–25/26)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Canal+</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Netherlands: €11.5m (24/25–28/29)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Ziggo</a:t>
              </a: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 </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UK &amp; Ireland: €11.4m (25/26–27/28)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Premier Sports, Disney+</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Italy: €8.5m (24/25–28/29)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DAZN</a:t>
              </a: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 </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Portugal: €7.5m (24/25–28/29)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DAZN</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Romania: €5.2m (26/27–30/31)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Digi Sport</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Hungary: €4.7m (25/26–28/29)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TV2 Group </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Turkey: €4.5m (22/23–26/27)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Saran Media</a:t>
              </a:r>
              <a:endParaRPr lang="en-US" sz="900" b="1"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Czech Republic/Slovakia: €3m (26/27–30/31)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Saran Media gave rights to (CME)</a:t>
              </a:r>
              <a:endParaRPr lang="en-US" sz="900" b="1" dirty="0">
                <a:latin typeface="Lato" panose="020F0502020204030203" pitchFamily="34" charset="0"/>
                <a:ea typeface="Lato" panose="020F0502020204030203" pitchFamily="34" charset="0"/>
                <a:cs typeface="Lato" panose="020F0502020204030203" pitchFamily="34" charset="0"/>
              </a:endParaRPr>
            </a:p>
          </p:txBody>
        </p:sp>
      </p:grpSp>
      <p:grpSp>
        <p:nvGrpSpPr>
          <p:cNvPr id="24" name="Group 23">
            <a:extLst>
              <a:ext uri="{FF2B5EF4-FFF2-40B4-BE49-F238E27FC236}">
                <a16:creationId xmlns:a16="http://schemas.microsoft.com/office/drawing/2014/main" id="{0FC92EA1-55C0-BFE4-7839-F0FBAB956443}"/>
              </a:ext>
            </a:extLst>
          </p:cNvPr>
          <p:cNvGrpSpPr/>
          <p:nvPr/>
        </p:nvGrpSpPr>
        <p:grpSpPr>
          <a:xfrm>
            <a:off x="6121187" y="731520"/>
            <a:ext cx="3307940" cy="5833872"/>
            <a:chOff x="7394296" y="1051560"/>
            <a:chExt cx="2203704" cy="5394960"/>
          </a:xfrm>
        </p:grpSpPr>
        <p:sp>
          <p:nvSpPr>
            <p:cNvPr id="13" name="Shape 11"/>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p:cNvSpPr/>
            <p:nvPr/>
          </p:nvSpPr>
          <p:spPr>
            <a:xfrm>
              <a:off x="7464281" y="1600200"/>
              <a:ext cx="206993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Domestic rights (Movistar+/DAZN) extended 27/28–31/32 for €6.135bn, +9% vs. prior cycle; matches split evenly, ending Movistar's exclusive weeks</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Host Broadcasting Services replaced </a:t>
              </a:r>
              <a:r>
                <a:rPr lang="en-US" sz="900" dirty="0" err="1">
                  <a:latin typeface="Lato" panose="020F0502020204030203" pitchFamily="34" charset="0"/>
                  <a:ea typeface="Lato" panose="020F0502020204030203" pitchFamily="34" charset="0"/>
                  <a:cs typeface="Lato" panose="020F0502020204030203" pitchFamily="34" charset="0"/>
                </a:rPr>
                <a:t>Mediapro</a:t>
              </a:r>
              <a:r>
                <a:rPr lang="en-US" sz="900" dirty="0">
                  <a:latin typeface="Lato" panose="020F0502020204030203" pitchFamily="34" charset="0"/>
                  <a:ea typeface="Lato" panose="020F0502020204030203" pitchFamily="34" charset="0"/>
                  <a:cs typeface="Lato" panose="020F0502020204030203" pitchFamily="34" charset="0"/>
                </a:rPr>
                <a:t> as LaLiga's host broadcaster, ending </a:t>
              </a:r>
              <a:r>
                <a:rPr lang="en-US" sz="900" dirty="0" err="1">
                  <a:latin typeface="Lato" panose="020F0502020204030203" pitchFamily="34" charset="0"/>
                  <a:ea typeface="Lato" panose="020F0502020204030203" pitchFamily="34" charset="0"/>
                  <a:cs typeface="Lato" panose="020F0502020204030203" pitchFamily="34" charset="0"/>
                </a:rPr>
                <a:t>Mediapro's</a:t>
              </a:r>
              <a:r>
                <a:rPr lang="en-US" sz="900" dirty="0">
                  <a:latin typeface="Lato" panose="020F0502020204030203" pitchFamily="34" charset="0"/>
                  <a:ea typeface="Lato" panose="020F0502020204030203" pitchFamily="34" charset="0"/>
                  <a:cs typeface="Lato" panose="020F0502020204030203" pitchFamily="34" charset="0"/>
                </a:rPr>
                <a:t> 20+ year tenure producing the competition</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International tenders relaunched across 7+ European markets at higher values; Premier Sports renews UK/Ireland to 27/28</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Miami game: Barcelona–Villarreal approved by UEFA/RFEF as first-ever LaLiga match abroad, then cancelled (Dec 2025) after player protests</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LaLiga has intensified its anti-piracy strategy through legal enforcement, technology partnerships and court-backed blocking measures to protect the value of its media rights. LaLiga secured a landmark legal victory against piracy platform Roja Directa (€31.6m damages), reinforcing its broader strategy to protect the long-term value of domestic and international media rights</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Real Madrid continues its legal challenge against the €1.99bn CVC/</a:t>
              </a:r>
              <a:r>
                <a:rPr lang="en-US" sz="900" dirty="0" err="1">
                  <a:latin typeface="Lato" panose="020F0502020204030203" pitchFamily="34" charset="0"/>
                  <a:ea typeface="Lato" panose="020F0502020204030203" pitchFamily="34" charset="0"/>
                  <a:cs typeface="Lato" panose="020F0502020204030203" pitchFamily="34" charset="0"/>
                </a:rPr>
                <a:t>Impulso</a:t>
              </a:r>
              <a:r>
                <a:rPr lang="en-US" sz="900" dirty="0">
                  <a:latin typeface="Lato" panose="020F0502020204030203" pitchFamily="34" charset="0"/>
                  <a:ea typeface="Lato" panose="020F0502020204030203" pitchFamily="34" charset="0"/>
                  <a:cs typeface="Lato" panose="020F0502020204030203" pitchFamily="34" charset="0"/>
                </a:rPr>
                <a:t> agreement, despite lower-court rulings upholding the deal. The investment continues to fund stadium, digital and commercial development across participating clubs</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LaLiga continues to invest in AI-powered content, digital fan engagement, data-driven products, gaming and esports, and global fan activation as part of its long-term commercial strategy</a:t>
              </a:r>
            </a:p>
          </p:txBody>
        </p:sp>
      </p:grpSp>
      <p:grpSp>
        <p:nvGrpSpPr>
          <p:cNvPr id="26" name="Group 25">
            <a:extLst>
              <a:ext uri="{FF2B5EF4-FFF2-40B4-BE49-F238E27FC236}">
                <a16:creationId xmlns:a16="http://schemas.microsoft.com/office/drawing/2014/main" id="{043B5BAD-0627-C864-F12E-526BFC3D2C9C}"/>
              </a:ext>
            </a:extLst>
          </p:cNvPr>
          <p:cNvGrpSpPr/>
          <p:nvPr/>
        </p:nvGrpSpPr>
        <p:grpSpPr>
          <a:xfrm>
            <a:off x="9509949" y="731520"/>
            <a:ext cx="2418900" cy="5833872"/>
            <a:chOff x="9735160" y="1051560"/>
            <a:chExt cx="2084832" cy="5394960"/>
          </a:xfrm>
        </p:grpSpPr>
        <p:sp>
          <p:nvSpPr>
            <p:cNvPr id="16" name="Shape 14"/>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p:cNvSpPr/>
            <p:nvPr/>
          </p:nvSpPr>
          <p:spPr>
            <a:xfrm>
              <a:off x="9735160"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p:cNvSpPr/>
            <p:nvPr/>
          </p:nvSpPr>
          <p:spPr>
            <a:xfrm>
              <a:off x="9872320" y="1600200"/>
              <a:ext cx="1810512" cy="470916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LaLiga’s media rights are gradually growing and are stable until 2031/32 domestically and mostly internationally</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Highly diversified global rights distribution (65+ deals/90+ broadcasters) provides flexibility to </a:t>
              </a:r>
              <a:r>
                <a:rPr lang="en-US" sz="900" dirty="0" err="1">
                  <a:latin typeface="Lato" panose="020F0502020204030203" pitchFamily="34" charset="0"/>
                  <a:ea typeface="Lato" panose="020F0502020204030203" pitchFamily="34" charset="0"/>
                  <a:cs typeface="Lato" panose="020F0502020204030203" pitchFamily="34" charset="0"/>
                </a:rPr>
                <a:t>optimise</a:t>
              </a:r>
              <a:r>
                <a:rPr lang="en-US" sz="900" dirty="0">
                  <a:latin typeface="Lato" panose="020F0502020204030203" pitchFamily="34" charset="0"/>
                  <a:ea typeface="Lato" panose="020F0502020204030203" pitchFamily="34" charset="0"/>
                  <a:cs typeface="Lato" panose="020F0502020204030203" pitchFamily="34" charset="0"/>
                </a:rPr>
                <a:t> future rights packaging and commercial partnerships</a:t>
              </a: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LaLiga remains one of the most valued international sports property. Renewed international tenders demonstrate continued demand for premium football rights despite an increasingly competitive sports media market</a:t>
              </a: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International media rights are strategically critical, contributing approximately 40% of LaLiga's media rights revenue while supporting the league's global commercial reach</a:t>
              </a: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The scale of LaLiga's anti-piracy investment highlights the growing importance of protecting broadcaster value, subscription revenues and future rights negotiations</a:t>
              </a:r>
            </a:p>
            <a:p>
              <a:pPr>
                <a:lnSpc>
                  <a:spcPct val="105000"/>
                </a:lnSpc>
                <a:spcAft>
                  <a:spcPts val="600"/>
                </a:spcAft>
                <a:buSzPct val="100000"/>
              </a:pP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nSpc>
                  <a:spcPct val="105000"/>
                </a:lnSpc>
                <a:spcAft>
                  <a:spcPts val="600"/>
                </a:spcAft>
                <a:buSzPct val="100000"/>
                <a:buFontTx/>
                <a:buChar char="•"/>
              </a:pP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nSpc>
                  <a:spcPct val="105000"/>
                </a:lnSpc>
                <a:spcAft>
                  <a:spcPts val="600"/>
                </a:spcAft>
                <a:buSzPct val="100000"/>
                <a:buFontTx/>
                <a:buChar char="•"/>
              </a:pPr>
              <a:endParaRPr lang="en-US" sz="900" dirty="0">
                <a:latin typeface="Lato" panose="020F0502020204030203" pitchFamily="34" charset="0"/>
                <a:ea typeface="Lato" panose="020F0502020204030203" pitchFamily="34" charset="0"/>
                <a:cs typeface="Lato" panose="020F0502020204030203" pitchFamily="34"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2D06A1-795B-ABC8-4F84-A9B946CB80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670CD0-577E-B427-0ACF-806D0A530FE4}"/>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12AC5E78-C66B-0CBB-CD47-974582A8BE50}"/>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SERIE A</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FE6AE0FA-1ED1-9DE8-92A0-B1472F3D5F4B}"/>
              </a:ext>
            </a:extLst>
          </p:cNvPr>
          <p:cNvGrpSpPr/>
          <p:nvPr/>
        </p:nvGrpSpPr>
        <p:grpSpPr>
          <a:xfrm>
            <a:off x="272143" y="731520"/>
            <a:ext cx="1037553" cy="5833872"/>
            <a:chOff x="371704" y="1051560"/>
            <a:chExt cx="2084832" cy="5394960"/>
          </a:xfrm>
        </p:grpSpPr>
        <p:sp>
          <p:nvSpPr>
            <p:cNvPr id="4" name="Shape 2">
              <a:extLst>
                <a:ext uri="{FF2B5EF4-FFF2-40B4-BE49-F238E27FC236}">
                  <a16:creationId xmlns:a16="http://schemas.microsoft.com/office/drawing/2014/main" id="{987825B4-EF29-D5B4-EB0C-3B9296BF877D}"/>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17CB7DFF-77F0-3207-8AC1-78563211A118}"/>
                </a:ext>
              </a:extLst>
            </p:cNvPr>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5C9E800A-3F8A-1E85-1ED4-7E10343EAD7B}"/>
                </a:ext>
              </a:extLst>
            </p:cNvPr>
            <p:cNvSpPr/>
            <p:nvPr/>
          </p:nvSpPr>
          <p:spPr>
            <a:xfrm>
              <a:off x="508864" y="1600200"/>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Sport: football </a:t>
              </a:r>
            </a:p>
            <a:p>
              <a:pPr marL="127000" indent="-127000">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Sport: football (men's top flight)</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Rights holder/organizer: Lega Serie A</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Brand: Serie A </a:t>
              </a:r>
              <a:r>
                <a:rPr lang="en-US" sz="900" dirty="0" err="1">
                  <a:solidFill>
                    <a:srgbClr val="1A1A1A"/>
                  </a:solidFill>
                  <a:latin typeface="Lato" panose="020F0502020204030203" pitchFamily="34" charset="0"/>
                  <a:ea typeface="Lato" panose="020F0502020204030203" pitchFamily="34" charset="0"/>
                  <a:cs typeface="Lato" panose="020F0502020204030203" pitchFamily="34" charset="0"/>
                </a:rPr>
                <a:t>Enilive</a:t>
              </a: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 (title sponsor: Eni's </a:t>
              </a:r>
              <a:r>
                <a:rPr lang="en-US" sz="900" dirty="0" err="1">
                  <a:solidFill>
                    <a:srgbClr val="1A1A1A"/>
                  </a:solidFill>
                  <a:latin typeface="Lato" panose="020F0502020204030203" pitchFamily="34" charset="0"/>
                  <a:ea typeface="Lato" panose="020F0502020204030203" pitchFamily="34" charset="0"/>
                  <a:cs typeface="Lato" panose="020F0502020204030203" pitchFamily="34" charset="0"/>
                </a:rPr>
                <a:t>Enilive</a:t>
              </a: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 brand)</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20 clubs; season runs Aug–May, 38 matchdays</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Geographic base: Italy; broadcast distribution in 200+ territories and by more than 90 broadcasters</a:t>
              </a:r>
              <a:endParaRPr lang="en-US" sz="900" dirty="0">
                <a:latin typeface="Lato" panose="020F0502020204030203" pitchFamily="34" charset="0"/>
                <a:ea typeface="Lato" panose="020F0502020204030203" pitchFamily="34" charset="0"/>
                <a:cs typeface="Lato" panose="020F0502020204030203" pitchFamily="34" charset="0"/>
              </a:endParaRPr>
            </a:p>
          </p:txBody>
        </p:sp>
      </p:grpSp>
      <p:grpSp>
        <p:nvGrpSpPr>
          <p:cNvPr id="22" name="Group 21">
            <a:extLst>
              <a:ext uri="{FF2B5EF4-FFF2-40B4-BE49-F238E27FC236}">
                <a16:creationId xmlns:a16="http://schemas.microsoft.com/office/drawing/2014/main" id="{3927DDDA-D8B7-D945-FD96-E116A15098DC}"/>
              </a:ext>
            </a:extLst>
          </p:cNvPr>
          <p:cNvGrpSpPr/>
          <p:nvPr/>
        </p:nvGrpSpPr>
        <p:grpSpPr>
          <a:xfrm>
            <a:off x="1364244" y="731520"/>
            <a:ext cx="1796285" cy="5833872"/>
            <a:chOff x="2712568" y="1051560"/>
            <a:chExt cx="2084832" cy="5394960"/>
          </a:xfrm>
        </p:grpSpPr>
        <p:sp>
          <p:nvSpPr>
            <p:cNvPr id="7" name="Shape 5">
              <a:extLst>
                <a:ext uri="{FF2B5EF4-FFF2-40B4-BE49-F238E27FC236}">
                  <a16:creationId xmlns:a16="http://schemas.microsoft.com/office/drawing/2014/main" id="{2D8D9BA1-ECA0-0394-FDE2-F671160C2B3F}"/>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340BA39F-AB6B-A58B-3430-0E4301E0DDC4}"/>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10588103-555D-8D81-AEEB-72B569EB62DA}"/>
                </a:ext>
              </a:extLst>
            </p:cNvPr>
            <p:cNvSpPr/>
            <p:nvPr/>
          </p:nvSpPr>
          <p:spPr>
            <a:xfrm>
              <a:off x="2849728" y="1600200"/>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Estimated global fanbase of 700m+</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Average television audience of 7.3m viewers per matchday</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44m+ followers across 16 accounts (X, Instagram, TikTok, Facebook, Weibo, Line)</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lnSpc>
                  <a:spcPct val="105000"/>
                </a:lnSpc>
                <a:spcAft>
                  <a:spcPts val="600"/>
                </a:spcAft>
                <a:buSzPct val="100000"/>
                <a:buFontTx/>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Average attendance exceeding 30,000+ spectators per match. (11m+ spectators per season)</a:t>
              </a: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League sponsorship revenue increased from €25m to €90m over seven seasons </a:t>
              </a:r>
            </a:p>
            <a:p>
              <a:pPr marL="127000" indent="-127000">
                <a:lnSpc>
                  <a:spcPct val="105000"/>
                </a:lnSpc>
                <a:spcAft>
                  <a:spcPts val="600"/>
                </a:spcAft>
                <a:buSzPct val="100000"/>
                <a:buFontTx/>
                <a:buChar char="•"/>
              </a:pPr>
              <a:r>
                <a:rPr lang="en-US" sz="900" dirty="0">
                  <a:latin typeface="Lato" panose="020F0502020204030203" pitchFamily="34" charset="0"/>
                  <a:ea typeface="Lato" panose="020F0502020204030203" pitchFamily="34" charset="0"/>
                  <a:cs typeface="Lato" panose="020F0502020204030203" pitchFamily="34" charset="0"/>
                </a:rPr>
                <a:t>Tv audience in 2022/23 season was 2.7bn </a:t>
              </a:r>
            </a:p>
          </p:txBody>
        </p:sp>
      </p:grpSp>
      <p:grpSp>
        <p:nvGrpSpPr>
          <p:cNvPr id="23" name="Group 22">
            <a:extLst>
              <a:ext uri="{FF2B5EF4-FFF2-40B4-BE49-F238E27FC236}">
                <a16:creationId xmlns:a16="http://schemas.microsoft.com/office/drawing/2014/main" id="{1C336ECD-EB28-06AC-0849-F5345EC6C45E}"/>
              </a:ext>
            </a:extLst>
          </p:cNvPr>
          <p:cNvGrpSpPr/>
          <p:nvPr/>
        </p:nvGrpSpPr>
        <p:grpSpPr>
          <a:xfrm>
            <a:off x="3215077" y="731520"/>
            <a:ext cx="2825288" cy="5833872"/>
            <a:chOff x="5053432" y="1051560"/>
            <a:chExt cx="2084832" cy="5394960"/>
          </a:xfrm>
        </p:grpSpPr>
        <p:sp>
          <p:nvSpPr>
            <p:cNvPr id="10" name="Shape 8">
              <a:extLst>
                <a:ext uri="{FF2B5EF4-FFF2-40B4-BE49-F238E27FC236}">
                  <a16:creationId xmlns:a16="http://schemas.microsoft.com/office/drawing/2014/main" id="{A9806567-D4C0-49EA-D500-94977B335BEE}"/>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8B20603E-113E-D3C1-1E6E-11C6D3442ACF}"/>
                </a:ext>
              </a:extLst>
            </p:cNvPr>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F186EE78-17D3-D528-98BC-751FBC52F234}"/>
                </a:ext>
              </a:extLst>
            </p:cNvPr>
            <p:cNvSpPr/>
            <p:nvPr/>
          </p:nvSpPr>
          <p:spPr>
            <a:xfrm>
              <a:off x="5190592" y="1600200"/>
              <a:ext cx="1810512" cy="47091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2024/25 int'l rights value: €242.6m; managed in-house from 2024/25</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Domestic (Italy): €900m/season</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DAZN, Sky Italia</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Balkans: €22m (2024/25 – 2028/29)</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Arena Sport (via Infront)</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Asia-Pacific (36 terr.): €20m (2024/25 – 2026/27)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Infront</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Russia: €15m (2024/25 – 2028/29)</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Match TV (Gazprom)</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USA: €15m (vs. €65m prior) (2026 – 2027)</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CBS/Paramount+</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DACH: €8.5m (2024/25 – 2026/27)</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DAZN</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Poland: €8.5m (2026/27 – 2027/28)</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Eleven Sports</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Spain: €3.5m (2024/25 – 2026/27)</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DAZN</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Czech Rep./Slovakia: €3m (2024/25 – 2028/29)</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AMC Networks (Sport1/Sport2)</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Portugal: €2.9m (2024/25 – 2026/27)</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Sport TV</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Netherlands: €2m (2024/25 – 2028/29)</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Ziggo Sport</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Turkey, Ukraine: €2m (24/25–26/27)</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Saran Media (S Sport)</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UK, Ireland: €1.8m (24/25–26/27)</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DAZN</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Baltics, Belarus, Central Asia: €1.5m (2024/25 – 2028/29)</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 – Saran Media</a:t>
              </a: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Norway: €1m (24/25–26/27)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Verdens Gang</a:t>
              </a:r>
              <a:endParaRPr lang="en-US" sz="9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Denmark €4m (2026/27 – 2028/29)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TV2 Denmark</a:t>
              </a: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France (2026/27 – 2028/29)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DAZN</a:t>
              </a:r>
            </a:p>
            <a:p>
              <a:pPr marL="127000" indent="-127000">
                <a:spcAft>
                  <a:spcPts val="3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Sweden (2026/27 – 2027/28) – </a:t>
              </a:r>
              <a:r>
                <a:rPr lang="en-US" sz="900" b="1" dirty="0">
                  <a:solidFill>
                    <a:srgbClr val="1A1A1A"/>
                  </a:solidFill>
                  <a:latin typeface="Lato" panose="020F0502020204030203" pitchFamily="34" charset="0"/>
                  <a:ea typeface="Lato" panose="020F0502020204030203" pitchFamily="34" charset="0"/>
                  <a:cs typeface="Lato" panose="020F0502020204030203" pitchFamily="34" charset="0"/>
                </a:rPr>
                <a:t>TV4 Media </a:t>
              </a:r>
              <a:endParaRPr lang="en-US" sz="900" dirty="0">
                <a:latin typeface="Lato" panose="020F0502020204030203" pitchFamily="34" charset="0"/>
                <a:ea typeface="Lato" panose="020F0502020204030203" pitchFamily="34" charset="0"/>
                <a:cs typeface="Lato" panose="020F0502020204030203" pitchFamily="34" charset="0"/>
              </a:endParaRPr>
            </a:p>
          </p:txBody>
        </p:sp>
      </p:grpSp>
      <p:grpSp>
        <p:nvGrpSpPr>
          <p:cNvPr id="24" name="Group 23">
            <a:extLst>
              <a:ext uri="{FF2B5EF4-FFF2-40B4-BE49-F238E27FC236}">
                <a16:creationId xmlns:a16="http://schemas.microsoft.com/office/drawing/2014/main" id="{34672841-84A1-D06C-F383-45897F334FAB}"/>
              </a:ext>
            </a:extLst>
          </p:cNvPr>
          <p:cNvGrpSpPr/>
          <p:nvPr/>
        </p:nvGrpSpPr>
        <p:grpSpPr>
          <a:xfrm>
            <a:off x="6121187" y="731520"/>
            <a:ext cx="3307940" cy="5833872"/>
            <a:chOff x="7394296" y="1051560"/>
            <a:chExt cx="2203704" cy="5394960"/>
          </a:xfrm>
        </p:grpSpPr>
        <p:sp>
          <p:nvSpPr>
            <p:cNvPr id="13" name="Shape 11">
              <a:extLst>
                <a:ext uri="{FF2B5EF4-FFF2-40B4-BE49-F238E27FC236}">
                  <a16:creationId xmlns:a16="http://schemas.microsoft.com/office/drawing/2014/main" id="{F34572D8-5110-7B3B-367F-8DB099C665CA}"/>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A760FBA6-261F-18F0-C4C1-72D5BD8D5AD7}"/>
                </a:ext>
              </a:extLst>
            </p:cNvPr>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026DB795-A7CD-39E3-290C-1B750282AA4A}"/>
                </a:ext>
              </a:extLst>
            </p:cNvPr>
            <p:cNvSpPr/>
            <p:nvPr/>
          </p:nvSpPr>
          <p:spPr>
            <a:xfrm>
              <a:off x="7464281" y="1600200"/>
              <a:ext cx="2069932" cy="4709160"/>
            </a:xfrm>
            <a:prstGeom prst="rect">
              <a:avLst/>
            </a:prstGeom>
            <a:noFill/>
            <a:ln/>
          </p:spPr>
          <p:txBody>
            <a:bodyPr wrap="square" lIns="0" tIns="0" rIns="0" bIns="0" rtlCol="0" anchor="t"/>
            <a:lstStyle/>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Serie A's U.S. media rights value fell sharply, from approximately €65m to €15m (77%) per season, despite CBS Sports extending its partnership through 2026/27</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Serie A completed its first largely in-house international rights cycle, giving the league greater control over rights sales, more flexible commercial packaging and saving approximately €60m annually in agency commissions</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Serie A strengthened its anti-piracy </a:t>
              </a:r>
              <a:r>
                <a:rPr lang="en-US" sz="900" dirty="0" err="1">
                  <a:latin typeface="Lato" panose="020F0502020204030203" pitchFamily="34" charset="0"/>
                  <a:ea typeface="Lato" panose="020F0502020204030203" pitchFamily="34" charset="0"/>
                  <a:cs typeface="Lato" panose="020F0502020204030203" pitchFamily="34" charset="0"/>
                </a:rPr>
                <a:t>programme</a:t>
              </a:r>
              <a:r>
                <a:rPr lang="en-US" sz="900" dirty="0">
                  <a:latin typeface="Lato" panose="020F0502020204030203" pitchFamily="34" charset="0"/>
                  <a:ea typeface="Lato" panose="020F0502020204030203" pitchFamily="34" charset="0"/>
                  <a:cs typeface="Lato" panose="020F0502020204030203" pitchFamily="34" charset="0"/>
                </a:rPr>
                <a:t> by:</a:t>
              </a:r>
            </a:p>
            <a:p>
              <a:pPr marL="584200" lvl="1"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implementing Italy's accelerated piracy enforcement regime, </a:t>
              </a:r>
            </a:p>
            <a:p>
              <a:pPr marL="584200" lvl="1"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partnering with Meta to use Rights Manager, </a:t>
              </a:r>
            </a:p>
            <a:p>
              <a:pPr marL="584200" lvl="1"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continuing to position piracy as a major threat to media-rights value, with the league estimating annual losses of more than €300 million</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Serie A's five-year global betting streaming and data agreement with Stats Perform became the subject of legal proceedings after the company sought to terminate the contract. The dispute remains commercially significant because betting and data rights represent one of the league's most valuable international rights packages</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The league continues under its long-term domestic agreements with </a:t>
              </a:r>
              <a:r>
                <a:rPr lang="en-US" sz="900" b="1" dirty="0">
                  <a:latin typeface="Lato" panose="020F0502020204030203" pitchFamily="34" charset="0"/>
                  <a:ea typeface="Lato" panose="020F0502020204030203" pitchFamily="34" charset="0"/>
                  <a:cs typeface="Lato" panose="020F0502020204030203" pitchFamily="34" charset="0"/>
                </a:rPr>
                <a:t>DAZN</a:t>
              </a:r>
              <a:r>
                <a:rPr lang="en-US" sz="900" dirty="0">
                  <a:latin typeface="Lato" panose="020F0502020204030203" pitchFamily="34" charset="0"/>
                  <a:ea typeface="Lato" panose="020F0502020204030203" pitchFamily="34" charset="0"/>
                  <a:cs typeface="Lato" panose="020F0502020204030203" pitchFamily="34" charset="0"/>
                </a:rPr>
                <a:t> and </a:t>
              </a:r>
              <a:r>
                <a:rPr lang="en-US" sz="900" b="1" dirty="0">
                  <a:latin typeface="Lato" panose="020F0502020204030203" pitchFamily="34" charset="0"/>
                  <a:ea typeface="Lato" panose="020F0502020204030203" pitchFamily="34" charset="0"/>
                  <a:cs typeface="Lato" panose="020F0502020204030203" pitchFamily="34" charset="0"/>
                </a:rPr>
                <a:t>Sky Italia</a:t>
              </a:r>
              <a:r>
                <a:rPr lang="en-US" sz="900" dirty="0">
                  <a:latin typeface="Lato" panose="020F0502020204030203" pitchFamily="34" charset="0"/>
                  <a:ea typeface="Lato" panose="020F0502020204030203" pitchFamily="34" charset="0"/>
                  <a:cs typeface="Lato" panose="020F0502020204030203" pitchFamily="34" charset="0"/>
                </a:rPr>
                <a:t>, providing revenue visibility while allowing the league to focus on international commercial growth</a:t>
              </a:r>
            </a:p>
            <a:p>
              <a:pPr marL="127000" indent="-127000">
                <a:spcAft>
                  <a:spcPts val="600"/>
                </a:spcAft>
                <a:buSzPct val="100000"/>
                <a:buChar char="•"/>
              </a:pPr>
              <a:endParaRPr lang="en-US" sz="900" dirty="0">
                <a:latin typeface="Lato" panose="020F0502020204030203" pitchFamily="34" charset="0"/>
                <a:ea typeface="Lato" panose="020F0502020204030203" pitchFamily="34" charset="0"/>
                <a:cs typeface="Lato" panose="020F0502020204030203" pitchFamily="34" charset="0"/>
              </a:endParaRPr>
            </a:p>
            <a:p>
              <a:pPr marL="127000" indent="-127000">
                <a:spcAft>
                  <a:spcPts val="600"/>
                </a:spcAft>
                <a:buSzPct val="100000"/>
                <a:buChar char="•"/>
              </a:pPr>
              <a:endParaRPr lang="en-US" sz="900" dirty="0">
                <a:latin typeface="Lato" panose="020F0502020204030203" pitchFamily="34" charset="0"/>
                <a:ea typeface="Lato" panose="020F0502020204030203" pitchFamily="34" charset="0"/>
                <a:cs typeface="Lato" panose="020F0502020204030203" pitchFamily="34" charset="0"/>
              </a:endParaRPr>
            </a:p>
          </p:txBody>
        </p:sp>
      </p:grpSp>
      <p:grpSp>
        <p:nvGrpSpPr>
          <p:cNvPr id="26" name="Group 25">
            <a:extLst>
              <a:ext uri="{FF2B5EF4-FFF2-40B4-BE49-F238E27FC236}">
                <a16:creationId xmlns:a16="http://schemas.microsoft.com/office/drawing/2014/main" id="{95954710-BA8E-5032-60E4-DA035CD62944}"/>
              </a:ext>
            </a:extLst>
          </p:cNvPr>
          <p:cNvGrpSpPr/>
          <p:nvPr/>
        </p:nvGrpSpPr>
        <p:grpSpPr>
          <a:xfrm>
            <a:off x="9509949" y="731520"/>
            <a:ext cx="2418900" cy="5833872"/>
            <a:chOff x="9735160" y="1051560"/>
            <a:chExt cx="2084832" cy="5394960"/>
          </a:xfrm>
        </p:grpSpPr>
        <p:sp>
          <p:nvSpPr>
            <p:cNvPr id="16" name="Shape 14">
              <a:extLst>
                <a:ext uri="{FF2B5EF4-FFF2-40B4-BE49-F238E27FC236}">
                  <a16:creationId xmlns:a16="http://schemas.microsoft.com/office/drawing/2014/main" id="{EFEBD7A4-B38D-5669-DC6C-302708D634B9}"/>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A2A7AD95-7905-1118-76B3-0735AF61E549}"/>
                </a:ext>
              </a:extLst>
            </p:cNvPr>
            <p:cNvSpPr/>
            <p:nvPr/>
          </p:nvSpPr>
          <p:spPr>
            <a:xfrm>
              <a:off x="9735160"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14486F42-B771-853E-8B59-BDCE844C8D75}"/>
                </a:ext>
              </a:extLst>
            </p:cNvPr>
            <p:cNvSpPr/>
            <p:nvPr/>
          </p:nvSpPr>
          <p:spPr>
            <a:xfrm>
              <a:off x="9872320" y="1600200"/>
              <a:ext cx="1810512" cy="470916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International rights value (€242.6m) remains far below LaLiga (€765m) and the Premier League — in-house management is a bet that direct broadcaster relationships can close the gap</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Potential PE stake sale mirrors the capital-raising trend seen at LaLiga/Ligue 1 — a relevant entry point for investment or JV partners</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Heavy reliance on DAZN across domestic, DACH, Spain and UK/Ireland concentrates counterparty risk — a DAZN pull-back would hit multiple markets at once</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Piracy enforcement is aggressive but contentious (Cloudflare dispute, EU DSA concerns) — regulatory risk cuts both ways for digital infrastructure and streaming partners</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Failed Australia expansion (AFC interference) shows Serie A's overseas ambitions face the same jurisdictional hurdles as LaLiga's Miami setback</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Record club revenue (€4.04bn) and matchday income growth show domestic commercial strength even as international rights still lag peers</a:t>
              </a:r>
            </a:p>
          </p:txBody>
        </p:sp>
      </p:grpSp>
    </p:spTree>
    <p:extLst>
      <p:ext uri="{BB962C8B-B14F-4D97-AF65-F5344CB8AC3E}">
        <p14:creationId xmlns:p14="http://schemas.microsoft.com/office/powerpoint/2010/main" val="3356030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E66DB81-6223-B480-E7A5-1859DD7ACE0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6B343A-2E79-24C6-9940-628C2CB39E7B}"/>
              </a:ext>
            </a:extLst>
          </p:cNvPr>
          <p:cNvSpPr/>
          <p:nvPr/>
        </p:nvSpPr>
        <p:spPr>
          <a:xfrm>
            <a:off x="365760" y="22315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92363C38-C481-DFF0-CD9F-6BF2C06B3CAA}"/>
              </a:ext>
            </a:extLst>
          </p:cNvPr>
          <p:cNvSpPr/>
          <p:nvPr/>
        </p:nvSpPr>
        <p:spPr>
          <a:xfrm>
            <a:off x="365760" y="296309"/>
            <a:ext cx="2286000" cy="384105"/>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LIGUE 1</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0CAF93AE-40BF-DC73-E8E1-40F44CFAE328}"/>
              </a:ext>
            </a:extLst>
          </p:cNvPr>
          <p:cNvGrpSpPr/>
          <p:nvPr/>
        </p:nvGrpSpPr>
        <p:grpSpPr>
          <a:xfrm>
            <a:off x="75257" y="662070"/>
            <a:ext cx="1234439" cy="6126480"/>
            <a:chOff x="371704" y="1051560"/>
            <a:chExt cx="2084832" cy="5394960"/>
          </a:xfrm>
        </p:grpSpPr>
        <p:sp>
          <p:nvSpPr>
            <p:cNvPr id="4" name="Shape 2">
              <a:extLst>
                <a:ext uri="{FF2B5EF4-FFF2-40B4-BE49-F238E27FC236}">
                  <a16:creationId xmlns:a16="http://schemas.microsoft.com/office/drawing/2014/main" id="{C87F56E8-6232-61FC-D96E-B389B9D637F6}"/>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E299CD43-8AED-459C-904C-7C662F4A40C7}"/>
                </a:ext>
              </a:extLst>
            </p:cNvPr>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0A1B72AF-621E-D160-4965-690577A84E1B}"/>
                </a:ext>
              </a:extLst>
            </p:cNvPr>
            <p:cNvSpPr/>
            <p:nvPr/>
          </p:nvSpPr>
          <p:spPr>
            <a:xfrm>
              <a:off x="508864" y="1386119"/>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7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Sport: football </a:t>
              </a:r>
            </a:p>
            <a:p>
              <a:pPr marL="127000" indent="-127000" algn="l">
                <a:lnSpc>
                  <a:spcPct val="105000"/>
                </a:lnSpc>
                <a:spcAft>
                  <a:spcPts val="600"/>
                </a:spcAft>
                <a:buSzPct val="100000"/>
                <a:buChar char="•"/>
              </a:pP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Organiser</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Ligue de Football </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Professionnel</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(LFP)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Structure: 18 clubs in Ligue 1 and 20 clubs in Ligue 2.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2025/26 gross media-rights revenue expected at ~€505m, including domestic, international, betting streaming and data rights.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Domestic media-rights revenue expected at ~€355m in 2025/26, but this includes the league’s own DTC platform, Ligue1+.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Ligue1+ carries eight Ligue 1 matches per week and was projected to generate ~€151m in its first season.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The league’s current commercial strategy is managed through LFP Media, the JV with CVC Capital Partners; CVC invested €1.5bn for a 13% stake in league commercial revenues.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Ligue 1 is now one of the clearest examples of a major sports league shifting from a traditional wholesale broadcast model toward direct-to-consumer distribution</a:t>
              </a:r>
            </a:p>
          </p:txBody>
        </p:sp>
      </p:grpSp>
      <p:grpSp>
        <p:nvGrpSpPr>
          <p:cNvPr id="22" name="Group 21">
            <a:extLst>
              <a:ext uri="{FF2B5EF4-FFF2-40B4-BE49-F238E27FC236}">
                <a16:creationId xmlns:a16="http://schemas.microsoft.com/office/drawing/2014/main" id="{26049626-C41B-D2D8-A3E9-7CABC501551D}"/>
              </a:ext>
            </a:extLst>
          </p:cNvPr>
          <p:cNvGrpSpPr/>
          <p:nvPr/>
        </p:nvGrpSpPr>
        <p:grpSpPr>
          <a:xfrm>
            <a:off x="1364244" y="662070"/>
            <a:ext cx="1796285" cy="6126480"/>
            <a:chOff x="2712568" y="1051560"/>
            <a:chExt cx="2084832" cy="5394960"/>
          </a:xfrm>
        </p:grpSpPr>
        <p:sp>
          <p:nvSpPr>
            <p:cNvPr id="7" name="Shape 5">
              <a:extLst>
                <a:ext uri="{FF2B5EF4-FFF2-40B4-BE49-F238E27FC236}">
                  <a16:creationId xmlns:a16="http://schemas.microsoft.com/office/drawing/2014/main" id="{B4F85BDB-EE96-8332-739D-40EA9D2B8D9A}"/>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5A846F9A-8570-923B-70E9-6BB09AEC83A6}"/>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4D28441A-A9DE-8B41-9835-178612D52AFC}"/>
                </a:ext>
              </a:extLst>
            </p:cNvPr>
            <p:cNvSpPr/>
            <p:nvPr/>
          </p:nvSpPr>
          <p:spPr>
            <a:xfrm>
              <a:off x="2849728" y="1493159"/>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9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Ligue1+ surpassed 1m subscribers by mid-September 2025, ahead of its initial first-season target.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LFP projects subscriber growth to 1.5m in 2026/27, 2.0m in 2027/28 and 2.15m in 2028/29.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Standard Ligue1+ subscription price: €14.99/month, with lower-priced offers for under-26s and mobile/tablet users.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Distribution is broad across Amazon Prime Video, DAZN, LG, Samsung, Google, Apple, Fire TV, RMC Sport, SFR, Free, Bouygues, Molotov and Orange.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A major gap remains: Ligue1+ had not secured Canal+ carriage, despite Canal+ reaching 4.7m French households.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International audiences are becoming more strategically important as international-rights revenue has risen strongly while domestic rights economics have deteriorated</a:t>
              </a:r>
            </a:p>
          </p:txBody>
        </p:sp>
      </p:grpSp>
      <p:grpSp>
        <p:nvGrpSpPr>
          <p:cNvPr id="23" name="Group 22">
            <a:extLst>
              <a:ext uri="{FF2B5EF4-FFF2-40B4-BE49-F238E27FC236}">
                <a16:creationId xmlns:a16="http://schemas.microsoft.com/office/drawing/2014/main" id="{6A26B55E-6C79-DB01-86B8-E8CFE3838D36}"/>
              </a:ext>
            </a:extLst>
          </p:cNvPr>
          <p:cNvGrpSpPr/>
          <p:nvPr/>
        </p:nvGrpSpPr>
        <p:grpSpPr>
          <a:xfrm>
            <a:off x="3215077" y="662070"/>
            <a:ext cx="2097703" cy="6126480"/>
            <a:chOff x="5053432" y="1051560"/>
            <a:chExt cx="2084832" cy="5394960"/>
          </a:xfrm>
        </p:grpSpPr>
        <p:sp>
          <p:nvSpPr>
            <p:cNvPr id="10" name="Shape 8">
              <a:extLst>
                <a:ext uri="{FF2B5EF4-FFF2-40B4-BE49-F238E27FC236}">
                  <a16:creationId xmlns:a16="http://schemas.microsoft.com/office/drawing/2014/main" id="{643D8E2E-D2BE-6E6C-6A93-DFB570B5B02B}"/>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1192006F-B14D-B016-FDB8-3E1B76661C5C}"/>
                </a:ext>
              </a:extLst>
            </p:cNvPr>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B25E0327-4965-5856-7A8D-E33599C58B04}"/>
                </a:ext>
              </a:extLst>
            </p:cNvPr>
            <p:cNvSpPr/>
            <p:nvPr/>
          </p:nvSpPr>
          <p:spPr>
            <a:xfrm>
              <a:off x="5190592" y="1600200"/>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Domestic total: ~€355m in 2025/26, including Ligue1+, beIN, highlights and the DAZN settlement payment.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Ligue1+ DTC: projected ~€151m in 2025/26, based on just over 1m subscribers.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beIN France — Ligue 1: €78.5m/year for one Ligue 1 match per week in 2025/26.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beIN France — Ligue 2: additional €40m/year for all Ligue 2 matches.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France </a:t>
              </a:r>
              <a:r>
                <a:rPr lang="en-US" altLang="en-US" sz="900" dirty="0" err="1">
                  <a:solidFill>
                    <a:srgbClr val="1A1A1A"/>
                  </a:solidFill>
                  <a:latin typeface="Lato" panose="020F0502020204030203" pitchFamily="34" charset="0"/>
                  <a:ea typeface="Lato" panose="020F0502020204030203" pitchFamily="34" charset="0"/>
                  <a:cs typeface="Lato" panose="020F0502020204030203" pitchFamily="34" charset="0"/>
                </a:rPr>
                <a:t>Télévisions</a:t>
              </a: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 + TF1: approximately €2m/year combined for highlights.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DAZN settlement: one-off €85m payment in 2025/26 after terminating its five-season Ligue 1 deal.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International + betting/data: approximately €150m/year in 2025/26.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beIN international package: approximately €75m/year, covering its operated markets plus Sub-Saharan Africa.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Canal+ Sub-Saharan Africa sublicense: approximately €45m/year paid to beIN.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Infront Bettor: €31m/year for global betting streaming + data rights, up from €14m/year previously. </a:t>
              </a:r>
            </a:p>
            <a:p>
              <a:pPr marL="171450" lvl="0" indent="-171450" eaLnBrk="0" fontAlgn="base" hangingPunct="0">
                <a:spcBef>
                  <a:spcPct val="0"/>
                </a:spcBef>
                <a:spcAft>
                  <a:spcPct val="0"/>
                </a:spcAft>
                <a:buFont typeface="Arial" panose="020B0604020202020204" pitchFamily="34" charset="0"/>
                <a:buChar char="•"/>
              </a:pPr>
              <a:r>
                <a:rPr lang="en-US" altLang="en-US" sz="900" dirty="0">
                  <a:solidFill>
                    <a:srgbClr val="1A1A1A"/>
                  </a:solidFill>
                  <a:latin typeface="Lato" panose="020F0502020204030203" pitchFamily="34" charset="0"/>
                  <a:ea typeface="Lato" panose="020F0502020204030203" pitchFamily="34" charset="0"/>
                  <a:cs typeface="Lato" panose="020F0502020204030203" pitchFamily="34" charset="0"/>
                </a:rPr>
                <a:t>Infront: €20m/year for selected territories across Europe, Asia and Oceania</a:t>
              </a:r>
              <a:r>
                <a:rPr lang="en-US" altLang="en-US" sz="900" dirty="0">
                  <a:latin typeface="Lato" panose="020F0502020204030203" pitchFamily="34" charset="0"/>
                  <a:ea typeface="Lato" panose="020F0502020204030203" pitchFamily="34" charset="0"/>
                  <a:cs typeface="Lato" panose="020F0502020204030203" pitchFamily="34" charset="0"/>
                </a:rPr>
                <a:t>. </a:t>
              </a:r>
            </a:p>
          </p:txBody>
        </p:sp>
      </p:grpSp>
      <p:grpSp>
        <p:nvGrpSpPr>
          <p:cNvPr id="24" name="Group 23">
            <a:extLst>
              <a:ext uri="{FF2B5EF4-FFF2-40B4-BE49-F238E27FC236}">
                <a16:creationId xmlns:a16="http://schemas.microsoft.com/office/drawing/2014/main" id="{8235FE66-933E-7662-C8BC-676C22479592}"/>
              </a:ext>
            </a:extLst>
          </p:cNvPr>
          <p:cNvGrpSpPr/>
          <p:nvPr/>
        </p:nvGrpSpPr>
        <p:grpSpPr>
          <a:xfrm>
            <a:off x="5367329" y="662070"/>
            <a:ext cx="1990370" cy="6126480"/>
            <a:chOff x="7394296" y="1051560"/>
            <a:chExt cx="2203704" cy="5394960"/>
          </a:xfrm>
        </p:grpSpPr>
        <p:sp>
          <p:nvSpPr>
            <p:cNvPr id="13" name="Shape 11">
              <a:extLst>
                <a:ext uri="{FF2B5EF4-FFF2-40B4-BE49-F238E27FC236}">
                  <a16:creationId xmlns:a16="http://schemas.microsoft.com/office/drawing/2014/main" id="{15B8BA05-127F-7B00-01D8-C639415B00A8}"/>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DEE9A3FD-9D37-8C85-AC58-DBCE3C8853B8}"/>
                </a:ext>
              </a:extLst>
            </p:cNvPr>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3D7ECC84-BC21-D782-19E4-AD4206AAE3A9}"/>
                </a:ext>
              </a:extLst>
            </p:cNvPr>
            <p:cNvSpPr/>
            <p:nvPr/>
          </p:nvSpPr>
          <p:spPr>
            <a:xfrm>
              <a:off x="7464281" y="1600200"/>
              <a:ext cx="2069932" cy="47091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Ligue1+ launched in August 2025 after the collapse of the DAZN agreement and the league’s failure to secure satisfactory replacement offers from Canal+ or beIN.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Ligue 1 became the first major European league since the Eredivisie in 2008 to launch its own primary channel rather than rely principally on wholesale media-rights agreements.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The league is effectively </a:t>
              </a:r>
              <a:r>
                <a:rPr lang="en-US" sz="900" dirty="0" err="1">
                  <a:latin typeface="Lato" panose="020F0502020204030203" pitchFamily="34" charset="0"/>
                  <a:ea typeface="Lato" panose="020F0502020204030203" pitchFamily="34" charset="0"/>
                  <a:cs typeface="Lato" panose="020F0502020204030203" pitchFamily="34" charset="0"/>
                </a:rPr>
                <a:t>internalising</a:t>
              </a:r>
              <a:r>
                <a:rPr lang="en-US" sz="900" dirty="0">
                  <a:latin typeface="Lato" panose="020F0502020204030203" pitchFamily="34" charset="0"/>
                  <a:ea typeface="Lato" panose="020F0502020204030203" pitchFamily="34" charset="0"/>
                  <a:cs typeface="Lato" panose="020F0502020204030203" pitchFamily="34" charset="0"/>
                </a:rPr>
                <a:t> broadcast risk: it bears subscriber acquisition, churn, marketing, content and technical costs directly.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Ligue1+ operating costs are expected at roughly €66m/year, including ~€30m production, €15m marketing, €10m editorial and €5–6m conditional access.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This reduces projected 2025/26 net domestic revenue from €355m gross to around €289m.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From 2026/27, the one Ligue 1 match currently held by beIN is expected to revert to the league, giving Ligue1+ an additional live match each week.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LFP forecasts Ligue1+ revenue rising to €320m in 2026/27, €407m in 2027/28 and €470m in 2028/29 if subscriber targets are met.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International rights have been much healthier: current cycle revenue is ~€150m/year, +85% vs. €81m previously. </a:t>
              </a:r>
            </a:p>
          </p:txBody>
        </p:sp>
      </p:grpSp>
      <p:grpSp>
        <p:nvGrpSpPr>
          <p:cNvPr id="26" name="Group 25">
            <a:extLst>
              <a:ext uri="{FF2B5EF4-FFF2-40B4-BE49-F238E27FC236}">
                <a16:creationId xmlns:a16="http://schemas.microsoft.com/office/drawing/2014/main" id="{9C75EB0C-A67F-971E-061B-B00246B767F6}"/>
              </a:ext>
            </a:extLst>
          </p:cNvPr>
          <p:cNvGrpSpPr/>
          <p:nvPr/>
        </p:nvGrpSpPr>
        <p:grpSpPr>
          <a:xfrm>
            <a:off x="7420909" y="662070"/>
            <a:ext cx="4695834" cy="6126480"/>
            <a:chOff x="9735160" y="1051560"/>
            <a:chExt cx="2084832" cy="5394960"/>
          </a:xfrm>
        </p:grpSpPr>
        <p:sp>
          <p:nvSpPr>
            <p:cNvPr id="16" name="Shape 14">
              <a:extLst>
                <a:ext uri="{FF2B5EF4-FFF2-40B4-BE49-F238E27FC236}">
                  <a16:creationId xmlns:a16="http://schemas.microsoft.com/office/drawing/2014/main" id="{A6661D46-D451-F2C0-6E9D-34DF159C86E4}"/>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9F51C936-B171-04DA-282E-E069F2E5C1F2}"/>
                </a:ext>
              </a:extLst>
            </p:cNvPr>
            <p:cNvSpPr/>
            <p:nvPr/>
          </p:nvSpPr>
          <p:spPr>
            <a:xfrm>
              <a:off x="9735160"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BE656A81-0CF1-7AC2-2EDE-39106689A2E9}"/>
                </a:ext>
              </a:extLst>
            </p:cNvPr>
            <p:cNvSpPr/>
            <p:nvPr/>
          </p:nvSpPr>
          <p:spPr>
            <a:xfrm>
              <a:off x="9735160" y="1493159"/>
              <a:ext cx="2048776" cy="4816201"/>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Ligue 1 has moved from a guaranteed-rights model to a high-risk DTC model. Rather than receiving a fixed fee from a major broadcaster, it now depends substantially on consumer subscriptions to Ligue1+.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The strategy can recover lost economics, but only if subscriber growth </a:t>
              </a:r>
              <a:r>
                <a:rPr lang="en-US" sz="900" dirty="0" err="1">
                  <a:latin typeface="Lato" panose="020F0502020204030203" pitchFamily="34" charset="0"/>
                  <a:ea typeface="Lato" panose="020F0502020204030203" pitchFamily="34" charset="0"/>
                  <a:cs typeface="Lato" panose="020F0502020204030203" pitchFamily="34" charset="0"/>
                </a:rPr>
                <a:t>materialises</a:t>
              </a:r>
              <a:r>
                <a:rPr lang="en-US" sz="900" dirty="0">
                  <a:latin typeface="Lato" panose="020F0502020204030203" pitchFamily="34" charset="0"/>
                  <a:ea typeface="Lato" panose="020F0502020204030203" pitchFamily="34" charset="0"/>
                  <a:cs typeface="Lato" panose="020F0502020204030203" pitchFamily="34" charset="0"/>
                </a:rPr>
                <a:t>. LFP’s projections imply revenue rising from ~€151m to €470m by 2028/29, but that requires subscribers to more than double from the initial ~1m base.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The gross/net distinction is critical. €355m of domestic rights revenue sounds materially stronger than the economics clubs actually receive because ~€66m must be spent operating the channel. Net domestic revenue is therefore only ~€289m.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Domestic rights economics remain far below historical levels. Previous domestic cycles generated ~€676m/year and €748.5m/year, while the failed </a:t>
              </a:r>
              <a:r>
                <a:rPr lang="en-US" sz="900" dirty="0" err="1">
                  <a:latin typeface="Lato" panose="020F0502020204030203" pitchFamily="34" charset="0"/>
                  <a:ea typeface="Lato" panose="020F0502020204030203" pitchFamily="34" charset="0"/>
                  <a:cs typeface="Lato" panose="020F0502020204030203" pitchFamily="34" charset="0"/>
                </a:rPr>
                <a:t>Mediapro</a:t>
              </a:r>
              <a:r>
                <a:rPr lang="en-US" sz="900" dirty="0">
                  <a:latin typeface="Lato" panose="020F0502020204030203" pitchFamily="34" charset="0"/>
                  <a:ea typeface="Lato" panose="020F0502020204030203" pitchFamily="34" charset="0"/>
                  <a:cs typeface="Lato" panose="020F0502020204030203" pitchFamily="34" charset="0"/>
                </a:rPr>
                <a:t> deal would have pushed the total above €1.15bn/year.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The league has suffered two major counterparty failures. </a:t>
              </a:r>
              <a:r>
                <a:rPr lang="en-US" sz="900" dirty="0" err="1">
                  <a:latin typeface="Lato" panose="020F0502020204030203" pitchFamily="34" charset="0"/>
                  <a:ea typeface="Lato" panose="020F0502020204030203" pitchFamily="34" charset="0"/>
                  <a:cs typeface="Lato" panose="020F0502020204030203" pitchFamily="34" charset="0"/>
                </a:rPr>
                <a:t>Mediapro’s</a:t>
              </a:r>
              <a:r>
                <a:rPr lang="en-US" sz="900" dirty="0">
                  <a:latin typeface="Lato" panose="020F0502020204030203" pitchFamily="34" charset="0"/>
                  <a:ea typeface="Lato" panose="020F0502020204030203" pitchFamily="34" charset="0"/>
                  <a:cs typeface="Lato" panose="020F0502020204030203" pitchFamily="34" charset="0"/>
                </a:rPr>
                <a:t> €780m/year Ligue 1 package collapsed after missed payments, while DAZN exited its €400m/year contract after one season. These failures explain much of the current structural weakness.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International rights are the strongest positive trend. At €150m/year, international revenue has nearly doubled from €81m and is almost five times the level achieved before 2018.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International rights are becoming unusually important relative to domestic rights. The collapse in the home market means overseas revenue now represents a much larger share of Ligue 1's total media economics than historically.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Canal+ distribution is strategically important. Missing access to </a:t>
              </a:r>
              <a:r>
                <a:rPr lang="en-US" sz="900" dirty="0" err="1">
                  <a:latin typeface="Lato" panose="020F0502020204030203" pitchFamily="34" charset="0"/>
                  <a:ea typeface="Lato" panose="020F0502020204030203" pitchFamily="34" charset="0"/>
                  <a:cs typeface="Lato" panose="020F0502020204030203" pitchFamily="34" charset="0"/>
                </a:rPr>
                <a:t>Canal+'s</a:t>
              </a:r>
              <a:r>
                <a:rPr lang="en-US" sz="900" dirty="0">
                  <a:latin typeface="Lato" panose="020F0502020204030203" pitchFamily="34" charset="0"/>
                  <a:ea typeface="Lato" panose="020F0502020204030203" pitchFamily="34" charset="0"/>
                  <a:cs typeface="Lato" panose="020F0502020204030203" pitchFamily="34" charset="0"/>
                </a:rPr>
                <a:t> 4.7m households limits Ligue1+'s addressable subscriber pool and could materially constrain the league's ability to hit future subscriber targets.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CVC adds another layer to the economics. The league must not only absorb DTC operating costs but also share commercial revenues with CVC through LFP Media; CVC's reported 2025/26 share was €54.5m. </a:t>
              </a:r>
            </a:p>
            <a:p>
              <a:pPr marL="127000" indent="-127000">
                <a:lnSpc>
                  <a:spcPct val="105000"/>
                </a:lnSpc>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Overall: Ligue 1 is now a high-upside but high-execution-risk media model. If Ligue1+ can reach 2m+ subscribers, the league could regain much of the economics lost after DAZN's exit while owning its customer data and distribution. If growth stalls, however, clubs will remain structurally under-</a:t>
              </a:r>
              <a:r>
                <a:rPr lang="en-US" sz="900" dirty="0" err="1">
                  <a:latin typeface="Lato" panose="020F0502020204030203" pitchFamily="34" charset="0"/>
                  <a:ea typeface="Lato" panose="020F0502020204030203" pitchFamily="34" charset="0"/>
                  <a:cs typeface="Lato" panose="020F0502020204030203" pitchFamily="34" charset="0"/>
                </a:rPr>
                <a:t>monetised</a:t>
              </a:r>
              <a:r>
                <a:rPr lang="en-US" sz="900" dirty="0">
                  <a:latin typeface="Lato" panose="020F0502020204030203" pitchFamily="34" charset="0"/>
                  <a:ea typeface="Lato" panose="020F0502020204030203" pitchFamily="34" charset="0"/>
                  <a:cs typeface="Lato" panose="020F0502020204030203" pitchFamily="34" charset="0"/>
                </a:rPr>
                <a:t> relative to the Premier League, LaLiga and Serie A, while also bearing costs and risk that were previously transferred to broadcasters.</a:t>
              </a:r>
            </a:p>
          </p:txBody>
        </p:sp>
      </p:grpSp>
    </p:spTree>
    <p:extLst>
      <p:ext uri="{BB962C8B-B14F-4D97-AF65-F5344CB8AC3E}">
        <p14:creationId xmlns:p14="http://schemas.microsoft.com/office/powerpoint/2010/main" val="732404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FECD223-6495-1943-607B-A84E490F859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6148675-350B-AFA8-662B-8E6D414EAE0B}"/>
              </a:ext>
            </a:extLst>
          </p:cNvPr>
          <p:cNvSpPr/>
          <p:nvPr/>
        </p:nvSpPr>
        <p:spPr>
          <a:xfrm>
            <a:off x="365760" y="2463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A7B0B93A-9211-4ED4-AE4D-303215163D50}"/>
              </a:ext>
            </a:extLst>
          </p:cNvPr>
          <p:cNvSpPr/>
          <p:nvPr/>
        </p:nvSpPr>
        <p:spPr>
          <a:xfrm>
            <a:off x="365760" y="319459"/>
            <a:ext cx="2286000" cy="384105"/>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NBA</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46F721B9-1713-AA91-9631-88650718991B}"/>
              </a:ext>
            </a:extLst>
          </p:cNvPr>
          <p:cNvGrpSpPr/>
          <p:nvPr/>
        </p:nvGrpSpPr>
        <p:grpSpPr>
          <a:xfrm>
            <a:off x="272143" y="685220"/>
            <a:ext cx="1037553" cy="6126480"/>
            <a:chOff x="371704" y="1051560"/>
            <a:chExt cx="2084832" cy="5394960"/>
          </a:xfrm>
        </p:grpSpPr>
        <p:sp>
          <p:nvSpPr>
            <p:cNvPr id="4" name="Shape 2">
              <a:extLst>
                <a:ext uri="{FF2B5EF4-FFF2-40B4-BE49-F238E27FC236}">
                  <a16:creationId xmlns:a16="http://schemas.microsoft.com/office/drawing/2014/main" id="{D47299D4-2AA3-D0F5-A4F5-6BB0E7D0453A}"/>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EA586C61-FD2C-26C5-9AFB-54BAB50D1A34}"/>
                </a:ext>
              </a:extLst>
            </p:cNvPr>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B4096783-4355-D85F-3D68-3139F31FF824}"/>
                </a:ext>
              </a:extLst>
            </p:cNvPr>
            <p:cNvSpPr/>
            <p:nvPr/>
          </p:nvSpPr>
          <p:spPr>
            <a:xfrm>
              <a:off x="508864" y="1498318"/>
              <a:ext cx="1810512" cy="4709160"/>
            </a:xfrm>
            <a:prstGeom prst="rect">
              <a:avLst/>
            </a:prstGeom>
            <a:noFill/>
            <a:ln/>
          </p:spPr>
          <p:txBody>
            <a:bodyPr wrap="square" lIns="0" tIns="0" rIns="0" bIns="0" rtlCol="0" anchor="t"/>
            <a:lstStyle/>
            <a:p>
              <a:pPr algn="l">
                <a:lnSpc>
                  <a:spcPct val="105000"/>
                </a:lnSpc>
                <a:spcAft>
                  <a:spcPts val="600"/>
                </a:spcAft>
                <a:buSzPct val="100000"/>
              </a:pPr>
              <a:endParaRPr lang="en-US" sz="7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Sport: basketball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League: 30 teams; 82-game regular season + Play-In + playoffs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Geographic base: US &amp; Canada; substantial global distribution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NBA content reaches virtually every major international market; 2026 All-Star distribution covered 214 countries/territories in 50+ languages.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Digital ecosystem includes NBA TV, </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NBA.com</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NBA App and NBA League Pass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NBA reports 2.5bn+ likes/followers globally across league, team and player social platforms.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Commercial ecosystem also includes WNBA, G League, NBA 2K League and Basketball Africa League</a:t>
              </a:r>
            </a:p>
          </p:txBody>
        </p:sp>
      </p:grpSp>
      <p:grpSp>
        <p:nvGrpSpPr>
          <p:cNvPr id="22" name="Group 21">
            <a:extLst>
              <a:ext uri="{FF2B5EF4-FFF2-40B4-BE49-F238E27FC236}">
                <a16:creationId xmlns:a16="http://schemas.microsoft.com/office/drawing/2014/main" id="{665D34BD-7B00-1EF6-A968-B6B9032F0A86}"/>
              </a:ext>
            </a:extLst>
          </p:cNvPr>
          <p:cNvGrpSpPr/>
          <p:nvPr/>
        </p:nvGrpSpPr>
        <p:grpSpPr>
          <a:xfrm>
            <a:off x="1364244" y="685220"/>
            <a:ext cx="1796285" cy="6126480"/>
            <a:chOff x="2712568" y="1051560"/>
            <a:chExt cx="2084832" cy="5394960"/>
          </a:xfrm>
        </p:grpSpPr>
        <p:sp>
          <p:nvSpPr>
            <p:cNvPr id="7" name="Shape 5">
              <a:extLst>
                <a:ext uri="{FF2B5EF4-FFF2-40B4-BE49-F238E27FC236}">
                  <a16:creationId xmlns:a16="http://schemas.microsoft.com/office/drawing/2014/main" id="{7F995436-A05B-6B99-EA8F-BD6C2B04C2B1}"/>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B6DC15C9-F96F-961C-015B-E93FCA45479C}"/>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F55B9DD8-AB84-7886-FFA4-E676BAB4FD0C}"/>
                </a:ext>
              </a:extLst>
            </p:cNvPr>
            <p:cNvSpPr/>
            <p:nvPr/>
          </p:nvSpPr>
          <p:spPr>
            <a:xfrm>
              <a:off x="2849728" y="1600200"/>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9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NBA remains one of the most internationally distributed US sports properties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170m people in the US watched NBA games during the 2025/26 regular season, the highest reach in 24 years and +86% YoY.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International player base reinforces global appeal: the 2024/25 opening-night rosters contained 125 international players from 43 countries.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Social reach exceeds 2.5bn likes/followers across league/team/player platforms.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TikTok says one in three users has an interest in the NBA; NBA/WNBA accounts have a combined ~30m followers on the platform. </a:t>
              </a:r>
            </a:p>
            <a:p>
              <a:pPr marL="127000" indent="-127000" algn="l">
                <a:lnSpc>
                  <a:spcPct val="105000"/>
                </a:lnSpc>
                <a:spcAft>
                  <a:spcPts val="600"/>
                </a:spcAft>
                <a:buSzPct val="100000"/>
                <a:buChar char="•"/>
              </a:pPr>
              <a:r>
                <a:rPr lang="en-US" sz="900" dirty="0">
                  <a:solidFill>
                    <a:srgbClr val="1A1A1A"/>
                  </a:solidFill>
                  <a:latin typeface="Lato" panose="020F0502020204030203" pitchFamily="34" charset="0"/>
                  <a:ea typeface="Lato" panose="020F0502020204030203" pitchFamily="34" charset="0"/>
                  <a:cs typeface="Lato" panose="020F0502020204030203" pitchFamily="34" charset="0"/>
                </a:rPr>
                <a:t>2026 All-Star attracted attendees from a record 56 countries/territories, illustrating the league's international fan pull. </a:t>
              </a:r>
            </a:p>
          </p:txBody>
        </p:sp>
      </p:grpSp>
      <p:grpSp>
        <p:nvGrpSpPr>
          <p:cNvPr id="23" name="Group 22">
            <a:extLst>
              <a:ext uri="{FF2B5EF4-FFF2-40B4-BE49-F238E27FC236}">
                <a16:creationId xmlns:a16="http://schemas.microsoft.com/office/drawing/2014/main" id="{ADBABBB4-22D1-732E-F614-412724AC2B04}"/>
              </a:ext>
            </a:extLst>
          </p:cNvPr>
          <p:cNvGrpSpPr/>
          <p:nvPr/>
        </p:nvGrpSpPr>
        <p:grpSpPr>
          <a:xfrm>
            <a:off x="3215077" y="685220"/>
            <a:ext cx="2825288" cy="6126480"/>
            <a:chOff x="5053432" y="1051560"/>
            <a:chExt cx="2084832" cy="5394960"/>
          </a:xfrm>
        </p:grpSpPr>
        <p:sp>
          <p:nvSpPr>
            <p:cNvPr id="10" name="Shape 8">
              <a:extLst>
                <a:ext uri="{FF2B5EF4-FFF2-40B4-BE49-F238E27FC236}">
                  <a16:creationId xmlns:a16="http://schemas.microsoft.com/office/drawing/2014/main" id="{98B35AF7-5BFE-A451-BA08-65C6972AA1CA}"/>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F823F0D4-A121-A633-A8AF-3123AE54ACAA}"/>
                </a:ext>
              </a:extLst>
            </p:cNvPr>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4667C6CB-DDFA-DD32-2C51-A8010675979E}"/>
                </a:ext>
              </a:extLst>
            </p:cNvPr>
            <p:cNvSpPr/>
            <p:nvPr/>
          </p:nvSpPr>
          <p:spPr>
            <a:xfrm>
              <a:off x="5190592" y="1416812"/>
              <a:ext cx="1810512" cy="4709160"/>
            </a:xfrm>
            <a:prstGeom prst="rect">
              <a:avLst/>
            </a:prstGeom>
            <a:noFill/>
            <a:ln/>
          </p:spPr>
          <p:txBody>
            <a:bodyPr wrap="square" lIns="0" tIns="0" rIns="0" bIns="0" rtlCol="0" anchor="t"/>
            <a:lstStyle/>
            <a:p>
              <a:pPr marL="127000" indent="-127000">
                <a:spcAft>
                  <a:spcPts val="300"/>
                </a:spcAft>
                <a:buSzPct val="100000"/>
                <a:buChar char="•"/>
              </a:pPr>
              <a:endParaRPr lang="en-US" sz="7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Current NBA media + betting rights are worth approximately $7.6bn (€6.6bn) annually; &gt;90% comes from the new US national agreements.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USA: ~$6.9bn/year (2025/26–2035/36):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Disney — ~$2.6bn/year: ABC/ESPN; ~80 regular-season games; playoffs, one Conference Final and exclusive NBA Finals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Comcast/NBCU — ~$2.5bn/year: NBC/Peacock; up to 100 regular-season games; playoffs + rotating Conference Final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Amazon — ~$1.8bn/year: Prime Video; 66 regular-season games, NBA Cup knockout rounds, Play-In, playoffs + alternating Conference Finals.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New domestic contracts represent a 165% increase versus the prior ~$2.6bn/year US agreements.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Local team rights: worth &gt;$1bn/year collectively, although economics vary substantially by market/team.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China — Tencent: ~$300m/year, currently the NBA's largest standalone overseas deal; understood to run through 2027.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International rights: standalone international packages generated ~$650m in 2024; value is now harder to isolate because Disney, Comcast and Amazon receive international rights through their US contracts.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Spain — DAZN: ~$7m/year (2025/26–2027/28) vs. Telefónica's prior ~$11–12m/year.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France + MENA — beIN: ~$9m/year combined; ~$5.5–6m France and ~$3.5–4m MENA.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Italy — Sky: just under $4m/year (2025/26–2027/28) for incremental rights alongside Comcast/Amazon inventory.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UK — Sky: incremental package estimated at roughly $1.9m/year, alongside Comcast/Amazon rights.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Germany — Sky: incremental package estimated at roughly $1.75m/year, alongside other international allocations.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Greece — </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Cosmote</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~$2–2.5m/year (2025/26–2027/28).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Balkans: ~$3.5m/year (2025/26–2029/30) across Arena Sport and United/</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Sportklub</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Israel — Sports Channel: close to $3m/year, ~40% below its previous exclusive contract.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Betting/data — </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Sportradar</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 estimated ~$125m/year (2023/24–2030/31) including cash and equity. </a:t>
              </a:r>
            </a:p>
            <a:p>
              <a:pPr marL="127000" indent="-127000">
                <a:spcAft>
                  <a:spcPts val="3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WBD: retains digital/highlights rights plus live NBA rights in Nordics, Poland and Latin America ex-Brazil/Mexico following settlement of its dispute with the NBA.</a:t>
              </a:r>
            </a:p>
          </p:txBody>
        </p:sp>
      </p:grpSp>
      <p:grpSp>
        <p:nvGrpSpPr>
          <p:cNvPr id="24" name="Group 23">
            <a:extLst>
              <a:ext uri="{FF2B5EF4-FFF2-40B4-BE49-F238E27FC236}">
                <a16:creationId xmlns:a16="http://schemas.microsoft.com/office/drawing/2014/main" id="{CBD438AE-A53F-E936-88BF-094682389202}"/>
              </a:ext>
            </a:extLst>
          </p:cNvPr>
          <p:cNvGrpSpPr/>
          <p:nvPr/>
        </p:nvGrpSpPr>
        <p:grpSpPr>
          <a:xfrm>
            <a:off x="6121187" y="685220"/>
            <a:ext cx="2262649" cy="6126480"/>
            <a:chOff x="7394296" y="1051560"/>
            <a:chExt cx="2203704" cy="5394960"/>
          </a:xfrm>
        </p:grpSpPr>
        <p:sp>
          <p:nvSpPr>
            <p:cNvPr id="13" name="Shape 11">
              <a:extLst>
                <a:ext uri="{FF2B5EF4-FFF2-40B4-BE49-F238E27FC236}">
                  <a16:creationId xmlns:a16="http://schemas.microsoft.com/office/drawing/2014/main" id="{A2097793-B2AD-DA0C-734D-0E3CE90A6D6C}"/>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A5196B56-8970-DC7B-4B11-49B25404C58E}"/>
                </a:ext>
              </a:extLst>
            </p:cNvPr>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1729FC01-1559-4E3A-1984-096915069F14}"/>
                </a:ext>
              </a:extLst>
            </p:cNvPr>
            <p:cNvSpPr/>
            <p:nvPr/>
          </p:nvSpPr>
          <p:spPr>
            <a:xfrm>
              <a:off x="7464281" y="1600200"/>
              <a:ext cx="2069932" cy="4709160"/>
            </a:xfrm>
            <a:prstGeom prst="rect">
              <a:avLst/>
            </a:prstGeom>
            <a:noFill/>
            <a:ln/>
          </p:spPr>
          <p:txBody>
            <a:bodyPr wrap="square" lIns="0" tIns="0" rIns="0" bIns="0" rtlCol="0" anchor="t"/>
            <a:lstStyle/>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New US rights cycle transformed NBA economics: the Disney/NBCU/Amazon agreements started in 2025/26 and lifted national domestic rights revenue by ~165%, while adding Amazon as a major global streaming partner.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International carve-outs are reshaping local rights markets: Amazon, Comcast and Disney now receive significant overseas inventory as part of their US contracts, reducing exclusivity and standalone broadcaster fees in markets such as Spain, France, Italy, Greece and Israel.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Local US rights are entering a structural reset: Main Street Sports Group/FanDuel RSN disruption has forced affected teams to seek new distribution models; the NBA is considering a centralized streaming proposition for local broadcasts.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NBA Europe is emerging as the next major strategic initiative: the league has discussed media distribution with global platforms including Amazon and YouTube, with a targeted 2027 launch being explored.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Commercial momentum remains strong: NBA team sponsorship revenue reached approximately $1.62bn in 2024/25, +8% YoY and +91% over five years.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Engagement continues to grow: 2025/26 delivered record/high NBA viewing metrics, while 2026 Summer League set attendance and merchandise records. </a:t>
              </a:r>
            </a:p>
          </p:txBody>
        </p:sp>
      </p:grpSp>
      <p:grpSp>
        <p:nvGrpSpPr>
          <p:cNvPr id="26" name="Group 25">
            <a:extLst>
              <a:ext uri="{FF2B5EF4-FFF2-40B4-BE49-F238E27FC236}">
                <a16:creationId xmlns:a16="http://schemas.microsoft.com/office/drawing/2014/main" id="{170EB856-C49E-39AE-15AF-03F73A10124F}"/>
              </a:ext>
            </a:extLst>
          </p:cNvPr>
          <p:cNvGrpSpPr/>
          <p:nvPr/>
        </p:nvGrpSpPr>
        <p:grpSpPr>
          <a:xfrm>
            <a:off x="8464658" y="685220"/>
            <a:ext cx="3464191" cy="6126480"/>
            <a:chOff x="9735160" y="1051560"/>
            <a:chExt cx="2084832" cy="5394960"/>
          </a:xfrm>
        </p:grpSpPr>
        <p:sp>
          <p:nvSpPr>
            <p:cNvPr id="16" name="Shape 14">
              <a:extLst>
                <a:ext uri="{FF2B5EF4-FFF2-40B4-BE49-F238E27FC236}">
                  <a16:creationId xmlns:a16="http://schemas.microsoft.com/office/drawing/2014/main" id="{556DF9FB-4381-7A0D-2BF7-2C85789DBC9C}"/>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1A4EF76E-203C-512F-BC22-DFFAF059D8B2}"/>
                </a:ext>
              </a:extLst>
            </p:cNvPr>
            <p:cNvSpPr/>
            <p:nvPr/>
          </p:nvSpPr>
          <p:spPr>
            <a:xfrm>
              <a:off x="9735160"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7A8CE938-1458-D98A-334C-65C6D7B6622B}"/>
                </a:ext>
              </a:extLst>
            </p:cNvPr>
            <p:cNvSpPr/>
            <p:nvPr/>
          </p:nvSpPr>
          <p:spPr>
            <a:xfrm>
              <a:off x="9872320" y="1508506"/>
              <a:ext cx="1810512" cy="470916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800" dirty="0">
                  <a:latin typeface="Lato" panose="020F0502020204030203" pitchFamily="34" charset="0"/>
                  <a:ea typeface="Lato" panose="020F0502020204030203" pitchFamily="34" charset="0"/>
                  <a:cs typeface="Lato" panose="020F0502020204030203" pitchFamily="34" charset="0"/>
                </a:rPr>
                <a:t>NBA has one of the strongest media-rights positions in global sport. The ~$6.9bn/year US national package alone provides exceptional long-term revenue visibility through 2035/36 and materially reduces dependence on international rights </a:t>
              </a:r>
              <a:r>
                <a:rPr lang="en-US" sz="800" dirty="0" err="1">
                  <a:latin typeface="Lato" panose="020F0502020204030203" pitchFamily="34" charset="0"/>
                  <a:ea typeface="Lato" panose="020F0502020204030203" pitchFamily="34" charset="0"/>
                  <a:cs typeface="Lato" panose="020F0502020204030203" pitchFamily="34" charset="0"/>
                </a:rPr>
                <a:t>monetisation</a:t>
              </a:r>
              <a:r>
                <a:rPr lang="en-US" sz="800" dirty="0">
                  <a:latin typeface="Lato" panose="020F0502020204030203" pitchFamily="34" charset="0"/>
                  <a:ea typeface="Lato" panose="020F0502020204030203" pitchFamily="34" charset="0"/>
                  <a:cs typeface="Lato" panose="020F0502020204030203" pitchFamily="34" charset="0"/>
                </a:rPr>
                <a:t>. </a:t>
              </a:r>
            </a:p>
            <a:p>
              <a:pPr marL="127000" indent="-127000">
                <a:lnSpc>
                  <a:spcPct val="105000"/>
                </a:lnSpc>
                <a:spcAft>
                  <a:spcPts val="600"/>
                </a:spcAft>
                <a:buSzPct val="100000"/>
                <a:buChar char="•"/>
              </a:pPr>
              <a:r>
                <a:rPr lang="en-US" sz="800" dirty="0">
                  <a:latin typeface="Lato" panose="020F0502020204030203" pitchFamily="34" charset="0"/>
                  <a:ea typeface="Lato" panose="020F0502020204030203" pitchFamily="34" charset="0"/>
                  <a:cs typeface="Lato" panose="020F0502020204030203" pitchFamily="34" charset="0"/>
                </a:rPr>
                <a:t>Amazon, Comcast and Disney effectively export portions of their US packages internationally, making headline territory-by-territory rights values less representative of the NBA's actual international economics. The supplied source explicitly notes that this makes total international spend difficult to calculate. </a:t>
              </a:r>
            </a:p>
            <a:p>
              <a:pPr marL="127000" indent="-127000">
                <a:lnSpc>
                  <a:spcPct val="105000"/>
                </a:lnSpc>
                <a:spcAft>
                  <a:spcPts val="600"/>
                </a:spcAft>
                <a:buSzPct val="100000"/>
                <a:buChar char="•"/>
              </a:pPr>
              <a:r>
                <a:rPr lang="en-US" sz="800" dirty="0">
                  <a:latin typeface="Lato" panose="020F0502020204030203" pitchFamily="34" charset="0"/>
                  <a:ea typeface="Lato" panose="020F0502020204030203" pitchFamily="34" charset="0"/>
                  <a:cs typeface="Lato" panose="020F0502020204030203" pitchFamily="34" charset="0"/>
                </a:rPr>
                <a:t>Amazon is the biggest disruptor internationally. Its broad Prime Video carve-out reduces scarcity/exclusivity for incumbent local broadcasters; corresponding rights-fee declines are already visible in Spain, France/MENA, Italy, Greece, Balkans and Israel. </a:t>
              </a:r>
            </a:p>
            <a:p>
              <a:pPr marL="127000" indent="-127000">
                <a:lnSpc>
                  <a:spcPct val="105000"/>
                </a:lnSpc>
                <a:spcAft>
                  <a:spcPts val="600"/>
                </a:spcAft>
                <a:buSzPct val="100000"/>
                <a:buChar char="•"/>
              </a:pPr>
              <a:r>
                <a:rPr lang="en-US" sz="800" dirty="0">
                  <a:latin typeface="Lato" panose="020F0502020204030203" pitchFamily="34" charset="0"/>
                  <a:ea typeface="Lato" panose="020F0502020204030203" pitchFamily="34" charset="0"/>
                  <a:cs typeface="Lato" panose="020F0502020204030203" pitchFamily="34" charset="0"/>
                </a:rPr>
                <a:t>China is the major exception: Tencent's ~$300m/year contract remains by far the most valuable standalone international territory and was insulated from the new US carve-outs. </a:t>
              </a:r>
            </a:p>
            <a:p>
              <a:pPr marL="127000" indent="-127000">
                <a:lnSpc>
                  <a:spcPct val="105000"/>
                </a:lnSpc>
                <a:spcAft>
                  <a:spcPts val="600"/>
                </a:spcAft>
                <a:buSzPct val="100000"/>
                <a:buChar char="•"/>
              </a:pPr>
              <a:r>
                <a:rPr lang="en-US" sz="800" dirty="0">
                  <a:latin typeface="Lato" panose="020F0502020204030203" pitchFamily="34" charset="0"/>
                  <a:ea typeface="Lato" panose="020F0502020204030203" pitchFamily="34" charset="0"/>
                  <a:cs typeface="Lato" panose="020F0502020204030203" pitchFamily="34" charset="0"/>
                </a:rPr>
                <a:t>The largest near-term risk/opportunity is local US media. The decline of the traditional RSN model threatens &gt;$1bn of team-level annual rights economics, but </a:t>
              </a:r>
              <a:r>
                <a:rPr lang="en-US" sz="800" dirty="0" err="1">
                  <a:latin typeface="Lato" panose="020F0502020204030203" pitchFamily="34" charset="0"/>
                  <a:ea typeface="Lato" panose="020F0502020204030203" pitchFamily="34" charset="0"/>
                  <a:cs typeface="Lato" panose="020F0502020204030203" pitchFamily="34" charset="0"/>
                </a:rPr>
                <a:t>centralisation</a:t>
              </a:r>
              <a:r>
                <a:rPr lang="en-US" sz="800" dirty="0">
                  <a:latin typeface="Lato" panose="020F0502020204030203" pitchFamily="34" charset="0"/>
                  <a:ea typeface="Lato" panose="020F0502020204030203" pitchFamily="34" charset="0"/>
                  <a:cs typeface="Lato" panose="020F0502020204030203" pitchFamily="34" charset="0"/>
                </a:rPr>
                <a:t> could ultimately give the NBA greater control over distribution, consumer data and DTC </a:t>
              </a:r>
              <a:r>
                <a:rPr lang="en-US" sz="800" dirty="0" err="1">
                  <a:latin typeface="Lato" panose="020F0502020204030203" pitchFamily="34" charset="0"/>
                  <a:ea typeface="Lato" panose="020F0502020204030203" pitchFamily="34" charset="0"/>
                  <a:cs typeface="Lato" panose="020F0502020204030203" pitchFamily="34" charset="0"/>
                </a:rPr>
                <a:t>monetisation</a:t>
              </a:r>
              <a:r>
                <a:rPr lang="en-US" sz="800" dirty="0">
                  <a:latin typeface="Lato" panose="020F0502020204030203" pitchFamily="34" charset="0"/>
                  <a:ea typeface="Lato" panose="020F0502020204030203" pitchFamily="34" charset="0"/>
                  <a:cs typeface="Lato" panose="020F0502020204030203" pitchFamily="34" charset="0"/>
                </a:rPr>
                <a:t>. </a:t>
              </a:r>
            </a:p>
            <a:p>
              <a:pPr marL="127000" indent="-127000">
                <a:lnSpc>
                  <a:spcPct val="105000"/>
                </a:lnSpc>
                <a:spcAft>
                  <a:spcPts val="600"/>
                </a:spcAft>
                <a:buSzPct val="100000"/>
                <a:buChar char="•"/>
              </a:pPr>
              <a:r>
                <a:rPr lang="en-US" sz="800" dirty="0">
                  <a:latin typeface="Lato" panose="020F0502020204030203" pitchFamily="34" charset="0"/>
                  <a:ea typeface="Lato" panose="020F0502020204030203" pitchFamily="34" charset="0"/>
                  <a:cs typeface="Lato" panose="020F0502020204030203" pitchFamily="34" charset="0"/>
                </a:rPr>
                <a:t>NBA Europe could become a second major international </a:t>
              </a:r>
              <a:r>
                <a:rPr lang="en-US" sz="800" dirty="0" err="1">
                  <a:latin typeface="Lato" panose="020F0502020204030203" pitchFamily="34" charset="0"/>
                  <a:ea typeface="Lato" panose="020F0502020204030203" pitchFamily="34" charset="0"/>
                  <a:cs typeface="Lato" panose="020F0502020204030203" pitchFamily="34" charset="0"/>
                </a:rPr>
                <a:t>monetisation</a:t>
              </a:r>
              <a:r>
                <a:rPr lang="en-US" sz="800" dirty="0">
                  <a:latin typeface="Lato" panose="020F0502020204030203" pitchFamily="34" charset="0"/>
                  <a:ea typeface="Lato" panose="020F0502020204030203" pitchFamily="34" charset="0"/>
                  <a:cs typeface="Lato" panose="020F0502020204030203" pitchFamily="34" charset="0"/>
                </a:rPr>
                <a:t> engine. If launched successfully, it would extend the NBA from exporting US content into owning a locally anchored European competition, potentially creating new franchise, media, sponsorship and digital revenue pools. Discussions remain developmental rather than finalized. </a:t>
              </a:r>
            </a:p>
            <a:p>
              <a:pPr marL="127000" indent="-127000">
                <a:lnSpc>
                  <a:spcPct val="105000"/>
                </a:lnSpc>
                <a:spcAft>
                  <a:spcPts val="600"/>
                </a:spcAft>
                <a:buSzPct val="100000"/>
                <a:buChar char="•"/>
              </a:pPr>
              <a:r>
                <a:rPr lang="en-US" sz="800" dirty="0">
                  <a:latin typeface="Lato" panose="020F0502020204030203" pitchFamily="34" charset="0"/>
                  <a:ea typeface="Lato" panose="020F0502020204030203" pitchFamily="34" charset="0"/>
                  <a:cs typeface="Lato" panose="020F0502020204030203" pitchFamily="34" charset="0"/>
                </a:rPr>
                <a:t>Overall: the NBA's strategic advantage is the combination of exceptionally valuable long-term US rights, global streaming distribution and enormous digital reach. The trade-off is that global platform carve-outs are compressing the value of standalone international broadcast packages, meaning future international growth is increasingly likely to come from DTC, sponsorship, League Pass and ventures such as NBA Europe rather than conventional country-by-country rights inflation.</a:t>
              </a:r>
            </a:p>
          </p:txBody>
        </p:sp>
      </p:grpSp>
    </p:spTree>
    <p:extLst>
      <p:ext uri="{BB962C8B-B14F-4D97-AF65-F5344CB8AC3E}">
        <p14:creationId xmlns:p14="http://schemas.microsoft.com/office/powerpoint/2010/main" val="2999117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FEC30C-0537-D556-2587-D65B3FD906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322FF6D-A950-0884-8D14-28B975262928}"/>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F8964D73-4CF6-712B-EEF5-7ADDBDE484A0}"/>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EUROLEAGUE</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EDF3E334-E691-C7CC-E96B-CD5D1E9C294F}"/>
              </a:ext>
            </a:extLst>
          </p:cNvPr>
          <p:cNvGrpSpPr/>
          <p:nvPr/>
        </p:nvGrpSpPr>
        <p:grpSpPr>
          <a:xfrm>
            <a:off x="272143" y="638922"/>
            <a:ext cx="1037553" cy="6126480"/>
            <a:chOff x="371704" y="1051560"/>
            <a:chExt cx="2084832" cy="5394960"/>
          </a:xfrm>
        </p:grpSpPr>
        <p:sp>
          <p:nvSpPr>
            <p:cNvPr id="4" name="Shape 2">
              <a:extLst>
                <a:ext uri="{FF2B5EF4-FFF2-40B4-BE49-F238E27FC236}">
                  <a16:creationId xmlns:a16="http://schemas.microsoft.com/office/drawing/2014/main" id="{FCD0E005-6594-072B-7C28-A99C0412C1AE}"/>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06821DBC-909F-697F-85A1-E19377267E46}"/>
                </a:ext>
              </a:extLst>
            </p:cNvPr>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7D48AB37-4F50-473F-EB01-DC7D504D193A}"/>
                </a:ext>
              </a:extLst>
            </p:cNvPr>
            <p:cNvSpPr/>
            <p:nvPr/>
          </p:nvSpPr>
          <p:spPr>
            <a:xfrm>
              <a:off x="508864" y="1396434"/>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6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Sport: basketball </a:t>
              </a:r>
            </a:p>
            <a:p>
              <a:pPr marL="127000" indent="-127000" algn="l">
                <a:lnSpc>
                  <a:spcPct val="105000"/>
                </a:lnSpc>
                <a:spcAft>
                  <a:spcPts val="600"/>
                </a:spcAft>
                <a:buSzPct val="100000"/>
                <a:buChar char="•"/>
              </a:pP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Organiser</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Basketball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Main competitions: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(top tier) and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(second tier) </a:t>
              </a:r>
            </a:p>
            <a:p>
              <a:pPr marL="127000" indent="-127000" algn="l">
                <a:lnSpc>
                  <a:spcPct val="105000"/>
                </a:lnSpc>
                <a:spcAft>
                  <a:spcPts val="600"/>
                </a:spcAft>
                <a:buSzPct val="100000"/>
                <a:buChar char="•"/>
              </a:pP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expanded to 20 teams in 2025/26, up from 18 previously.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2025/26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clubs span 11 countries/markets: Spain (4), Turkey (2), Serbia (2), France (2), Israel (2), Greece (2), Italy (2), Germany (1), Monaco (1), Lithuania (1) and UAE (1). </a:t>
              </a:r>
            </a:p>
            <a:p>
              <a:pPr marL="127000" indent="-127000" algn="l">
                <a:lnSpc>
                  <a:spcPct val="105000"/>
                </a:lnSpc>
                <a:spcAft>
                  <a:spcPts val="600"/>
                </a:spcAft>
                <a:buSzPct val="100000"/>
                <a:buChar char="•"/>
              </a:pP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also features 20 teams and extends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Euroleague's</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footprint into Romania, Slovenia, Poland and the UK.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2025/26 media + betting rights revenue estimated at &gt;€60m, of which &gt;€50m comes from media rights in core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-team markets.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Long-term commercial/distribution partnership with IMG extended through 2035/36, but shifts from a JV structure to a commission-based relationship from 2026/27. </a:t>
              </a:r>
            </a:p>
            <a:p>
              <a:pPr marL="127000" indent="-127000" algn="l">
                <a:lnSpc>
                  <a:spcPct val="105000"/>
                </a:lnSpc>
                <a:spcAft>
                  <a:spcPts val="600"/>
                </a:spcAft>
                <a:buSzPct val="100000"/>
                <a:buChar char="•"/>
              </a:pP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Own DTC platform: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TV, covering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600" dirty="0">
                  <a:solidFill>
                    <a:srgbClr val="1A1A1A"/>
                  </a:solidFill>
                  <a:latin typeface="Lato" panose="020F0502020204030203" pitchFamily="34" charset="0"/>
                  <a:ea typeface="Lato" panose="020F0502020204030203" pitchFamily="34" charset="0"/>
                  <a:cs typeface="Lato" panose="020F0502020204030203" pitchFamily="34" charset="0"/>
                </a:rPr>
                <a:t> and </a:t>
              </a:r>
              <a:r>
                <a:rPr lang="en-US" sz="6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endParaRPr lang="en-US" sz="600" dirty="0">
                <a:solidFill>
                  <a:srgbClr val="1A1A1A"/>
                </a:solidFill>
                <a:latin typeface="Lato" panose="020F0502020204030203" pitchFamily="34" charset="0"/>
                <a:ea typeface="Lato" panose="020F0502020204030203" pitchFamily="34" charset="0"/>
                <a:cs typeface="Lato" panose="020F0502020204030203" pitchFamily="34" charset="0"/>
              </a:endParaRPr>
            </a:p>
          </p:txBody>
        </p:sp>
      </p:grpSp>
      <p:grpSp>
        <p:nvGrpSpPr>
          <p:cNvPr id="22" name="Group 21">
            <a:extLst>
              <a:ext uri="{FF2B5EF4-FFF2-40B4-BE49-F238E27FC236}">
                <a16:creationId xmlns:a16="http://schemas.microsoft.com/office/drawing/2014/main" id="{ED8A4570-81CD-F39B-D341-681198A823E7}"/>
              </a:ext>
            </a:extLst>
          </p:cNvPr>
          <p:cNvGrpSpPr/>
          <p:nvPr/>
        </p:nvGrpSpPr>
        <p:grpSpPr>
          <a:xfrm>
            <a:off x="1364245" y="638922"/>
            <a:ext cx="1588276" cy="6126480"/>
            <a:chOff x="2712568" y="1051560"/>
            <a:chExt cx="2084832" cy="5394960"/>
          </a:xfrm>
        </p:grpSpPr>
        <p:sp>
          <p:nvSpPr>
            <p:cNvPr id="7" name="Shape 5">
              <a:extLst>
                <a:ext uri="{FF2B5EF4-FFF2-40B4-BE49-F238E27FC236}">
                  <a16:creationId xmlns:a16="http://schemas.microsoft.com/office/drawing/2014/main" id="{0492C7C1-EC9B-82BF-8FE8-F3020B8F4B96}"/>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CFF7F73B-30D8-5B59-28E8-18B96FC5D69E}"/>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18A8BC84-BBAB-9169-0E3E-B4D2D8DD970E}"/>
                </a:ext>
              </a:extLst>
            </p:cNvPr>
            <p:cNvSpPr/>
            <p:nvPr/>
          </p:nvSpPr>
          <p:spPr>
            <a:xfrm>
              <a:off x="2849727" y="1432363"/>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8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Audience is concentrated in basketball-heavy European markets, particularly Greece, Spain, Turkey, Serbia/Balkans, Israel, Italy and Lithuania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Local club strength is a major driver of broadcast value: Greece, for example, generates €12.5–14.5m/year with Olympiacos and Panathinaikos participating. </a:t>
              </a:r>
            </a:p>
            <a:p>
              <a:pPr marL="127000" indent="-127000" algn="l">
                <a:lnSpc>
                  <a:spcPct val="105000"/>
                </a:lnSpc>
                <a:spcAft>
                  <a:spcPts val="600"/>
                </a:spcAft>
                <a:buSzPct val="100000"/>
                <a:buChar char="•"/>
              </a:pP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TV reported 85,900 paying subscribers after 2023/24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Subscribers subsequently increased 37% in 2024/25, implying &gt;115,000 paying subscribers.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Free-to-air exposure remains part of the distribution strategy in selected markets: e.g.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L'Équipe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broadcasts 25 games in France in 2025/26, while TV Monaco carries AS Monaco matches.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Dubai BC's entry gives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its first MENA-based team and represents a deliberate attempt to broaden the competition beyond its traditional European core.</a:t>
              </a:r>
            </a:p>
          </p:txBody>
        </p:sp>
      </p:grpSp>
      <p:grpSp>
        <p:nvGrpSpPr>
          <p:cNvPr id="23" name="Group 22">
            <a:extLst>
              <a:ext uri="{FF2B5EF4-FFF2-40B4-BE49-F238E27FC236}">
                <a16:creationId xmlns:a16="http://schemas.microsoft.com/office/drawing/2014/main" id="{6EB46EE5-282A-0A15-FB3B-EA55FBC02132}"/>
              </a:ext>
            </a:extLst>
          </p:cNvPr>
          <p:cNvGrpSpPr/>
          <p:nvPr/>
        </p:nvGrpSpPr>
        <p:grpSpPr>
          <a:xfrm>
            <a:off x="3033343" y="638922"/>
            <a:ext cx="2871698" cy="6126480"/>
            <a:chOff x="5053432" y="1051560"/>
            <a:chExt cx="2084832" cy="5394960"/>
          </a:xfrm>
        </p:grpSpPr>
        <p:sp>
          <p:nvSpPr>
            <p:cNvPr id="10" name="Shape 8">
              <a:extLst>
                <a:ext uri="{FF2B5EF4-FFF2-40B4-BE49-F238E27FC236}">
                  <a16:creationId xmlns:a16="http://schemas.microsoft.com/office/drawing/2014/main" id="{B0E94B78-2562-0709-DDBB-A9EC1A4B4BD4}"/>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2997B896-B38D-F5C6-8C4C-4E5A92B08CF7}"/>
                </a:ext>
              </a:extLst>
            </p:cNvPr>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5549EDD5-6261-2231-0C18-3AC686A9AD21}"/>
                </a:ext>
              </a:extLst>
            </p:cNvPr>
            <p:cNvSpPr/>
            <p:nvPr/>
          </p:nvSpPr>
          <p:spPr>
            <a:xfrm>
              <a:off x="5130611" y="1600200"/>
              <a:ext cx="1949862" cy="4709160"/>
            </a:xfrm>
            <a:prstGeom prst="rect">
              <a:avLst/>
            </a:prstGeom>
            <a:noFill/>
            <a:ln/>
          </p:spPr>
          <p:txBody>
            <a:bodyPr wrap="square" lIns="0" tIns="0" rIns="0" bIns="0" rtlCol="0" anchor="t"/>
            <a:lstStyle/>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Total media + betting rights: &gt;€60m in 2025/26, including &gt;€50m from core media markets plus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TV, smaller territories and betting/data.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Greece/Cyprus — Nova: €12.5–14.5m/year (2023/24–2027/28) for exclusive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up from ~€10.5m/year.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Spain — Telefónica/Movistar: just under €9m/year (2023/24–2025/26); rises sharply to ~€13m/year (2026/27–2030/31) for exclusive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 non-exclusive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Israel — Sports Channel: ≥€7.5m/year (2025/26–2030/31) for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up from just over €6m; potential additional payment when two Israeli teams participate.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sold separately.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Turkey — Saran Media: ~€6.5m/year (2025/26–2028/29) for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up from ~€6m/year.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Germany — Deutsche Telekom: ~€3.5–4m/year (2023/24–2025/26) for exclusive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substantial increase from €1.3m previously. Renewed through 2028/29, although the source does not disclose the new fee.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Balkans —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Sportklub</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~€3.5m/year (2023/24–2027/28); ~150% increase from previous €1.4m/year agreement.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Italy — Sky Italia: ~€3m/year (2025/26–2027/28), &gt;20% uplift; Sky now holds full exclusivity after previously sharing with DAZN.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France/Monaco —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Skweek</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~€2.5m/year average (2022/23–2025/26) for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EuroCup</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150–200% increase versus previous arrangements.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Baltics — TV3: ~€2.2m/year (2023/24–2027/28) across Estonia, Latvia and Lithuania; ~30% uplift versus previous arrangements.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MENA — Dubai Sports TV: low-seven-figure € amount/year, five-season deal associated with Dubai BC's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EuroLeague</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entry; emphasis is explicitly on reach/exposure rather than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maximising</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rights revenue. </a:t>
              </a:r>
            </a:p>
            <a:p>
              <a:pPr marL="127000" indent="-127000">
                <a:spcAft>
                  <a:spcPts val="3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Betting/data — IMG Arena /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Sportradar</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approximately €8m/year average under the four-year agreement ending after 2025/26; rights transferred to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Sportradar</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following its acquisition of IMG Arena. </a:t>
              </a:r>
            </a:p>
          </p:txBody>
        </p:sp>
      </p:grpSp>
      <p:grpSp>
        <p:nvGrpSpPr>
          <p:cNvPr id="24" name="Group 23">
            <a:extLst>
              <a:ext uri="{FF2B5EF4-FFF2-40B4-BE49-F238E27FC236}">
                <a16:creationId xmlns:a16="http://schemas.microsoft.com/office/drawing/2014/main" id="{3B4F2661-905A-25B0-803E-089AD8969650}"/>
              </a:ext>
            </a:extLst>
          </p:cNvPr>
          <p:cNvGrpSpPr/>
          <p:nvPr/>
        </p:nvGrpSpPr>
        <p:grpSpPr>
          <a:xfrm>
            <a:off x="5971923" y="638922"/>
            <a:ext cx="2479186" cy="6126480"/>
            <a:chOff x="7394296" y="1051560"/>
            <a:chExt cx="2203704" cy="5394960"/>
          </a:xfrm>
        </p:grpSpPr>
        <p:sp>
          <p:nvSpPr>
            <p:cNvPr id="13" name="Shape 11">
              <a:extLst>
                <a:ext uri="{FF2B5EF4-FFF2-40B4-BE49-F238E27FC236}">
                  <a16:creationId xmlns:a16="http://schemas.microsoft.com/office/drawing/2014/main" id="{AE56E7C8-A90F-1236-0D2D-6BD6BA66FDB2}"/>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2A29482A-A3EC-E7D2-0633-B8436FA527F0}"/>
                </a:ext>
              </a:extLst>
            </p:cNvPr>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FC1BE812-4101-14B3-D80B-8D0CAD2D2A4A}"/>
                </a:ext>
              </a:extLst>
            </p:cNvPr>
            <p:cNvSpPr/>
            <p:nvPr/>
          </p:nvSpPr>
          <p:spPr>
            <a:xfrm>
              <a:off x="7464281" y="1600200"/>
              <a:ext cx="2069932" cy="4709160"/>
            </a:xfrm>
            <a:prstGeom prst="rect">
              <a:avLst/>
            </a:prstGeom>
            <a:noFill/>
            <a:ln/>
          </p:spPr>
          <p:txBody>
            <a:bodyPr wrap="square" lIns="0" tIns="0" rIns="0" bIns="0" rtlCol="0" anchor="t"/>
            <a:lstStyle/>
            <a:p>
              <a:pPr marL="127000" indent="-127000">
                <a:spcAft>
                  <a:spcPts val="600"/>
                </a:spcAft>
                <a:buSzPct val="100000"/>
                <a:buChar char="•"/>
              </a:pPr>
              <a:r>
                <a:rPr lang="en-US" sz="900" dirty="0" err="1">
                  <a:latin typeface="Lato" panose="020F0502020204030203" pitchFamily="34" charset="0"/>
                  <a:ea typeface="Lato" panose="020F0502020204030203" pitchFamily="34" charset="0"/>
                  <a:cs typeface="Lato" panose="020F0502020204030203" pitchFamily="34" charset="0"/>
                </a:rPr>
                <a:t>EuroLeague</a:t>
              </a:r>
              <a:r>
                <a:rPr lang="en-US" sz="900" dirty="0">
                  <a:latin typeface="Lato" panose="020F0502020204030203" pitchFamily="34" charset="0"/>
                  <a:ea typeface="Lato" panose="020F0502020204030203" pitchFamily="34" charset="0"/>
                  <a:cs typeface="Lato" panose="020F0502020204030203" pitchFamily="34" charset="0"/>
                </a:rPr>
                <a:t> expanded to 20 teams, including Dubai BC, significantly broadening its geographic footprint and marking the competition's first permanent move into MENA.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Commercial relationship with IMG fundamentally changes from 2026/27: IMG remains </a:t>
              </a:r>
              <a:r>
                <a:rPr lang="en-US" sz="900" dirty="0" err="1">
                  <a:latin typeface="Lato" panose="020F0502020204030203" pitchFamily="34" charset="0"/>
                  <a:ea typeface="Lato" panose="020F0502020204030203" pitchFamily="34" charset="0"/>
                  <a:cs typeface="Lato" panose="020F0502020204030203" pitchFamily="34" charset="0"/>
                </a:rPr>
                <a:t>Euroleague's</a:t>
              </a:r>
              <a:r>
                <a:rPr lang="en-US" sz="900" dirty="0">
                  <a:latin typeface="Lato" panose="020F0502020204030203" pitchFamily="34" charset="0"/>
                  <a:ea typeface="Lato" panose="020F0502020204030203" pitchFamily="34" charset="0"/>
                  <a:cs typeface="Lato" panose="020F0502020204030203" pitchFamily="34" charset="0"/>
                </a:rPr>
                <a:t> partner through 2035/36 but the </a:t>
              </a:r>
              <a:r>
                <a:rPr lang="en-US" sz="900" dirty="0" err="1">
                  <a:latin typeface="Lato" panose="020F0502020204030203" pitchFamily="34" charset="0"/>
                  <a:ea typeface="Lato" panose="020F0502020204030203" pitchFamily="34" charset="0"/>
                  <a:cs typeface="Lato" panose="020F0502020204030203" pitchFamily="34" charset="0"/>
                </a:rPr>
                <a:t>Euroleague</a:t>
              </a:r>
              <a:r>
                <a:rPr lang="en-US" sz="900" dirty="0">
                  <a:latin typeface="Lato" panose="020F0502020204030203" pitchFamily="34" charset="0"/>
                  <a:ea typeface="Lato" panose="020F0502020204030203" pitchFamily="34" charset="0"/>
                  <a:cs typeface="Lato" panose="020F0502020204030203" pitchFamily="34" charset="0"/>
                </a:rPr>
                <a:t> Ventures JV will cease, with IMG instead working on a commission basis. This should allow </a:t>
              </a:r>
              <a:r>
                <a:rPr lang="en-US" sz="900" dirty="0" err="1">
                  <a:latin typeface="Lato" panose="020F0502020204030203" pitchFamily="34" charset="0"/>
                  <a:ea typeface="Lato" panose="020F0502020204030203" pitchFamily="34" charset="0"/>
                  <a:cs typeface="Lato" panose="020F0502020204030203" pitchFamily="34" charset="0"/>
                </a:rPr>
                <a:t>Euroleague</a:t>
              </a:r>
              <a:r>
                <a:rPr lang="en-US" sz="900" dirty="0">
                  <a:latin typeface="Lato" panose="020F0502020204030203" pitchFamily="34" charset="0"/>
                  <a:ea typeface="Lato" panose="020F0502020204030203" pitchFamily="34" charset="0"/>
                  <a:cs typeface="Lato" panose="020F0502020204030203" pitchFamily="34" charset="0"/>
                </a:rPr>
                <a:t> to exercise greater direct control over commercial strategy and retain more rights economics.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Spanish rights jump ~45% from &lt;€9m to ~€13m/year from 2026/27, one of the strongest recent indications of continued underlying demand for the competition.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Israel, Turkey, Italy and several other markets have also delivered rights-fee uplifts, supporting overall media revenue growth. </a:t>
              </a:r>
            </a:p>
            <a:p>
              <a:pPr marL="127000" indent="-127000">
                <a:spcAft>
                  <a:spcPts val="600"/>
                </a:spcAft>
                <a:buSzPct val="100000"/>
                <a:buChar char="•"/>
              </a:pPr>
              <a:r>
                <a:rPr lang="en-US" sz="900" dirty="0" err="1">
                  <a:latin typeface="Lato" panose="020F0502020204030203" pitchFamily="34" charset="0"/>
                  <a:ea typeface="Lato" panose="020F0502020204030203" pitchFamily="34" charset="0"/>
                  <a:cs typeface="Lato" panose="020F0502020204030203" pitchFamily="34" charset="0"/>
                </a:rPr>
                <a:t>EuroLeague</a:t>
              </a:r>
              <a:r>
                <a:rPr lang="en-US" sz="900" dirty="0">
                  <a:latin typeface="Lato" panose="020F0502020204030203" pitchFamily="34" charset="0"/>
                  <a:ea typeface="Lato" panose="020F0502020204030203" pitchFamily="34" charset="0"/>
                  <a:cs typeface="Lato" panose="020F0502020204030203" pitchFamily="34" charset="0"/>
                </a:rPr>
                <a:t> TV is growing quickly: implied subscribers increased from 85.9k to &gt;115k in 2024/25, strengthening the league's DTC position.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NBA Europe represents the largest strategic threat. The NBA is exploring a new European professional league potentially launching as early as 2027, which would directly compete for clubs, audiences, sponsors and broadcasters. </a:t>
              </a:r>
            </a:p>
            <a:p>
              <a:pPr marL="127000" indent="-127000">
                <a:spcAft>
                  <a:spcPts val="600"/>
                </a:spcAft>
                <a:buSzPct val="100000"/>
                <a:buChar char="•"/>
              </a:pPr>
              <a:r>
                <a:rPr lang="en-US" sz="900" dirty="0">
                  <a:latin typeface="Lato" panose="020F0502020204030203" pitchFamily="34" charset="0"/>
                  <a:ea typeface="Lato" panose="020F0502020204030203" pitchFamily="34" charset="0"/>
                  <a:cs typeface="Lato" panose="020F0502020204030203" pitchFamily="34" charset="0"/>
                </a:rPr>
                <a:t>The threat is particularly material because, as of the source date, Fenerbahçe, Real Madrid and Barcelona had yet to renew commercial </a:t>
              </a:r>
              <a:r>
                <a:rPr lang="en-US" sz="900" dirty="0" err="1">
                  <a:latin typeface="Lato" panose="020F0502020204030203" pitchFamily="34" charset="0"/>
                  <a:ea typeface="Lato" panose="020F0502020204030203" pitchFamily="34" charset="0"/>
                  <a:cs typeface="Lato" panose="020F0502020204030203" pitchFamily="34" charset="0"/>
                </a:rPr>
                <a:t>licences</a:t>
              </a:r>
              <a:r>
                <a:rPr lang="en-US" sz="900" dirty="0">
                  <a:latin typeface="Lato" panose="020F0502020204030203" pitchFamily="34" charset="0"/>
                  <a:ea typeface="Lato" panose="020F0502020204030203" pitchFamily="34" charset="0"/>
                  <a:cs typeface="Lato" panose="020F0502020204030203" pitchFamily="34" charset="0"/>
                </a:rPr>
                <a:t> expiring after 2025/26.</a:t>
              </a:r>
            </a:p>
          </p:txBody>
        </p:sp>
      </p:grpSp>
      <p:grpSp>
        <p:nvGrpSpPr>
          <p:cNvPr id="26" name="Group 25">
            <a:extLst>
              <a:ext uri="{FF2B5EF4-FFF2-40B4-BE49-F238E27FC236}">
                <a16:creationId xmlns:a16="http://schemas.microsoft.com/office/drawing/2014/main" id="{10A26DD2-5956-26A6-E98C-8B200888903E}"/>
              </a:ext>
            </a:extLst>
          </p:cNvPr>
          <p:cNvGrpSpPr/>
          <p:nvPr/>
        </p:nvGrpSpPr>
        <p:grpSpPr>
          <a:xfrm>
            <a:off x="8513080" y="638922"/>
            <a:ext cx="3570890" cy="6126480"/>
            <a:chOff x="9735160" y="1051560"/>
            <a:chExt cx="2084832" cy="5394960"/>
          </a:xfrm>
        </p:grpSpPr>
        <p:sp>
          <p:nvSpPr>
            <p:cNvPr id="16" name="Shape 14">
              <a:extLst>
                <a:ext uri="{FF2B5EF4-FFF2-40B4-BE49-F238E27FC236}">
                  <a16:creationId xmlns:a16="http://schemas.microsoft.com/office/drawing/2014/main" id="{D4D07587-8A85-51B4-52C9-A41C4A656FEA}"/>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92B53BD7-0211-153B-ED66-B38FA37E4BEF}"/>
                </a:ext>
              </a:extLst>
            </p:cNvPr>
            <p:cNvSpPr/>
            <p:nvPr/>
          </p:nvSpPr>
          <p:spPr>
            <a:xfrm>
              <a:off x="9735160"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563473E5-5004-DCE9-2921-CD1239CE8372}"/>
                </a:ext>
              </a:extLst>
            </p:cNvPr>
            <p:cNvSpPr/>
            <p:nvPr/>
          </p:nvSpPr>
          <p:spPr>
            <a:xfrm>
              <a:off x="9790563" y="1503865"/>
              <a:ext cx="1979282" cy="470916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700" dirty="0" err="1">
                  <a:latin typeface="Lato" panose="020F0502020204030203" pitchFamily="34" charset="0"/>
                  <a:ea typeface="Lato" panose="020F0502020204030203" pitchFamily="34" charset="0"/>
                  <a:cs typeface="Lato" panose="020F0502020204030203" pitchFamily="34" charset="0"/>
                </a:rPr>
                <a:t>EuroLeague</a:t>
              </a:r>
              <a:r>
                <a:rPr lang="en-US" sz="700" dirty="0">
                  <a:latin typeface="Lato" panose="020F0502020204030203" pitchFamily="34" charset="0"/>
                  <a:ea typeface="Lato" panose="020F0502020204030203" pitchFamily="34" charset="0"/>
                  <a:cs typeface="Lato" panose="020F0502020204030203" pitchFamily="34" charset="0"/>
                </a:rPr>
                <a:t> has strong pricing power in its core basketball markets. Greece alone contributes €12.5–14.5m/year, while the forthcoming Spanish contract reaches ~€13m. Together, those two markets could contribute roughly 40%+ of the €60m media/betting-rights base, highlighting both their importance and revenue concentration.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Rights momentum is positive: Spain rises from &lt;€9m to ~€13m, Israel from &gt;€6m to ≥€7.5m, Turkey from ~€6m to €6.5m, Italy from ~€2.25m to €3m and the Balkans from €1.4m to €3.5m. Unlike some mature football properties, </a:t>
              </a:r>
              <a:r>
                <a:rPr lang="en-US" sz="700" dirty="0" err="1">
                  <a:latin typeface="Lato" panose="020F0502020204030203" pitchFamily="34" charset="0"/>
                  <a:ea typeface="Lato" panose="020F0502020204030203" pitchFamily="34" charset="0"/>
                  <a:cs typeface="Lato" panose="020F0502020204030203" pitchFamily="34" charset="0"/>
                </a:rPr>
                <a:t>EuroLeague</a:t>
              </a:r>
              <a:r>
                <a:rPr lang="en-US" sz="700" dirty="0">
                  <a:latin typeface="Lato" panose="020F0502020204030203" pitchFamily="34" charset="0"/>
                  <a:ea typeface="Lato" panose="020F0502020204030203" pitchFamily="34" charset="0"/>
                  <a:cs typeface="Lato" panose="020F0502020204030203" pitchFamily="34" charset="0"/>
                </a:rPr>
                <a:t> still appears to have room for meaningful repricing in core territories.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However, </a:t>
              </a:r>
              <a:r>
                <a:rPr lang="en-US" sz="700" dirty="0" err="1">
                  <a:latin typeface="Lato" panose="020F0502020204030203" pitchFamily="34" charset="0"/>
                  <a:ea typeface="Lato" panose="020F0502020204030203" pitchFamily="34" charset="0"/>
                  <a:cs typeface="Lato" panose="020F0502020204030203" pitchFamily="34" charset="0"/>
                </a:rPr>
                <a:t>EuroLeague</a:t>
              </a:r>
              <a:r>
                <a:rPr lang="en-US" sz="700" dirty="0">
                  <a:latin typeface="Lato" panose="020F0502020204030203" pitchFamily="34" charset="0"/>
                  <a:ea typeface="Lato" panose="020F0502020204030203" pitchFamily="34" charset="0"/>
                  <a:cs typeface="Lato" panose="020F0502020204030203" pitchFamily="34" charset="0"/>
                </a:rPr>
                <a:t> remains small relative to the NBA commercially. &gt;€60m of annual media/betting rights compares with the NBA's multibillion-dollar rights ecosystem. This is simultaneously a competitive weakness and evidence of potential </a:t>
              </a:r>
              <a:r>
                <a:rPr lang="en-US" sz="700" dirty="0" err="1">
                  <a:latin typeface="Lato" panose="020F0502020204030203" pitchFamily="34" charset="0"/>
                  <a:ea typeface="Lato" panose="020F0502020204030203" pitchFamily="34" charset="0"/>
                  <a:cs typeface="Lato" panose="020F0502020204030203" pitchFamily="34" charset="0"/>
                </a:rPr>
                <a:t>monetisation</a:t>
              </a:r>
              <a:r>
                <a:rPr lang="en-US" sz="700" dirty="0">
                  <a:latin typeface="Lato" panose="020F0502020204030203" pitchFamily="34" charset="0"/>
                  <a:ea typeface="Lato" panose="020F0502020204030203" pitchFamily="34" charset="0"/>
                  <a:cs typeface="Lato" panose="020F0502020204030203" pitchFamily="34" charset="0"/>
                </a:rPr>
                <a:t> upside.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The IMG restructuring is strategically important. IMG previously held 45% of the commercial-rights entity, while the new commission model should give </a:t>
              </a:r>
              <a:r>
                <a:rPr lang="en-US" sz="700" dirty="0" err="1">
                  <a:latin typeface="Lato" panose="020F0502020204030203" pitchFamily="34" charset="0"/>
                  <a:ea typeface="Lato" panose="020F0502020204030203" pitchFamily="34" charset="0"/>
                  <a:cs typeface="Lato" panose="020F0502020204030203" pitchFamily="34" charset="0"/>
                </a:rPr>
                <a:t>Euroleague</a:t>
              </a:r>
              <a:r>
                <a:rPr lang="en-US" sz="700" dirty="0">
                  <a:latin typeface="Lato" panose="020F0502020204030203" pitchFamily="34" charset="0"/>
                  <a:ea typeface="Lato" panose="020F0502020204030203" pitchFamily="34" charset="0"/>
                  <a:cs typeface="Lato" panose="020F0502020204030203" pitchFamily="34" charset="0"/>
                </a:rPr>
                <a:t> greater control and potentially allow clubs to retain a larger portion of future commercial growth. That appears consistent with </a:t>
              </a:r>
              <a:r>
                <a:rPr lang="en-US" sz="700" dirty="0" err="1">
                  <a:latin typeface="Lato" panose="020F0502020204030203" pitchFamily="34" charset="0"/>
                  <a:ea typeface="Lato" panose="020F0502020204030203" pitchFamily="34" charset="0"/>
                  <a:cs typeface="Lato" panose="020F0502020204030203" pitchFamily="34" charset="0"/>
                </a:rPr>
                <a:t>Euroleague's</a:t>
              </a:r>
              <a:r>
                <a:rPr lang="en-US" sz="700" dirty="0">
                  <a:latin typeface="Lato" panose="020F0502020204030203" pitchFamily="34" charset="0"/>
                  <a:ea typeface="Lato" panose="020F0502020204030203" pitchFamily="34" charset="0"/>
                  <a:cs typeface="Lato" panose="020F0502020204030203" pitchFamily="34" charset="0"/>
                </a:rPr>
                <a:t> stated desire to regain control over commercial strategy.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DTC is becoming a meaningful strategic asset, but remains relatively small. &gt;115k implied </a:t>
              </a:r>
              <a:r>
                <a:rPr lang="en-US" sz="700" dirty="0" err="1">
                  <a:latin typeface="Lato" panose="020F0502020204030203" pitchFamily="34" charset="0"/>
                  <a:ea typeface="Lato" panose="020F0502020204030203" pitchFamily="34" charset="0"/>
                  <a:cs typeface="Lato" panose="020F0502020204030203" pitchFamily="34" charset="0"/>
                </a:rPr>
                <a:t>EuroLeague</a:t>
              </a:r>
              <a:r>
                <a:rPr lang="en-US" sz="700" dirty="0">
                  <a:latin typeface="Lato" panose="020F0502020204030203" pitchFamily="34" charset="0"/>
                  <a:ea typeface="Lato" panose="020F0502020204030203" pitchFamily="34" charset="0"/>
                  <a:cs typeface="Lato" panose="020F0502020204030203" pitchFamily="34" charset="0"/>
                </a:rPr>
                <a:t> TV subscribers provides direct consumer relationships and a distribution fallback in uncovered territories, but broadcaster agreements remain the dominant source of media revenue.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Expansion to Dubai shows a deliberate </a:t>
              </a:r>
              <a:r>
                <a:rPr lang="en-US" sz="700" dirty="0" err="1">
                  <a:latin typeface="Lato" panose="020F0502020204030203" pitchFamily="34" charset="0"/>
                  <a:ea typeface="Lato" panose="020F0502020204030203" pitchFamily="34" charset="0"/>
                  <a:cs typeface="Lato" panose="020F0502020204030203" pitchFamily="34" charset="0"/>
                </a:rPr>
                <a:t>internationalisation</a:t>
              </a:r>
              <a:r>
                <a:rPr lang="en-US" sz="700" dirty="0">
                  <a:latin typeface="Lato" panose="020F0502020204030203" pitchFamily="34" charset="0"/>
                  <a:ea typeface="Lato" panose="020F0502020204030203" pitchFamily="34" charset="0"/>
                  <a:cs typeface="Lato" panose="020F0502020204030203" pitchFamily="34" charset="0"/>
                </a:rPr>
                <a:t> strategy. Importantly, </a:t>
              </a:r>
              <a:r>
                <a:rPr lang="en-US" sz="700" dirty="0" err="1">
                  <a:latin typeface="Lato" panose="020F0502020204030203" pitchFamily="34" charset="0"/>
                  <a:ea typeface="Lato" panose="020F0502020204030203" pitchFamily="34" charset="0"/>
                  <a:cs typeface="Lato" panose="020F0502020204030203" pitchFamily="34" charset="0"/>
                </a:rPr>
                <a:t>Euroleague</a:t>
              </a:r>
              <a:r>
                <a:rPr lang="en-US" sz="700" dirty="0">
                  <a:latin typeface="Lato" panose="020F0502020204030203" pitchFamily="34" charset="0"/>
                  <a:ea typeface="Lato" panose="020F0502020204030203" pitchFamily="34" charset="0"/>
                  <a:cs typeface="Lato" panose="020F0502020204030203" pitchFamily="34" charset="0"/>
                </a:rPr>
                <a:t> accepted a relatively modest MENA rights fee in exchange for broad FTA distribution, suggesting it is </a:t>
              </a:r>
              <a:r>
                <a:rPr lang="en-US" sz="700" dirty="0" err="1">
                  <a:latin typeface="Lato" panose="020F0502020204030203" pitchFamily="34" charset="0"/>
                  <a:ea typeface="Lato" panose="020F0502020204030203" pitchFamily="34" charset="0"/>
                  <a:cs typeface="Lato" panose="020F0502020204030203" pitchFamily="34" charset="0"/>
                </a:rPr>
                <a:t>prioritising</a:t>
              </a:r>
              <a:r>
                <a:rPr lang="en-US" sz="700" dirty="0">
                  <a:latin typeface="Lato" panose="020F0502020204030203" pitchFamily="34" charset="0"/>
                  <a:ea typeface="Lato" panose="020F0502020204030203" pitchFamily="34" charset="0"/>
                  <a:cs typeface="Lato" panose="020F0502020204030203" pitchFamily="34" charset="0"/>
                </a:rPr>
                <a:t> audience development before </a:t>
              </a:r>
              <a:r>
                <a:rPr lang="en-US" sz="700" dirty="0" err="1">
                  <a:latin typeface="Lato" panose="020F0502020204030203" pitchFamily="34" charset="0"/>
                  <a:ea typeface="Lato" panose="020F0502020204030203" pitchFamily="34" charset="0"/>
                  <a:cs typeface="Lato" panose="020F0502020204030203" pitchFamily="34" charset="0"/>
                </a:rPr>
                <a:t>maximising</a:t>
              </a:r>
              <a:r>
                <a:rPr lang="en-US" sz="700" dirty="0">
                  <a:latin typeface="Lato" panose="020F0502020204030203" pitchFamily="34" charset="0"/>
                  <a:ea typeface="Lato" panose="020F0502020204030203" pitchFamily="34" charset="0"/>
                  <a:cs typeface="Lato" panose="020F0502020204030203" pitchFamily="34" charset="0"/>
                </a:rPr>
                <a:t> short-term </a:t>
              </a:r>
              <a:r>
                <a:rPr lang="en-US" sz="700" dirty="0" err="1">
                  <a:latin typeface="Lato" panose="020F0502020204030203" pitchFamily="34" charset="0"/>
                  <a:ea typeface="Lato" panose="020F0502020204030203" pitchFamily="34" charset="0"/>
                  <a:cs typeface="Lato" panose="020F0502020204030203" pitchFamily="34" charset="0"/>
                </a:rPr>
                <a:t>monetisation</a:t>
              </a:r>
              <a:r>
                <a:rPr lang="en-US" sz="700" dirty="0">
                  <a:latin typeface="Lato" panose="020F0502020204030203" pitchFamily="34" charset="0"/>
                  <a:ea typeface="Lato" panose="020F0502020204030203" pitchFamily="34" charset="0"/>
                  <a:cs typeface="Lato" panose="020F0502020204030203" pitchFamily="34" charset="0"/>
                </a:rPr>
                <a:t>.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NBA Europe is the central strategic risk. Unlike the Basketball Champions League, an NBA-backed competitor could bring materially greater capital, global media reach, sponsorship capabilities and brand recognition. The biggest danger is therefore not simply audience fragmentation but loss of flagship clubs, which would directly weaken </a:t>
              </a:r>
              <a:r>
                <a:rPr lang="en-US" sz="700" dirty="0" err="1">
                  <a:latin typeface="Lato" panose="020F0502020204030203" pitchFamily="34" charset="0"/>
                  <a:ea typeface="Lato" panose="020F0502020204030203" pitchFamily="34" charset="0"/>
                  <a:cs typeface="Lato" panose="020F0502020204030203" pitchFamily="34" charset="0"/>
                </a:rPr>
                <a:t>EuroLeague's</a:t>
              </a:r>
              <a:r>
                <a:rPr lang="en-US" sz="700" dirty="0">
                  <a:latin typeface="Lato" panose="020F0502020204030203" pitchFamily="34" charset="0"/>
                  <a:ea typeface="Lato" panose="020F0502020204030203" pitchFamily="34" charset="0"/>
                  <a:cs typeface="Lato" panose="020F0502020204030203" pitchFamily="34" charset="0"/>
                </a:rPr>
                <a:t> rights proposition.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Club commitment is therefore the key variable. Real Madrid, Barcelona and Fenerbahçe are among the competition's strongest brands; uncertainty around their </a:t>
              </a:r>
              <a:r>
                <a:rPr lang="en-US" sz="700" dirty="0" err="1">
                  <a:latin typeface="Lato" panose="020F0502020204030203" pitchFamily="34" charset="0"/>
                  <a:ea typeface="Lato" panose="020F0502020204030203" pitchFamily="34" charset="0"/>
                  <a:cs typeface="Lato" panose="020F0502020204030203" pitchFamily="34" charset="0"/>
                </a:rPr>
                <a:t>licences</a:t>
              </a:r>
              <a:r>
                <a:rPr lang="en-US" sz="700" dirty="0">
                  <a:latin typeface="Lato" panose="020F0502020204030203" pitchFamily="34" charset="0"/>
                  <a:ea typeface="Lato" panose="020F0502020204030203" pitchFamily="34" charset="0"/>
                  <a:cs typeface="Lato" panose="020F0502020204030203" pitchFamily="34" charset="0"/>
                </a:rPr>
                <a:t> creates negotiating leverage for the clubs precisely as NBA Europe emerges.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Overall: </a:t>
              </a:r>
              <a:r>
                <a:rPr lang="en-US" sz="700" dirty="0" err="1">
                  <a:latin typeface="Lato" panose="020F0502020204030203" pitchFamily="34" charset="0"/>
                  <a:ea typeface="Lato" panose="020F0502020204030203" pitchFamily="34" charset="0"/>
                  <a:cs typeface="Lato" panose="020F0502020204030203" pitchFamily="34" charset="0"/>
                </a:rPr>
                <a:t>EuroLeague</a:t>
              </a:r>
              <a:r>
                <a:rPr lang="en-US" sz="700" dirty="0">
                  <a:latin typeface="Lato" panose="020F0502020204030203" pitchFamily="34" charset="0"/>
                  <a:ea typeface="Lato" panose="020F0502020204030203" pitchFamily="34" charset="0"/>
                  <a:cs typeface="Lato" panose="020F0502020204030203" pitchFamily="34" charset="0"/>
                </a:rPr>
                <a:t> is commercially healthier than its headline scale might suggest: rights values are rising, DTC is growing, IMG economics are being restructured and geographic expansion is underway. However, the 2026–28 period is potentially transformational. If </a:t>
              </a:r>
              <a:r>
                <a:rPr lang="en-US" sz="700" dirty="0" err="1">
                  <a:latin typeface="Lato" panose="020F0502020204030203" pitchFamily="34" charset="0"/>
                  <a:ea typeface="Lato" panose="020F0502020204030203" pitchFamily="34" charset="0"/>
                  <a:cs typeface="Lato" panose="020F0502020204030203" pitchFamily="34" charset="0"/>
                </a:rPr>
                <a:t>EuroLeague</a:t>
              </a:r>
              <a:r>
                <a:rPr lang="en-US" sz="700" dirty="0">
                  <a:latin typeface="Lato" panose="020F0502020204030203" pitchFamily="34" charset="0"/>
                  <a:ea typeface="Lato" panose="020F0502020204030203" pitchFamily="34" charset="0"/>
                  <a:cs typeface="Lato" panose="020F0502020204030203" pitchFamily="34" charset="0"/>
                </a:rPr>
                <a:t> retains its leading clubs, NBA Europe's entry could stimulate competition and accelerate </a:t>
              </a:r>
              <a:r>
                <a:rPr lang="en-US" sz="700" dirty="0" err="1">
                  <a:latin typeface="Lato" panose="020F0502020204030203" pitchFamily="34" charset="0"/>
                  <a:ea typeface="Lato" panose="020F0502020204030203" pitchFamily="34" charset="0"/>
                  <a:cs typeface="Lato" panose="020F0502020204030203" pitchFamily="34" charset="0"/>
                </a:rPr>
                <a:t>monetisation</a:t>
              </a:r>
              <a:r>
                <a:rPr lang="en-US" sz="700" dirty="0">
                  <a:latin typeface="Lato" panose="020F0502020204030203" pitchFamily="34" charset="0"/>
                  <a:ea typeface="Lato" panose="020F0502020204030203" pitchFamily="34" charset="0"/>
                  <a:cs typeface="Lato" panose="020F0502020204030203" pitchFamily="34" charset="0"/>
                </a:rPr>
                <a:t>; if major clubs defect, the resulting dilution of sporting quality and media value could materially challenge the existing model.</a:t>
              </a:r>
            </a:p>
          </p:txBody>
        </p:sp>
      </p:grpSp>
    </p:spTree>
    <p:extLst>
      <p:ext uri="{BB962C8B-B14F-4D97-AF65-F5344CB8AC3E}">
        <p14:creationId xmlns:p14="http://schemas.microsoft.com/office/powerpoint/2010/main" val="3042371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BCD2D99-75B1-5400-645C-BE61C925E6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C11EA8-677F-0D9D-C502-24B94052DC01}"/>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F397E053-9ECB-AC73-837A-55485A31788D}"/>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FORMULA 1</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10D54378-8F51-1894-2824-69D641A0AF98}"/>
              </a:ext>
            </a:extLst>
          </p:cNvPr>
          <p:cNvGrpSpPr/>
          <p:nvPr/>
        </p:nvGrpSpPr>
        <p:grpSpPr>
          <a:xfrm>
            <a:off x="272143" y="731520"/>
            <a:ext cx="1037553" cy="5833872"/>
            <a:chOff x="371704" y="1051560"/>
            <a:chExt cx="2084832" cy="5394960"/>
          </a:xfrm>
        </p:grpSpPr>
        <p:sp>
          <p:nvSpPr>
            <p:cNvPr id="4" name="Shape 2">
              <a:extLst>
                <a:ext uri="{FF2B5EF4-FFF2-40B4-BE49-F238E27FC236}">
                  <a16:creationId xmlns:a16="http://schemas.microsoft.com/office/drawing/2014/main" id="{05930095-0D1E-6229-59D1-9010458C5B21}"/>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28C25390-5994-FA9D-1B7D-4A34C7D75F26}"/>
                </a:ext>
              </a:extLst>
            </p:cNvPr>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16DE835D-E7F3-D519-1D82-A313D5DF5D82}"/>
                </a:ext>
              </a:extLst>
            </p:cNvPr>
            <p:cNvSpPr/>
            <p:nvPr/>
          </p:nvSpPr>
          <p:spPr>
            <a:xfrm>
              <a:off x="508864" y="1498318"/>
              <a:ext cx="1810512" cy="4709160"/>
            </a:xfrm>
            <a:prstGeom prst="rect">
              <a:avLst/>
            </a:prstGeom>
            <a:noFill/>
            <a:ln/>
          </p:spPr>
          <p:txBody>
            <a:bodyPr wrap="square" lIns="0" tIns="0" rIns="0" bIns="0" rtlCol="0" anchor="t"/>
            <a:lstStyle/>
            <a:p>
              <a:pPr marL="171450" indent="-171450" algn="l">
                <a:lnSpc>
                  <a:spcPct val="105000"/>
                </a:lnSpc>
                <a:spcAft>
                  <a:spcPts val="600"/>
                </a:spcAft>
                <a:buSzPct val="100000"/>
                <a:buFont typeface="Arial" panose="020B0604020202020204" pitchFamily="34" charset="0"/>
                <a:buChar char="•"/>
              </a:pPr>
              <a:endParaRPr lang="en-US" sz="7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71450" indent="-171450" algn="l">
                <a:lnSpc>
                  <a:spcPct val="105000"/>
                </a:lnSpc>
                <a:spcAft>
                  <a:spcPts val="600"/>
                </a:spcAft>
                <a:buSzPct val="100000"/>
                <a:buFont typeface="Arial" panose="020B0604020202020204" pitchFamily="34" charset="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Sport: motorsport </a:t>
              </a:r>
            </a:p>
            <a:p>
              <a:pPr marL="171450" indent="-171450" algn="l">
                <a:lnSpc>
                  <a:spcPct val="105000"/>
                </a:lnSpc>
                <a:spcAft>
                  <a:spcPts val="600"/>
                </a:spcAft>
                <a:buSzPct val="100000"/>
                <a:buFont typeface="Arial" panose="020B0604020202020204" pitchFamily="34" charset="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Championship: FIA Formula One World Championship </a:t>
              </a:r>
            </a:p>
            <a:p>
              <a:pPr marL="171450" indent="-171450" algn="l">
                <a:lnSpc>
                  <a:spcPct val="105000"/>
                </a:lnSpc>
                <a:spcAft>
                  <a:spcPts val="600"/>
                </a:spcAft>
                <a:buSzPct val="100000"/>
                <a:buFont typeface="Arial" panose="020B0604020202020204" pitchFamily="34" charset="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Commercial rights holder: Formula One Group / Liberty Media; Liberty acquired the business in 2017 </a:t>
              </a:r>
            </a:p>
            <a:p>
              <a:pPr marL="171450" indent="-171450" algn="l">
                <a:lnSpc>
                  <a:spcPct val="105000"/>
                </a:lnSpc>
                <a:spcAft>
                  <a:spcPts val="600"/>
                </a:spcAft>
                <a:buSzPct val="100000"/>
                <a:buFont typeface="Arial" panose="020B0604020202020204" pitchFamily="34" charset="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2025 season: 24 Grands Prix across five continents; 10 teams / 20 race seats </a:t>
              </a:r>
            </a:p>
            <a:p>
              <a:pPr marL="171450" indent="-171450" algn="l">
                <a:lnSpc>
                  <a:spcPct val="105000"/>
                </a:lnSpc>
                <a:spcAft>
                  <a:spcPts val="600"/>
                </a:spcAft>
                <a:buSzPct val="100000"/>
                <a:buFont typeface="Arial" panose="020B0604020202020204" pitchFamily="34" charset="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2025 total F1 revenue: $3.87bn, +14% YoY; media rights accounted for 31.3%, race promotion 26.7%, sponsorship 21.7%, and other revenue 20.3%. </a:t>
              </a:r>
            </a:p>
            <a:p>
              <a:pPr marL="171450" indent="-171450" algn="l">
                <a:lnSpc>
                  <a:spcPct val="105000"/>
                </a:lnSpc>
                <a:spcAft>
                  <a:spcPts val="600"/>
                </a:spcAft>
                <a:buSzPct val="100000"/>
                <a:buFont typeface="Arial" panose="020B0604020202020204" pitchFamily="34" charset="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2025 media-rights revenue reached a record ~$1.2bn, up from below $1bn only a few years earlier. </a:t>
              </a:r>
            </a:p>
            <a:p>
              <a:pPr marL="171450" indent="-171450" algn="l">
                <a:lnSpc>
                  <a:spcPct val="105000"/>
                </a:lnSpc>
                <a:spcAft>
                  <a:spcPts val="600"/>
                </a:spcAft>
                <a:buSzPct val="100000"/>
                <a:buFont typeface="Arial" panose="020B0604020202020204" pitchFamily="34" charset="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F1 also directly operates F1 TV Access, Pro and Premium, creating a meaningful DTC revenue stream.</a:t>
              </a:r>
            </a:p>
          </p:txBody>
        </p:sp>
      </p:grpSp>
      <p:grpSp>
        <p:nvGrpSpPr>
          <p:cNvPr id="22" name="Group 21">
            <a:extLst>
              <a:ext uri="{FF2B5EF4-FFF2-40B4-BE49-F238E27FC236}">
                <a16:creationId xmlns:a16="http://schemas.microsoft.com/office/drawing/2014/main" id="{C6388724-AFB8-C331-6AF3-0D1E80548FDC}"/>
              </a:ext>
            </a:extLst>
          </p:cNvPr>
          <p:cNvGrpSpPr/>
          <p:nvPr/>
        </p:nvGrpSpPr>
        <p:grpSpPr>
          <a:xfrm>
            <a:off x="1364244" y="731520"/>
            <a:ext cx="1796285" cy="5833872"/>
            <a:chOff x="2712568" y="1051560"/>
            <a:chExt cx="2084832" cy="5394960"/>
          </a:xfrm>
        </p:grpSpPr>
        <p:sp>
          <p:nvSpPr>
            <p:cNvPr id="7" name="Shape 5">
              <a:extLst>
                <a:ext uri="{FF2B5EF4-FFF2-40B4-BE49-F238E27FC236}">
                  <a16:creationId xmlns:a16="http://schemas.microsoft.com/office/drawing/2014/main" id="{288A0156-4757-D667-DC58-60276075C1AD}"/>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83ECDB98-D6F0-6858-A1E7-2468030A9F17}"/>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BEB9B8D6-FF2B-DFBB-CF03-ED43E783B0A5}"/>
                </a:ext>
              </a:extLst>
            </p:cNvPr>
            <p:cNvSpPr/>
            <p:nvPr/>
          </p:nvSpPr>
          <p:spPr>
            <a:xfrm>
              <a:off x="2849728" y="1600200"/>
              <a:ext cx="1810512" cy="47091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Estimated global fanbase of 827m in 2025, +12% YoY and +63% vs. 2018.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43% of fans are under 35; 57% of new fans in 2025 were under 35.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Female share reached 42%, vs. 37% in 2018; 48% of new fans in 2025 were female.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2025 live viewership increased 21% YoY.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Record 6.75m cumulative race attendance in 2025, +4% YoY; 19 of 24 events sold out.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US fanbase reached ~52m, while China reached &gt;221m claimed fans; US interest grew 11% YoY and China 39%. </a:t>
              </a:r>
            </a:p>
            <a:p>
              <a:pPr marL="171450" indent="-1714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Drive to Survive has been a major catalyst for attracting younger/female and particularly US audiences, although viewing of the series has moderated from its earlier peak. </a:t>
              </a:r>
            </a:p>
          </p:txBody>
        </p:sp>
      </p:grpSp>
      <p:grpSp>
        <p:nvGrpSpPr>
          <p:cNvPr id="23" name="Group 22">
            <a:extLst>
              <a:ext uri="{FF2B5EF4-FFF2-40B4-BE49-F238E27FC236}">
                <a16:creationId xmlns:a16="http://schemas.microsoft.com/office/drawing/2014/main" id="{8DF008ED-C32E-849A-21CE-42DDC72967B2}"/>
              </a:ext>
            </a:extLst>
          </p:cNvPr>
          <p:cNvGrpSpPr/>
          <p:nvPr/>
        </p:nvGrpSpPr>
        <p:grpSpPr>
          <a:xfrm>
            <a:off x="3215077" y="731520"/>
            <a:ext cx="2825288" cy="5833872"/>
            <a:chOff x="5053432" y="1051560"/>
            <a:chExt cx="2084832" cy="5394960"/>
          </a:xfrm>
        </p:grpSpPr>
        <p:sp>
          <p:nvSpPr>
            <p:cNvPr id="10" name="Shape 8">
              <a:extLst>
                <a:ext uri="{FF2B5EF4-FFF2-40B4-BE49-F238E27FC236}">
                  <a16:creationId xmlns:a16="http://schemas.microsoft.com/office/drawing/2014/main" id="{5DE7B97B-9C35-31A5-AA5C-CD38C25F12EC}"/>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AE8D50A0-F1C1-BD4B-3B39-7272AC550748}"/>
                </a:ext>
              </a:extLst>
            </p:cNvPr>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9EE1DCFB-6316-12A4-9877-7047056D8B11}"/>
                </a:ext>
              </a:extLst>
            </p:cNvPr>
            <p:cNvSpPr/>
            <p:nvPr/>
          </p:nvSpPr>
          <p:spPr>
            <a:xfrm>
              <a:off x="5190592" y="1630762"/>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Global media rights: record ~$1.2bn in 2025, representing just under one-third of F1 revenue; media-rights CAGR has exceeded 10% since 2018.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UK &amp; Ireland — Sky Sports: £190–200m/year (~$254–267m), 2025–29; F1's largest individual rights market. Sky holds exclusive live rights, with Channel 4 sublicensing the British GP and highlights.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USA — Apple: &gt;$150m/year average, 2026–30; ~76% uplift vs. ESPN, although the package also incorporates F1 TV Premium, estimated at $30–40m/year.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Germany — Sky Deutschland: ~$105m/year, 2025–29; exclusive Germany + non-exclusive Switzerland/Austria.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Italy — Sky Italia: ~$100m/year, 2023–27, vs. ~$85m previously.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France — Canal+: ~€85m/year, 2025–29, vs. €65m in 2023–24.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Spain — DAZN: ~€60m/year, 2024–26, vs. Telefónica's ~€55m/year previously.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Nordics — Viaplay: ~€50m/year, 2025–29; down from ~$65m/year previously, the notable exception to the general rights-fee growth trend.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Netherlands — Viaplay: just under €50m/year, 2025–29, vs. €34m previously and &lt;€10m in 2019–21; increase strongly associated with Max Verstappen's popularity.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MENA + Turkey — beIN: ~$55m/year, 2024–33, vs. ~$36m/year under previous MBC deal.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Japan — Fuji TV: ~$40m/year, 2026–30, vs. &lt;~$30m/year across previous Fuji/DAZN packages.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Australia — Foxtel: ~$32m/year under the 2023–26 cycle; renewed on a multi-year basis following record 2025 viewing.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Southeast Asia — beIN: previous package worth $15–18m across 10 territories for 2023–25; renewed through 2030.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Austria — </a:t>
              </a:r>
              <a:r>
                <a:rPr lang="en-US" altLang="en-US" sz="700" dirty="0" err="1">
                  <a:latin typeface="Lato" panose="020F0502020204030203" pitchFamily="34" charset="0"/>
                  <a:ea typeface="Lato" panose="020F0502020204030203" pitchFamily="34" charset="0"/>
                  <a:cs typeface="Lato" panose="020F0502020204030203" pitchFamily="34" charset="0"/>
                </a:rPr>
                <a:t>ServusTV</a:t>
              </a:r>
              <a:r>
                <a:rPr lang="en-US" altLang="en-US" sz="700" dirty="0">
                  <a:latin typeface="Lato" panose="020F0502020204030203" pitchFamily="34" charset="0"/>
                  <a:ea typeface="Lato" panose="020F0502020204030203" pitchFamily="34" charset="0"/>
                  <a:cs typeface="Lato" panose="020F0502020204030203" pitchFamily="34" charset="0"/>
                </a:rPr>
                <a:t>: ~$16.5m/year, 2024–26, alongside ORF and Sky coverage.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Brazil — Globo: close to $10m/year, 2026–28, below </a:t>
              </a:r>
              <a:r>
                <a:rPr lang="en-US" altLang="en-US" sz="700" dirty="0" err="1">
                  <a:latin typeface="Lato" panose="020F0502020204030203" pitchFamily="34" charset="0"/>
                  <a:ea typeface="Lato" panose="020F0502020204030203" pitchFamily="34" charset="0"/>
                  <a:cs typeface="Lato" panose="020F0502020204030203" pitchFamily="34" charset="0"/>
                </a:rPr>
                <a:t>Bandeirantes</a:t>
              </a:r>
              <a:r>
                <a:rPr lang="en-US" altLang="en-US" sz="700" dirty="0">
                  <a:latin typeface="Lato" panose="020F0502020204030203" pitchFamily="34" charset="0"/>
                  <a:ea typeface="Lato" panose="020F0502020204030203" pitchFamily="34" charset="0"/>
                  <a:cs typeface="Lato" panose="020F0502020204030203" pitchFamily="34" charset="0"/>
                </a:rPr>
                <a:t>' ~$15m but offering materially greater reach.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Portugal — DAZN: just under €2.5m/year, 2025–27.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China: Tencent/CCTV/regional broadcasters collectively worth only ~$1m/year, despite China being one of F1's largest fan markets. </a:t>
              </a:r>
            </a:p>
          </p:txBody>
        </p:sp>
      </p:grpSp>
      <p:grpSp>
        <p:nvGrpSpPr>
          <p:cNvPr id="24" name="Group 23">
            <a:extLst>
              <a:ext uri="{FF2B5EF4-FFF2-40B4-BE49-F238E27FC236}">
                <a16:creationId xmlns:a16="http://schemas.microsoft.com/office/drawing/2014/main" id="{0E57A2FE-50AE-AD3C-9229-14F4F6053104}"/>
              </a:ext>
            </a:extLst>
          </p:cNvPr>
          <p:cNvGrpSpPr/>
          <p:nvPr/>
        </p:nvGrpSpPr>
        <p:grpSpPr>
          <a:xfrm>
            <a:off x="6121187" y="731520"/>
            <a:ext cx="2262649" cy="5833872"/>
            <a:chOff x="7394296" y="1051560"/>
            <a:chExt cx="2203704" cy="5394960"/>
          </a:xfrm>
        </p:grpSpPr>
        <p:sp>
          <p:nvSpPr>
            <p:cNvPr id="13" name="Shape 11">
              <a:extLst>
                <a:ext uri="{FF2B5EF4-FFF2-40B4-BE49-F238E27FC236}">
                  <a16:creationId xmlns:a16="http://schemas.microsoft.com/office/drawing/2014/main" id="{A00B3BB9-9A80-0E5E-7C9D-D20148FFB867}"/>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F66E052D-DA3C-3B68-F484-B4FF662DDF1C}"/>
                </a:ext>
              </a:extLst>
            </p:cNvPr>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EFCDDA81-15AE-6637-7A96-8AE1D7DBC9A4}"/>
                </a:ext>
              </a:extLst>
            </p:cNvPr>
            <p:cNvSpPr/>
            <p:nvPr/>
          </p:nvSpPr>
          <p:spPr>
            <a:xfrm>
              <a:off x="7464281" y="1600200"/>
              <a:ext cx="2069932" cy="47091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800" dirty="0">
                  <a:latin typeface="Lato" panose="020F0502020204030203" pitchFamily="34" charset="0"/>
                  <a:ea typeface="Lato" panose="020F0502020204030203" pitchFamily="34" charset="0"/>
                  <a:cs typeface="Lato" panose="020F0502020204030203" pitchFamily="34" charset="0"/>
                </a:rPr>
                <a:t>Apple transformed the US rights market: from 2026, Apple replaces ESPN under a five-year deal averaging &gt;$150m/year, making the US F1's second-most valuable media market after the UK. </a:t>
              </a:r>
            </a:p>
            <a:p>
              <a:pPr marL="171450" indent="-171450">
                <a:buFont typeface="Arial" panose="020B0604020202020204" pitchFamily="34" charset="0"/>
                <a:buChar char="•"/>
              </a:pPr>
              <a:r>
                <a:rPr lang="en-US" sz="800" dirty="0">
                  <a:latin typeface="Lato" panose="020F0502020204030203" pitchFamily="34" charset="0"/>
                  <a:ea typeface="Lato" panose="020F0502020204030203" pitchFamily="34" charset="0"/>
                  <a:cs typeface="Lato" panose="020F0502020204030203" pitchFamily="34" charset="0"/>
                </a:rPr>
                <a:t>Apple is pursuing an unusually integrated distribution strategy across Apple TV, News, Maps, Music, Sports and Fitness+, with selected races outside the paywall and certain Grands Prix distributed to US cinemas. </a:t>
              </a:r>
            </a:p>
            <a:p>
              <a:pPr marL="171450" indent="-171450">
                <a:buFont typeface="Arial" panose="020B0604020202020204" pitchFamily="34" charset="0"/>
                <a:buChar char="•"/>
              </a:pPr>
              <a:r>
                <a:rPr lang="en-US" sz="800" dirty="0">
                  <a:latin typeface="Lato" panose="020F0502020204030203" pitchFamily="34" charset="0"/>
                  <a:ea typeface="Lato" panose="020F0502020204030203" pitchFamily="34" charset="0"/>
                  <a:cs typeface="Lato" panose="020F0502020204030203" pitchFamily="34" charset="0"/>
                </a:rPr>
                <a:t>F1 TV has emerged as a meaningful standalone business: subscription turnover grew at &gt;70% CAGR after launching in 2018 and reached $152.8m in 2024, roughly equivalent to the annual value of Apple's new US agreement. </a:t>
              </a:r>
            </a:p>
            <a:p>
              <a:pPr marL="171450" indent="-171450">
                <a:buFont typeface="Arial" panose="020B0604020202020204" pitchFamily="34" charset="0"/>
                <a:buChar char="•"/>
              </a:pPr>
              <a:r>
                <a:rPr lang="en-US" sz="800" dirty="0">
                  <a:latin typeface="Lato" panose="020F0502020204030203" pitchFamily="34" charset="0"/>
                  <a:ea typeface="Lato" panose="020F0502020204030203" pitchFamily="34" charset="0"/>
                  <a:cs typeface="Lato" panose="020F0502020204030203" pitchFamily="34" charset="0"/>
                </a:rPr>
                <a:t>2025 was another record commercial year: total F1 revenue reached $3.87bn (+14%), while operating income increased 28% to $632m and adjusted OIBDA rose 20% to $946m. </a:t>
              </a:r>
            </a:p>
            <a:p>
              <a:pPr marL="171450" indent="-171450">
                <a:buFont typeface="Arial" panose="020B0604020202020204" pitchFamily="34" charset="0"/>
                <a:buChar char="•"/>
              </a:pPr>
              <a:r>
                <a:rPr lang="en-US" sz="800" dirty="0">
                  <a:latin typeface="Lato" panose="020F0502020204030203" pitchFamily="34" charset="0"/>
                  <a:ea typeface="Lato" panose="020F0502020204030203" pitchFamily="34" charset="0"/>
                  <a:cs typeface="Lato" panose="020F0502020204030203" pitchFamily="34" charset="0"/>
                </a:rPr>
                <a:t>Sponsorship is growing faster in the revenue mix: sponsorship represented 21.7% of 2025 revenue, up from 18.0% in 2023, supported by new partners and contractual uplifts. </a:t>
              </a:r>
            </a:p>
            <a:p>
              <a:pPr marL="171450" indent="-171450">
                <a:buFont typeface="Arial" panose="020B0604020202020204" pitchFamily="34" charset="0"/>
                <a:buChar char="•"/>
              </a:pPr>
              <a:r>
                <a:rPr lang="en-US" sz="800" dirty="0">
                  <a:latin typeface="Lato" panose="020F0502020204030203" pitchFamily="34" charset="0"/>
                  <a:ea typeface="Lato" panose="020F0502020204030203" pitchFamily="34" charset="0"/>
                  <a:cs typeface="Lato" panose="020F0502020204030203" pitchFamily="34" charset="0"/>
                </a:rPr>
                <a:t>2026 calendar disruption: the season is expected to contain 22 races versus 24 in 2025, following the non-holding of the Bahrain and Saudi Arabian Grands Prix; nevertheless, Q1 primary revenue increased due to an additional race in the quarter and contractual fee increases. </a:t>
              </a:r>
            </a:p>
            <a:p>
              <a:pPr marL="171450" indent="-171450">
                <a:buFont typeface="Arial" panose="020B0604020202020204" pitchFamily="34" charset="0"/>
                <a:buChar char="•"/>
              </a:pPr>
              <a:r>
                <a:rPr lang="en-US" sz="800" dirty="0">
                  <a:latin typeface="Lato" panose="020F0502020204030203" pitchFamily="34" charset="0"/>
                  <a:ea typeface="Lato" panose="020F0502020204030203" pitchFamily="34" charset="0"/>
                  <a:cs typeface="Lato" panose="020F0502020204030203" pitchFamily="34" charset="0"/>
                </a:rPr>
                <a:t>Portugal returns in 2027–28, while Barcelona-Catalunya has been extended through 2032 on rotation with Belgium. </a:t>
              </a:r>
            </a:p>
            <a:p>
              <a:pPr marL="171450" indent="-171450">
                <a:buFont typeface="Arial" panose="020B0604020202020204" pitchFamily="34" charset="0"/>
                <a:buChar char="•"/>
              </a:pPr>
              <a:r>
                <a:rPr lang="en-US" sz="800" dirty="0">
                  <a:latin typeface="Lato" panose="020F0502020204030203" pitchFamily="34" charset="0"/>
                  <a:ea typeface="Lato" panose="020F0502020204030203" pitchFamily="34" charset="0"/>
                  <a:cs typeface="Lato" panose="020F0502020204030203" pitchFamily="34" charset="0"/>
                </a:rPr>
                <a:t>The Dutch GP will disappear after 2026, despite the Netherlands becoming one of F1's highest-value European TV territories during the Verstappen era. </a:t>
              </a:r>
            </a:p>
          </p:txBody>
        </p:sp>
      </p:grpSp>
      <p:grpSp>
        <p:nvGrpSpPr>
          <p:cNvPr id="26" name="Group 25">
            <a:extLst>
              <a:ext uri="{FF2B5EF4-FFF2-40B4-BE49-F238E27FC236}">
                <a16:creationId xmlns:a16="http://schemas.microsoft.com/office/drawing/2014/main" id="{02BD3639-4E11-270D-9E04-87247E8C8BB1}"/>
              </a:ext>
            </a:extLst>
          </p:cNvPr>
          <p:cNvGrpSpPr/>
          <p:nvPr/>
        </p:nvGrpSpPr>
        <p:grpSpPr>
          <a:xfrm>
            <a:off x="8464658" y="731520"/>
            <a:ext cx="3464191" cy="5833872"/>
            <a:chOff x="9735160" y="1051560"/>
            <a:chExt cx="2084832" cy="5394960"/>
          </a:xfrm>
        </p:grpSpPr>
        <p:sp>
          <p:nvSpPr>
            <p:cNvPr id="16" name="Shape 14">
              <a:extLst>
                <a:ext uri="{FF2B5EF4-FFF2-40B4-BE49-F238E27FC236}">
                  <a16:creationId xmlns:a16="http://schemas.microsoft.com/office/drawing/2014/main" id="{201BDC8A-171B-853F-583F-E0F6B634ABED}"/>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51E40639-7C50-40BB-3EAC-1365A0B46EA6}"/>
                </a:ext>
              </a:extLst>
            </p:cNvPr>
            <p:cNvSpPr/>
            <p:nvPr/>
          </p:nvSpPr>
          <p:spPr>
            <a:xfrm>
              <a:off x="9735160"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A97CFD0D-CF4D-0149-B18C-D0E490717A88}"/>
                </a:ext>
              </a:extLst>
            </p:cNvPr>
            <p:cNvSpPr/>
            <p:nvPr/>
          </p:nvSpPr>
          <p:spPr>
            <a:xfrm>
              <a:off x="9872320" y="1590011"/>
              <a:ext cx="1810512" cy="470916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F1 has undergone one of the strongest media-rights </a:t>
              </a:r>
              <a:r>
                <a:rPr lang="en-US" sz="700" dirty="0" err="1">
                  <a:latin typeface="Lato" panose="020F0502020204030203" pitchFamily="34" charset="0"/>
                  <a:ea typeface="Lato" panose="020F0502020204030203" pitchFamily="34" charset="0"/>
                  <a:cs typeface="Lato" panose="020F0502020204030203" pitchFamily="34" charset="0"/>
                </a:rPr>
                <a:t>repricings</a:t>
              </a:r>
              <a:r>
                <a:rPr lang="en-US" sz="700" dirty="0">
                  <a:latin typeface="Lato" panose="020F0502020204030203" pitchFamily="34" charset="0"/>
                  <a:ea typeface="Lato" panose="020F0502020204030203" pitchFamily="34" charset="0"/>
                  <a:cs typeface="Lato" panose="020F0502020204030203" pitchFamily="34" charset="0"/>
                </a:rPr>
                <a:t> in global sport. Media revenue has grown at &gt;10% CAGR since 2018 to ~$1.2bn, with F1 increasing fees in almost every major market at the latest renewal.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UK remains the economic anchor, contributing roughly $250m+ annually, but the US has become the key growth story: rights value moved from &lt;$5m/year only a few years ago to &gt;$150m under Apple.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Unlike the NBA's increasingly globalized rights packages, F1 still </a:t>
              </a:r>
              <a:r>
                <a:rPr lang="en-US" sz="700" dirty="0" err="1">
                  <a:latin typeface="Lato" panose="020F0502020204030203" pitchFamily="34" charset="0"/>
                  <a:ea typeface="Lato" panose="020F0502020204030203" pitchFamily="34" charset="0"/>
                  <a:cs typeface="Lato" panose="020F0502020204030203" pitchFamily="34" charset="0"/>
                </a:rPr>
                <a:t>monetises</a:t>
              </a:r>
              <a:r>
                <a:rPr lang="en-US" sz="700" dirty="0">
                  <a:latin typeface="Lato" panose="020F0502020204030203" pitchFamily="34" charset="0"/>
                  <a:ea typeface="Lato" panose="020F0502020204030203" pitchFamily="34" charset="0"/>
                  <a:cs typeface="Lato" panose="020F0502020204030203" pitchFamily="34" charset="0"/>
                </a:rPr>
                <a:t> predominantly territory-by-territory, allowing it to exploit local competitive tension between Sky, DAZN, Canal+, Viaplay, beIN, Apple and other platforms. </a:t>
              </a:r>
            </a:p>
            <a:p>
              <a:pPr marL="127000" indent="-127000">
                <a:lnSpc>
                  <a:spcPct val="105000"/>
                </a:lnSpc>
                <a:spcAft>
                  <a:spcPts val="600"/>
                </a:spcAft>
                <a:buSzPct val="100000"/>
                <a:buChar char="•"/>
              </a:pPr>
              <a:r>
                <a:rPr lang="en-US" sz="700" dirty="0" err="1">
                  <a:latin typeface="Lato" panose="020F0502020204030203" pitchFamily="34" charset="0"/>
                  <a:ea typeface="Lato" panose="020F0502020204030203" pitchFamily="34" charset="0"/>
                  <a:cs typeface="Lato" panose="020F0502020204030203" pitchFamily="34" charset="0"/>
                </a:rPr>
                <a:t>Pay-TV</a:t>
              </a:r>
              <a:r>
                <a:rPr lang="en-US" sz="700" dirty="0">
                  <a:latin typeface="Lato" panose="020F0502020204030203" pitchFamily="34" charset="0"/>
                  <a:ea typeface="Lato" panose="020F0502020204030203" pitchFamily="34" charset="0"/>
                  <a:cs typeface="Lato" panose="020F0502020204030203" pitchFamily="34" charset="0"/>
                </a:rPr>
                <a:t> exclusivity has been a major pricing lever. The move away from broad FTA/co-exclusive distribution drove substantial increases in markets such as the UK and Germany, though listed-event rules preserve some free access to flagship home races.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F1 TV gives F1 leverage that many sports properties lack: the owned DTC product generates substantial revenue itself while providing an alternative route to consumers where traditional broadcasters undervalue the rights. At $152.8m of 2024 subscription turnover, it is already economically significant.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Driver/local relevance materially affects rights values. Verstappen drove a dramatic Dutch repricing; local-driver success helped Foxtel achieve record Australian audiences; Honda/Toyota participation contributed to renewed competition in Japan. This demonstrates F1's sensitivity to national sporting narratives.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The Nordics demonstrate the downside risk: Viaplay's retreat reduced the regional fee despite F1's overall global growth, showing that broadcaster economics and local </a:t>
              </a:r>
              <a:r>
                <a:rPr lang="en-US" sz="700" dirty="0" err="1">
                  <a:latin typeface="Lato" panose="020F0502020204030203" pitchFamily="34" charset="0"/>
                  <a:ea typeface="Lato" panose="020F0502020204030203" pitchFamily="34" charset="0"/>
                  <a:cs typeface="Lato" panose="020F0502020204030203" pitchFamily="34" charset="0"/>
                </a:rPr>
                <a:t>pay-TV</a:t>
              </a:r>
              <a:r>
                <a:rPr lang="en-US" sz="700" dirty="0">
                  <a:latin typeface="Lato" panose="020F0502020204030203" pitchFamily="34" charset="0"/>
                  <a:ea typeface="Lato" panose="020F0502020204030203" pitchFamily="34" charset="0"/>
                  <a:cs typeface="Lato" panose="020F0502020204030203" pitchFamily="34" charset="0"/>
                </a:rPr>
                <a:t> health remain important constraints.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China represents perhaps the largest </a:t>
              </a:r>
              <a:r>
                <a:rPr lang="en-US" sz="700" dirty="0" err="1">
                  <a:latin typeface="Lato" panose="020F0502020204030203" pitchFamily="34" charset="0"/>
                  <a:ea typeface="Lato" panose="020F0502020204030203" pitchFamily="34" charset="0"/>
                  <a:cs typeface="Lato" panose="020F0502020204030203" pitchFamily="34" charset="0"/>
                </a:rPr>
                <a:t>monetisation</a:t>
              </a:r>
              <a:r>
                <a:rPr lang="en-US" sz="700" dirty="0">
                  <a:latin typeface="Lato" panose="020F0502020204030203" pitchFamily="34" charset="0"/>
                  <a:ea typeface="Lato" panose="020F0502020204030203" pitchFamily="34" charset="0"/>
                  <a:cs typeface="Lato" panose="020F0502020204030203" pitchFamily="34" charset="0"/>
                </a:rPr>
                <a:t> gap: &gt;221m claimed fans versus only ~$1m/year of reported local rights fees suggests significant audience-to-media-revenue upside, albeit subject to China's distinct broadcasting and commercial environment. </a:t>
              </a:r>
            </a:p>
            <a:p>
              <a:pPr marL="127000" indent="-127000">
                <a:lnSpc>
                  <a:spcPct val="105000"/>
                </a:lnSpc>
                <a:spcAft>
                  <a:spcPts val="600"/>
                </a:spcAft>
                <a:buSzPct val="100000"/>
                <a:buChar char="•"/>
              </a:pPr>
              <a:r>
                <a:rPr lang="en-US" sz="700" dirty="0">
                  <a:latin typeface="Lato" panose="020F0502020204030203" pitchFamily="34" charset="0"/>
                  <a:ea typeface="Lato" panose="020F0502020204030203" pitchFamily="34" charset="0"/>
                  <a:cs typeface="Lato" panose="020F0502020204030203" pitchFamily="34" charset="0"/>
                </a:rPr>
                <a:t>Overall: F1 combines fast-growing media rights, owned DTC distribution, expanding sponsorship and scarce global live events. The key strategic question is whether it can sustain this growth as the initial Drive to Survive acquisition effect matures. The continuing rise in live viewership (+21% in 2025), record attendance and increasingly diversified revenue base indicate that F1 has so far succeeded in converting many newer fans into direct consumers of the sport rather than remaining dependent on the Netflix effect.</a:t>
              </a:r>
            </a:p>
          </p:txBody>
        </p:sp>
      </p:grpSp>
    </p:spTree>
    <p:extLst>
      <p:ext uri="{BB962C8B-B14F-4D97-AF65-F5344CB8AC3E}">
        <p14:creationId xmlns:p14="http://schemas.microsoft.com/office/powerpoint/2010/main" val="1626850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8BE0E75-3C20-2487-7335-45D6AC0548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4BD17B-2006-651B-BC10-DAD03B28775E}"/>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13F165CA-88DC-5BD0-A74E-55D4D739B7EA}"/>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NHL</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51A5BCE3-E2DA-CF4C-EB5A-C2BEA92D262F}"/>
              </a:ext>
            </a:extLst>
          </p:cNvPr>
          <p:cNvGrpSpPr/>
          <p:nvPr/>
        </p:nvGrpSpPr>
        <p:grpSpPr>
          <a:xfrm>
            <a:off x="64999" y="685220"/>
            <a:ext cx="1244697" cy="6126480"/>
            <a:chOff x="371704" y="1051560"/>
            <a:chExt cx="2084832" cy="5394960"/>
          </a:xfrm>
        </p:grpSpPr>
        <p:sp>
          <p:nvSpPr>
            <p:cNvPr id="4" name="Shape 2">
              <a:extLst>
                <a:ext uri="{FF2B5EF4-FFF2-40B4-BE49-F238E27FC236}">
                  <a16:creationId xmlns:a16="http://schemas.microsoft.com/office/drawing/2014/main" id="{FAEF2096-0079-B77E-7174-4F1FDBA4A833}"/>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FDADB307-1FCA-7744-C30B-B9F470291B4C}"/>
                </a:ext>
              </a:extLst>
            </p:cNvPr>
            <p:cNvSpPr/>
            <p:nvPr/>
          </p:nvSpPr>
          <p:spPr>
            <a:xfrm>
              <a:off x="371704"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B5BB045D-8367-B8F8-5E31-6D8A714AE515}"/>
                </a:ext>
              </a:extLst>
            </p:cNvPr>
            <p:cNvSpPr/>
            <p:nvPr/>
          </p:nvSpPr>
          <p:spPr>
            <a:xfrm>
              <a:off x="508864" y="1567698"/>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600" dirty="0">
                <a:latin typeface="Lato" panose="020F0502020204030203" pitchFamily="34" charset="0"/>
                <a:ea typeface="Lato" panose="020F0502020204030203" pitchFamily="34" charset="0"/>
                <a:cs typeface="Lato" panose="020F0502020204030203"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Sport: ice hockey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Structure: 32 teams, including 25 US and 7 Canadian franchises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The NHL is the 9th-most valuable sports property globally by media rights and fourth among the US "Big Four" leagues, according to </a:t>
              </a:r>
              <a:r>
                <a:rPr lang="en-US" altLang="en-US" sz="700" dirty="0" err="1">
                  <a:solidFill>
                    <a:srgbClr val="1A1A1A"/>
                  </a:solidFill>
                  <a:latin typeface="Lato" panose="020F0502020204030203" pitchFamily="34" charset="0"/>
                  <a:ea typeface="Lato" panose="020F0502020204030203" pitchFamily="34" charset="0"/>
                  <a:cs typeface="Lato" panose="020F0502020204030203" pitchFamily="34" charset="0"/>
                </a:rPr>
                <a:t>SportBusiness</a:t>
              </a: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2024 global media-rights revenue: ~$1.525bn (€1.35bn).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Revenue split: ~57% US / ~39% Canada / &lt;5% international, highlighting the league's unusually strong dual US-Canadian domestic market.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Regional team rights represented almost one-third of media revenue in 2024, worth close to $500m, although this declined to ~$400–430m in 2024/25 amid RSN disruption.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NHL represents approximately 84% of global ice-hockey media-rights revenue, giving it an overwhelmingly dominant position within its sport.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Total NHL revenue projected at ~$6.6bn in 2024/25, with ticketing contributing ~44%. </a:t>
              </a:r>
            </a:p>
          </p:txBody>
        </p:sp>
      </p:grpSp>
      <p:grpSp>
        <p:nvGrpSpPr>
          <p:cNvPr id="22" name="Group 21">
            <a:extLst>
              <a:ext uri="{FF2B5EF4-FFF2-40B4-BE49-F238E27FC236}">
                <a16:creationId xmlns:a16="http://schemas.microsoft.com/office/drawing/2014/main" id="{8C9EC8E8-DDB7-D850-292F-E984543AF973}"/>
              </a:ext>
            </a:extLst>
          </p:cNvPr>
          <p:cNvGrpSpPr/>
          <p:nvPr/>
        </p:nvGrpSpPr>
        <p:grpSpPr>
          <a:xfrm>
            <a:off x="1364245" y="685220"/>
            <a:ext cx="1588276" cy="6126480"/>
            <a:chOff x="2712568" y="1051560"/>
            <a:chExt cx="2084832" cy="5394960"/>
          </a:xfrm>
        </p:grpSpPr>
        <p:sp>
          <p:nvSpPr>
            <p:cNvPr id="7" name="Shape 5">
              <a:extLst>
                <a:ext uri="{FF2B5EF4-FFF2-40B4-BE49-F238E27FC236}">
                  <a16:creationId xmlns:a16="http://schemas.microsoft.com/office/drawing/2014/main" id="{A953DF8D-479C-57A9-9361-9B264F1B7061}"/>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F9BE3552-F901-06A7-C8CC-386976A03CB7}"/>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7CD71CCC-814E-6DD9-FF2B-BF79E2A5D138}"/>
                </a:ext>
              </a:extLst>
            </p:cNvPr>
            <p:cNvSpPr/>
            <p:nvPr/>
          </p:nvSpPr>
          <p:spPr>
            <a:xfrm>
              <a:off x="2849727" y="1432363"/>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7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NHL remains particularly strong in Canada, where hockey continues to be one of the most valuable sports properties for broadcasters.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League-wide 2024/25 regular-season attendance reached a record 23.01m, with arenas operating at a record 96.9% capacity.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Canadian Saturday-night audiences increased 8% to ~1.27m viewers/game during the 2024/25 season.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First-weekend Canadian playoff audiences increased 11% to ~2.62m/game.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The inaugural 4 Nations Face-Off demonstrated significant upside for international/team-nationality narratives: Canada–US drew 5.7m on Sportsnet + 1.4m on TVA Sports in Canada.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In the US, the same final became the most-watched NHL-related game in the Nielsen era and second-highest since the 1973 Stanley Cup Final.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However, US regular-season ratings were down 12% YoY in 2024/25; early playoff rounds also experienced significant declines, illustrating greater volatility than in Canada. </a:t>
              </a:r>
            </a:p>
            <a:p>
              <a:pPr marL="127000" indent="-127000" algn="l">
                <a:lnSpc>
                  <a:spcPct val="105000"/>
                </a:lnSpc>
                <a:spcAft>
                  <a:spcPts val="600"/>
                </a:spcAft>
                <a:buSzPct val="100000"/>
                <a:buChar char="•"/>
              </a:pP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International reach is supported by NHL.TV in 100+ countries/territories, operated by </a:t>
              </a:r>
              <a:r>
                <a:rPr lang="en-US" sz="700" dirty="0" err="1">
                  <a:solidFill>
                    <a:srgbClr val="1A1A1A"/>
                  </a:solidFill>
                  <a:latin typeface="Lato" panose="020F0502020204030203" pitchFamily="34" charset="0"/>
                  <a:ea typeface="Lato" panose="020F0502020204030203" pitchFamily="34" charset="0"/>
                  <a:cs typeface="Lato" panose="020F0502020204030203" pitchFamily="34" charset="0"/>
                </a:rPr>
                <a:t>Sportradar</a:t>
              </a:r>
              <a:r>
                <a:rPr lang="en-US" sz="700" dirty="0">
                  <a:solidFill>
                    <a:srgbClr val="1A1A1A"/>
                  </a:solidFill>
                  <a:latin typeface="Lato" panose="020F0502020204030203" pitchFamily="34" charset="0"/>
                  <a:ea typeface="Lato" panose="020F0502020204030203" pitchFamily="34" charset="0"/>
                  <a:cs typeface="Lato" panose="020F0502020204030203" pitchFamily="34" charset="0"/>
                </a:rPr>
                <a:t>.</a:t>
              </a:r>
            </a:p>
          </p:txBody>
        </p:sp>
      </p:grpSp>
      <p:grpSp>
        <p:nvGrpSpPr>
          <p:cNvPr id="23" name="Group 22">
            <a:extLst>
              <a:ext uri="{FF2B5EF4-FFF2-40B4-BE49-F238E27FC236}">
                <a16:creationId xmlns:a16="http://schemas.microsoft.com/office/drawing/2014/main" id="{52D4B881-B551-6C96-B387-A8755CCB66EB}"/>
              </a:ext>
            </a:extLst>
          </p:cNvPr>
          <p:cNvGrpSpPr/>
          <p:nvPr/>
        </p:nvGrpSpPr>
        <p:grpSpPr>
          <a:xfrm>
            <a:off x="3033343" y="540033"/>
            <a:ext cx="2871698" cy="6271667"/>
            <a:chOff x="5053432" y="923708"/>
            <a:chExt cx="2084832" cy="5522812"/>
          </a:xfrm>
        </p:grpSpPr>
        <p:sp>
          <p:nvSpPr>
            <p:cNvPr id="10" name="Shape 8">
              <a:extLst>
                <a:ext uri="{FF2B5EF4-FFF2-40B4-BE49-F238E27FC236}">
                  <a16:creationId xmlns:a16="http://schemas.microsoft.com/office/drawing/2014/main" id="{04506ED3-8BBA-9B2C-15FB-B4D198F40F3E}"/>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5DFC625A-7A5C-782A-DB79-C5339634C802}"/>
                </a:ext>
              </a:extLst>
            </p:cNvPr>
            <p:cNvSpPr/>
            <p:nvPr/>
          </p:nvSpPr>
          <p:spPr>
            <a:xfrm>
              <a:off x="5053432" y="92370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33CB3169-C086-0384-3C90-F193E6A7F7EE}"/>
                </a:ext>
              </a:extLst>
            </p:cNvPr>
            <p:cNvSpPr/>
            <p:nvPr/>
          </p:nvSpPr>
          <p:spPr>
            <a:xfrm>
              <a:off x="5130611" y="1233263"/>
              <a:ext cx="1949862" cy="4709160"/>
            </a:xfrm>
            <a:prstGeom prst="rect">
              <a:avLst/>
            </a:prstGeom>
            <a:noFill/>
            <a:ln/>
          </p:spPr>
          <p:txBody>
            <a:bodyPr wrap="square" lIns="0" tIns="0" rIns="0" bIns="0" rtlCol="0" anchor="t"/>
            <a:lstStyle/>
            <a:p>
              <a:pPr marL="17145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Global media rights: ~$1.525bn in 2024, with US + Canada contributing &gt;95%.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USA — ESPN/Disney: ~$400m/year, 2021/22–2027/28; &gt;$2.8bn total over seven years. Includes ESPN/ABC, ESPN+, Hulu, </a:t>
              </a:r>
              <a:r>
                <a:rPr lang="en-US" altLang="en-US" sz="700" dirty="0" err="1">
                  <a:solidFill>
                    <a:srgbClr val="1A1A1A"/>
                  </a:solidFill>
                  <a:latin typeface="Lato" panose="020F0502020204030203" pitchFamily="34" charset="0"/>
                  <a:ea typeface="Lato" panose="020F0502020204030203" pitchFamily="34" charset="0"/>
                  <a:cs typeface="Lato" panose="020F0502020204030203" pitchFamily="34" charset="0"/>
                </a:rPr>
                <a:t>NHL.tv</a:t>
              </a: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/out-of-market rights and alternating Stanley Cup Finals.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USA — TNT/Warner Bros. Discovery: ~$229m/year, 2021/22–2027/28 ($1.6bn total); up to 72 regular-season games, half the playoffs and three Stanley Cup Finals.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Canada — Rogers: new C$11.1bn (~$8bn) / 12-year agreement, beginning 2026/27; represents a 114% increase over the previous C$5.2bn contract.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This implies an average Canadian national-rights value of approximately C$925m/year (~US$667m/year at the article's FX), exceeding total current US national-rights revenue.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Canada — CBC/Hockey Night in Canada: under the existing cycle, CBC sublicenses Saturday-night and playoff inventory from Rogers for roughly C$100–150m/year, depending partly on Canadian teams' performance.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Canada — TVA Sports: C$800m over 12 years (~C$67m/year) for French-language national rights under the existing Rogers cycle.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Canada — Amazon: Prime Video received exclusive Monday-night games from Rogers for 2024/25–2025/26, providing Amazon with an initial entry into NHL broadcasting.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Nordics — Viaplay: approximately $30m/year, 2021/22–2025/26, covering Denmark, Finland, Iceland, Norway and Sweden.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International rights + betting: &gt;$60m/year overall, demonstrating relatively limited </a:t>
              </a:r>
              <a:r>
                <a:rPr lang="en-US" altLang="en-US" sz="700" dirty="0" err="1">
                  <a:solidFill>
                    <a:srgbClr val="1A1A1A"/>
                  </a:solidFill>
                  <a:latin typeface="Lato" panose="020F0502020204030203" pitchFamily="34" charset="0"/>
                  <a:ea typeface="Lato" panose="020F0502020204030203" pitchFamily="34" charset="0"/>
                  <a:cs typeface="Lato" panose="020F0502020204030203" pitchFamily="34" charset="0"/>
                </a:rPr>
                <a:t>monetisation</a:t>
              </a: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 outside North America. </a:t>
              </a:r>
            </a:p>
            <a:p>
              <a:pPr marL="171450" lvl="0" indent="-171450" eaLnBrk="0" fontAlgn="base" hangingPunct="0">
                <a:spcBef>
                  <a:spcPct val="0"/>
                </a:spcBef>
                <a:spcAft>
                  <a:spcPct val="0"/>
                </a:spcAft>
                <a:buFont typeface="Arial" panose="020B0604020202020204" pitchFamily="34" charset="0"/>
                <a:buChar char="•"/>
              </a:pP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Global data — </a:t>
              </a:r>
              <a:r>
                <a:rPr lang="en-US" altLang="en-US" sz="700" dirty="0" err="1">
                  <a:solidFill>
                    <a:srgbClr val="1A1A1A"/>
                  </a:solidFill>
                  <a:latin typeface="Lato" panose="020F0502020204030203" pitchFamily="34" charset="0"/>
                  <a:ea typeface="Lato" panose="020F0502020204030203" pitchFamily="34" charset="0"/>
                  <a:cs typeface="Lato" panose="020F0502020204030203" pitchFamily="34" charset="0"/>
                </a:rPr>
                <a:t>Sportradar</a:t>
              </a:r>
              <a:r>
                <a:rPr lang="en-US" altLang="en-US" sz="700" dirty="0">
                  <a:solidFill>
                    <a:srgbClr val="1A1A1A"/>
                  </a:solidFill>
                  <a:latin typeface="Lato" panose="020F0502020204030203" pitchFamily="34" charset="0"/>
                  <a:ea typeface="Lato" panose="020F0502020204030203" pitchFamily="34" charset="0"/>
                  <a:cs typeface="Lato" panose="020F0502020204030203" pitchFamily="34" charset="0"/>
                </a:rPr>
                <a:t>: 10-year partnership signed in 2021 covering official data and sportsbook live-game streaming; NHL also holds an equity stake in </a:t>
              </a:r>
              <a:r>
                <a:rPr lang="en-US" altLang="en-US" sz="700" dirty="0" err="1">
                  <a:solidFill>
                    <a:srgbClr val="1A1A1A"/>
                  </a:solidFill>
                  <a:latin typeface="Lato" panose="020F0502020204030203" pitchFamily="34" charset="0"/>
                  <a:ea typeface="Lato" panose="020F0502020204030203" pitchFamily="34" charset="0"/>
                  <a:cs typeface="Lato" panose="020F0502020204030203" pitchFamily="34" charset="0"/>
                </a:rPr>
                <a:t>Sportradar</a:t>
              </a:r>
              <a:r>
                <a:rPr lang="en-US" altLang="en-US" sz="700" dirty="0">
                  <a:latin typeface="Lato" panose="020F0502020204030203" pitchFamily="34" charset="0"/>
                  <a:ea typeface="Lato" panose="020F0502020204030203" pitchFamily="34" charset="0"/>
                  <a:cs typeface="Lato" panose="020F0502020204030203" pitchFamily="34" charset="0"/>
                </a:rPr>
                <a:t>.</a:t>
              </a:r>
            </a:p>
            <a:p>
              <a:pPr marL="171450" lvl="0" indent="-171450" eaLnBrk="0" fontAlgn="base" hangingPunct="0">
                <a:spcBef>
                  <a:spcPct val="0"/>
                </a:spcBef>
                <a:spcAft>
                  <a:spcPct val="0"/>
                </a:spcAft>
                <a:buFont typeface="Arial" panose="020B0604020202020204" pitchFamily="34" charset="0"/>
                <a:buChar char="•"/>
              </a:pPr>
              <a:endParaRPr lang="en-US" altLang="en-US" sz="700" dirty="0">
                <a:latin typeface="Lato" panose="020F0502020204030203" pitchFamily="34" charset="0"/>
                <a:ea typeface="Lato" panose="020F0502020204030203" pitchFamily="34" charset="0"/>
                <a:cs typeface="Lato" panose="020F0502020204030203"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NHL clubs generated close to $500m collectively from regional rights in 2024, but this fell to approximately $400–430m in 2024/25 as the traditional RSN model deteriorated.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Historically, most US teams earned approximately $15–30m/year from RSN agreements.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Diamond/FanDuel Sports Network teams generally suffered rights-fee reductions of 20%+ following Diamond Sports' bankruptcy and restructuring.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Dallas Stars: previously received ~$25m/year from Bally Sports; moved to a seven-year, entirely advertising-supported Victory+ free DTC model.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Anaheim Ducks also moved to free DTC distribution through Victory+, while Seattle Kraken combined local FTA coverage with Prime Video streaming.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Florida Panthers, Utah Mammoth and Vegas Golden Knights moved toward FTA regional distribution through Scripps, subsequently joined by Tampa Bay.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Canadian regional rights remain particularly valuable: Toronto Maple </a:t>
              </a:r>
              <a:r>
                <a:rPr lang="en-US" altLang="en-US" sz="700" dirty="0" err="1">
                  <a:latin typeface="Lato" panose="020F0502020204030203" pitchFamily="34" charset="0"/>
                  <a:ea typeface="Lato" panose="020F0502020204030203" pitchFamily="34" charset="0"/>
                  <a:cs typeface="Lato" panose="020F0502020204030203" pitchFamily="34" charset="0"/>
                </a:rPr>
                <a:t>Leafs</a:t>
              </a:r>
              <a:r>
                <a:rPr lang="en-US" altLang="en-US" sz="700" dirty="0">
                  <a:latin typeface="Lato" panose="020F0502020204030203" pitchFamily="34" charset="0"/>
                  <a:ea typeface="Lato" panose="020F0502020204030203" pitchFamily="34" charset="0"/>
                  <a:cs typeface="Lato" panose="020F0502020204030203" pitchFamily="34" charset="0"/>
                </a:rPr>
                <a:t> generate close to C$75m/year, while Vancouver's Sportsnet rights are understood at C$50m/year. </a:t>
              </a:r>
            </a:p>
            <a:p>
              <a:pPr marL="171450" lvl="0" indent="-171450" eaLnBrk="0" fontAlgn="base" hangingPunct="0">
                <a:spcBef>
                  <a:spcPct val="0"/>
                </a:spcBef>
                <a:spcAft>
                  <a:spcPct val="0"/>
                </a:spcAft>
                <a:buFont typeface="Arial" panose="020B0604020202020204" pitchFamily="34" charset="0"/>
                <a:buChar char="•"/>
              </a:pPr>
              <a:endParaRPr lang="en-US" altLang="en-US" sz="700" dirty="0">
                <a:latin typeface="Lato" panose="020F0502020204030203" pitchFamily="34" charset="0"/>
                <a:ea typeface="Lato" panose="020F0502020204030203" pitchFamily="34" charset="0"/>
                <a:cs typeface="Lato" panose="020F0502020204030203" pitchFamily="34" charset="0"/>
              </a:endParaRPr>
            </a:p>
          </p:txBody>
        </p:sp>
      </p:grpSp>
      <p:grpSp>
        <p:nvGrpSpPr>
          <p:cNvPr id="24" name="Group 23">
            <a:extLst>
              <a:ext uri="{FF2B5EF4-FFF2-40B4-BE49-F238E27FC236}">
                <a16:creationId xmlns:a16="http://schemas.microsoft.com/office/drawing/2014/main" id="{71E97734-8B30-E575-2F4F-80A6F1FDEDEC}"/>
              </a:ext>
            </a:extLst>
          </p:cNvPr>
          <p:cNvGrpSpPr/>
          <p:nvPr/>
        </p:nvGrpSpPr>
        <p:grpSpPr>
          <a:xfrm>
            <a:off x="5971923" y="645187"/>
            <a:ext cx="2479186" cy="6166513"/>
            <a:chOff x="7394296" y="1016307"/>
            <a:chExt cx="2203704" cy="5430213"/>
          </a:xfrm>
        </p:grpSpPr>
        <p:sp>
          <p:nvSpPr>
            <p:cNvPr id="13" name="Shape 11">
              <a:extLst>
                <a:ext uri="{FF2B5EF4-FFF2-40B4-BE49-F238E27FC236}">
                  <a16:creationId xmlns:a16="http://schemas.microsoft.com/office/drawing/2014/main" id="{483024DE-27F1-20C7-453C-01FE0DF46CF2}"/>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1D7C67F3-C9BD-0253-7A03-2034F4F2DC17}"/>
                </a:ext>
              </a:extLst>
            </p:cNvPr>
            <p:cNvSpPr/>
            <p:nvPr/>
          </p:nvSpPr>
          <p:spPr>
            <a:xfrm>
              <a:off x="7449381" y="1016307"/>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D1A76E87-E80E-99B8-E3AC-A3BDBE9821A6}"/>
                </a:ext>
              </a:extLst>
            </p:cNvPr>
            <p:cNvSpPr/>
            <p:nvPr/>
          </p:nvSpPr>
          <p:spPr>
            <a:xfrm>
              <a:off x="7464281" y="1600200"/>
              <a:ext cx="206993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900" dirty="0">
                <a:latin typeface="Lato" panose="020F0502020204030203" pitchFamily="34" charset="0"/>
                <a:ea typeface="Lato" panose="020F0502020204030203" pitchFamily="34" charset="0"/>
                <a:cs typeface="Lato" panose="020F0502020204030203" pitchFamily="34" charset="0"/>
              </a:endParaRPr>
            </a:p>
          </p:txBody>
        </p:sp>
      </p:grpSp>
      <p:grpSp>
        <p:nvGrpSpPr>
          <p:cNvPr id="26" name="Group 25">
            <a:extLst>
              <a:ext uri="{FF2B5EF4-FFF2-40B4-BE49-F238E27FC236}">
                <a16:creationId xmlns:a16="http://schemas.microsoft.com/office/drawing/2014/main" id="{79E6A43A-FFF4-B0F5-F883-3A1B4EE1B107}"/>
              </a:ext>
            </a:extLst>
          </p:cNvPr>
          <p:cNvGrpSpPr/>
          <p:nvPr/>
        </p:nvGrpSpPr>
        <p:grpSpPr>
          <a:xfrm>
            <a:off x="8513080" y="540032"/>
            <a:ext cx="3570890" cy="6271668"/>
            <a:chOff x="9735160" y="923708"/>
            <a:chExt cx="2084832" cy="5522812"/>
          </a:xfrm>
        </p:grpSpPr>
        <p:sp>
          <p:nvSpPr>
            <p:cNvPr id="16" name="Shape 14">
              <a:extLst>
                <a:ext uri="{FF2B5EF4-FFF2-40B4-BE49-F238E27FC236}">
                  <a16:creationId xmlns:a16="http://schemas.microsoft.com/office/drawing/2014/main" id="{EE464042-17F1-E435-B29B-452B476D1B9B}"/>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82FD9BB9-FBF1-F0FC-A253-7089713CDD66}"/>
                </a:ext>
              </a:extLst>
            </p:cNvPr>
            <p:cNvSpPr/>
            <p:nvPr/>
          </p:nvSpPr>
          <p:spPr>
            <a:xfrm>
              <a:off x="9735160" y="92370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BDF26B11-92A4-2887-7B54-27398C4252AB}"/>
                </a:ext>
              </a:extLst>
            </p:cNvPr>
            <p:cNvSpPr/>
            <p:nvPr/>
          </p:nvSpPr>
          <p:spPr>
            <a:xfrm>
              <a:off x="9787935" y="1257331"/>
              <a:ext cx="197928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The NHL's defining media characteristic is its dual domestic market. Unlike the NFL, NBA or MLB, Canada contributes almost as much media revenue as the US — and from 2026/27 will actually become the larger national-rights market.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The Rogers renewal materially changes the economics. At C$11.1bn over 12 years, Canadian national rights alone average ~C$925m/year. The 114% uplift provides unusually long-term revenue visibility and creates a powerful benchmark ahead of the 2028 US renewal.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The US therefore represents the biggest medium-term upside opportunity. Current ESPN + TNT national agreements generate roughly $629m/year. If the NHL can achieve anything approaching Canada's percentage uplift when those contracts expire, total media-rights revenue could step up materially.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However, US audience performance is less robust than Canadian demand. Regular-season ratings fell 12% in 2024/25 and playoff performance depended heavily on team matchups. This could constrain negotiating leverage unless audience momentum improves before the 2028 renewal.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Local rights are the largest structural risk. Regional revenue fell from ~$500m to ~$400–430m in only one season, and Diamond-associated clubs have absorbed cuts of 20%+. This partly offsets growth in national contracts.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But the RSN collapse is accelerating distribution innovation. Free OTA television </a:t>
              </a:r>
              <a:r>
                <a:rPr lang="en-US" altLang="en-US" sz="800" dirty="0" err="1">
                  <a:latin typeface="Lato" panose="020F0502020204030203" pitchFamily="34" charset="0"/>
                  <a:ea typeface="Lato" panose="020F0502020204030203" pitchFamily="34" charset="0"/>
                  <a:cs typeface="Lato" panose="020F0502020204030203" pitchFamily="34" charset="0"/>
                </a:rPr>
                <a:t>maximises</a:t>
              </a:r>
              <a:r>
                <a:rPr lang="en-US" altLang="en-US" sz="800" dirty="0">
                  <a:latin typeface="Lato" panose="020F0502020204030203" pitchFamily="34" charset="0"/>
                  <a:ea typeface="Lato" panose="020F0502020204030203" pitchFamily="34" charset="0"/>
                  <a:cs typeface="Lato" panose="020F0502020204030203" pitchFamily="34" charset="0"/>
                </a:rPr>
                <a:t> reach, while Victory+, Prime Video and team DTC products provide direct consumer relationships and potentially better advertising/sponsorship </a:t>
              </a:r>
              <a:r>
                <a:rPr lang="en-US" altLang="en-US" sz="800" dirty="0" err="1">
                  <a:latin typeface="Lato" panose="020F0502020204030203" pitchFamily="34" charset="0"/>
                  <a:ea typeface="Lato" panose="020F0502020204030203" pitchFamily="34" charset="0"/>
                  <a:cs typeface="Lato" panose="020F0502020204030203" pitchFamily="34" charset="0"/>
                </a:rPr>
                <a:t>monetisation</a:t>
              </a:r>
              <a:r>
                <a:rPr lang="en-US" altLang="en-US" sz="800" dirty="0">
                  <a:latin typeface="Lato" panose="020F0502020204030203" pitchFamily="34" charset="0"/>
                  <a:ea typeface="Lato" panose="020F0502020204030203" pitchFamily="34" charset="0"/>
                  <a:cs typeface="Lato" panose="020F0502020204030203" pitchFamily="34" charset="0"/>
                </a:rPr>
                <a:t>. The trade-off is that teams increasingly assume revenue risk previously borne by RSNs.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International </a:t>
              </a:r>
              <a:r>
                <a:rPr lang="en-US" altLang="en-US" sz="800" dirty="0" err="1">
                  <a:latin typeface="Lato" panose="020F0502020204030203" pitchFamily="34" charset="0"/>
                  <a:ea typeface="Lato" panose="020F0502020204030203" pitchFamily="34" charset="0"/>
                  <a:cs typeface="Lato" panose="020F0502020204030203" pitchFamily="34" charset="0"/>
                </a:rPr>
                <a:t>monetisation</a:t>
              </a:r>
              <a:r>
                <a:rPr lang="en-US" altLang="en-US" sz="800" dirty="0">
                  <a:latin typeface="Lato" panose="020F0502020204030203" pitchFamily="34" charset="0"/>
                  <a:ea typeface="Lato" panose="020F0502020204030203" pitchFamily="34" charset="0"/>
                  <a:cs typeface="Lato" panose="020F0502020204030203" pitchFamily="34" charset="0"/>
                </a:rPr>
                <a:t> remains the clearest structural weakness. &gt;$60m/year outside North America represents &lt;5% of the NHL's rights business, despite strong hockey markets across the Nordics and Central Europe.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4 Nations suggests national-team hockey could be an audience-growth lever. Its exceptional US and Canadian ratings indicate that scarce, high-stakes international events can reach viewers beyond the regular NHL audience.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Ticketing dependence is unusually high: ~44% of NHL revenue comes from gates versus roughly 25% for the NBA and 17% for the NFL. This makes the NHL less media-dependent, but also highlights how much scope remains to increase media </a:t>
              </a:r>
              <a:r>
                <a:rPr lang="en-US" altLang="en-US" sz="800" dirty="0" err="1">
                  <a:latin typeface="Lato" panose="020F0502020204030203" pitchFamily="34" charset="0"/>
                  <a:ea typeface="Lato" panose="020F0502020204030203" pitchFamily="34" charset="0"/>
                  <a:cs typeface="Lato" panose="020F0502020204030203" pitchFamily="34" charset="0"/>
                </a:rPr>
                <a:t>monetisation</a:t>
              </a:r>
              <a:r>
                <a:rPr lang="en-US" altLang="en-US" sz="800" dirty="0">
                  <a:latin typeface="Lato" panose="020F0502020204030203" pitchFamily="34" charset="0"/>
                  <a:ea typeface="Lato" panose="020F0502020204030203" pitchFamily="34" charset="0"/>
                  <a:cs typeface="Lato" panose="020F0502020204030203" pitchFamily="34" charset="0"/>
                </a:rPr>
                <a:t> relative to other major US leagues.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Overall: the NHL is a $1.5bn+ media property with unusually strong Canadian economics but significant untapped potential elsewhere. The new Rogers deal locks in a major step-up from 2026/27, while the 2028 US renewal provides the next large growth catalyst. The key challenge is whether national-rights growth can more than compensate for deteriorating regional-TV economics while the league expands streaming and international </a:t>
              </a:r>
              <a:r>
                <a:rPr lang="en-US" altLang="en-US" sz="800" dirty="0" err="1">
                  <a:latin typeface="Lato" panose="020F0502020204030203" pitchFamily="34" charset="0"/>
                  <a:ea typeface="Lato" panose="020F0502020204030203" pitchFamily="34" charset="0"/>
                  <a:cs typeface="Lato" panose="020F0502020204030203" pitchFamily="34" charset="0"/>
                </a:rPr>
                <a:t>monetisation</a:t>
              </a:r>
              <a:r>
                <a:rPr lang="en-US" altLang="en-US" sz="800" dirty="0">
                  <a:latin typeface="Lato" panose="020F0502020204030203" pitchFamily="34" charset="0"/>
                  <a:ea typeface="Lato" panose="020F0502020204030203" pitchFamily="34" charset="0"/>
                  <a:cs typeface="Lato" panose="020F0502020204030203" pitchFamily="34" charset="0"/>
                </a:rPr>
                <a:t>.</a:t>
              </a:r>
            </a:p>
          </p:txBody>
        </p:sp>
      </p:grpSp>
      <p:sp>
        <p:nvSpPr>
          <p:cNvPr id="31" name="TextBox 30">
            <a:extLst>
              <a:ext uri="{FF2B5EF4-FFF2-40B4-BE49-F238E27FC236}">
                <a16:creationId xmlns:a16="http://schemas.microsoft.com/office/drawing/2014/main" id="{8945F401-E9A0-A99A-AC02-A582B8035C07}"/>
              </a:ext>
            </a:extLst>
          </p:cNvPr>
          <p:cNvSpPr txBox="1"/>
          <p:nvPr/>
        </p:nvSpPr>
        <p:spPr>
          <a:xfrm>
            <a:off x="6033894" y="1040889"/>
            <a:ext cx="2345454" cy="5770811"/>
          </a:xfrm>
          <a:prstGeom prst="rect">
            <a:avLst/>
          </a:prstGeom>
          <a:noFill/>
        </p:spPr>
        <p:txBody>
          <a:bodyPr wrap="square">
            <a:spAutoFit/>
          </a:bodyPr>
          <a:lstStyle/>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Canada is becoming the NHL's largest national media market. From 2026/27, Rogers' new C$11.1bn contract will surpass combined US national-rights revenue despite Canada containing only 7 of 32 NHL teams.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The Canadian renewal delivered a remarkable 114% uplift, demonstrating hockey's continued strategic importance to Canadian broadcasters despite broader cord-cutting pressures.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US rights are the next major catalyst: ESPN and TNT agreements expire after 2027/28, giving the NHL an opportunity to seek another material increase.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Streaming has become central to US distribution. ESPN's agreement puts &gt;1,000 games per season across its streaming ecosystem, compared with only 25 exclusive regular-season games on ESPN/ABC linear television.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Regional rights are undergoing structural disruption: RSN economics have deteriorated rapidly as cord-cutting reduces traditional </a:t>
            </a:r>
            <a:r>
              <a:rPr lang="en-US" sz="900" dirty="0" err="1">
                <a:latin typeface="Lato" panose="020F0502020204030203" pitchFamily="34" charset="0"/>
                <a:ea typeface="Lato" panose="020F0502020204030203" pitchFamily="34" charset="0"/>
                <a:cs typeface="Lato" panose="020F0502020204030203" pitchFamily="34" charset="0"/>
              </a:rPr>
              <a:t>pay-TV</a:t>
            </a:r>
            <a:r>
              <a:rPr lang="en-US" sz="900" dirty="0">
                <a:latin typeface="Lato" panose="020F0502020204030203" pitchFamily="34" charset="0"/>
                <a:ea typeface="Lato" panose="020F0502020204030203" pitchFamily="34" charset="0"/>
                <a:cs typeface="Lato" panose="020F0502020204030203" pitchFamily="34" charset="0"/>
              </a:rPr>
              <a:t> penetration. US </a:t>
            </a:r>
            <a:r>
              <a:rPr lang="en-US" sz="900" dirty="0" err="1">
                <a:latin typeface="Lato" panose="020F0502020204030203" pitchFamily="34" charset="0"/>
                <a:ea typeface="Lato" panose="020F0502020204030203" pitchFamily="34" charset="0"/>
                <a:cs typeface="Lato" panose="020F0502020204030203" pitchFamily="34" charset="0"/>
              </a:rPr>
              <a:t>pay-TV</a:t>
            </a:r>
            <a:r>
              <a:rPr lang="en-US" sz="900" dirty="0">
                <a:latin typeface="Lato" panose="020F0502020204030203" pitchFamily="34" charset="0"/>
                <a:ea typeface="Lato" panose="020F0502020204030203" pitchFamily="34" charset="0"/>
                <a:cs typeface="Lato" panose="020F0502020204030203" pitchFamily="34" charset="0"/>
              </a:rPr>
              <a:t> households have declined from &gt;100m a decade ago to just over 60m.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Teams are responding with FTA + DTC hybrid models, including Scripps, Victory+, Amazon and team-controlled/local channels.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4 Nations Face-Off demonstrated the potential of international competition, producing exceptional audiences in both Canada and the US. </a:t>
            </a:r>
          </a:p>
        </p:txBody>
      </p:sp>
    </p:spTree>
    <p:extLst>
      <p:ext uri="{BB962C8B-B14F-4D97-AF65-F5344CB8AC3E}">
        <p14:creationId xmlns:p14="http://schemas.microsoft.com/office/powerpoint/2010/main" val="2673298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B770CA2-640F-5624-64BF-5D2F882BB6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95F970-4D52-EF70-BEF7-893F66F37E2D}"/>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8B16A3C8-4B20-3351-A51B-ACAA5399ECEB}"/>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WTA</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ABC44C77-A5AC-D152-241F-8B8BCCA0ECB8}"/>
              </a:ext>
            </a:extLst>
          </p:cNvPr>
          <p:cNvGrpSpPr/>
          <p:nvPr/>
        </p:nvGrpSpPr>
        <p:grpSpPr>
          <a:xfrm>
            <a:off x="64999" y="598605"/>
            <a:ext cx="1244697" cy="6213102"/>
            <a:chOff x="371704" y="975284"/>
            <a:chExt cx="2084832" cy="5471236"/>
          </a:xfrm>
        </p:grpSpPr>
        <p:sp>
          <p:nvSpPr>
            <p:cNvPr id="4" name="Shape 2">
              <a:extLst>
                <a:ext uri="{FF2B5EF4-FFF2-40B4-BE49-F238E27FC236}">
                  <a16:creationId xmlns:a16="http://schemas.microsoft.com/office/drawing/2014/main" id="{1B89FD48-E7BB-74D4-A423-347DC841F5C3}"/>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874D3683-7878-B6B6-884E-C103A4F3C2DD}"/>
                </a:ext>
              </a:extLst>
            </p:cNvPr>
            <p:cNvSpPr/>
            <p:nvPr/>
          </p:nvSpPr>
          <p:spPr>
            <a:xfrm>
              <a:off x="371704" y="975284"/>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076B9BC9-B5E0-198F-82DB-249D8AD169FA}"/>
                </a:ext>
              </a:extLst>
            </p:cNvPr>
            <p:cNvSpPr/>
            <p:nvPr/>
          </p:nvSpPr>
          <p:spPr>
            <a:xfrm>
              <a:off x="499094" y="1244766"/>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800" dirty="0">
                <a:latin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Sport: tennis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Property: WTA Tour, the leading global professional women’s tennis tour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2025 combined media, betting and data rights value: ~US$100m (€85.8m).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Revenue mix is unusually weighted toward betting/data: approximately 60% betting &amp; data / 40% traditional media rights.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Stats Perform contributes ~US$60m in 2025, making betting streaming/data the WTA's single largest rights revenue source.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Global broadcast distribution has historically been managed through WTA Media, a JV created with Perform/DAZN under a 10-year, $525m agreement covering 2017–26.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WTA Media will be dissolved in 2026, with commercial control transferring to WTA Ventures.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CVC invested $150m for 20% of WTA Ventures in 2023; WTA retains sporting and regulatory control. </a:t>
              </a:r>
            </a:p>
          </p:txBody>
        </p:sp>
      </p:grpSp>
      <p:grpSp>
        <p:nvGrpSpPr>
          <p:cNvPr id="22" name="Group 21">
            <a:extLst>
              <a:ext uri="{FF2B5EF4-FFF2-40B4-BE49-F238E27FC236}">
                <a16:creationId xmlns:a16="http://schemas.microsoft.com/office/drawing/2014/main" id="{8FA925B6-AA74-73BE-CA90-8F86558D4704}"/>
              </a:ext>
            </a:extLst>
          </p:cNvPr>
          <p:cNvGrpSpPr/>
          <p:nvPr/>
        </p:nvGrpSpPr>
        <p:grpSpPr>
          <a:xfrm>
            <a:off x="1364245" y="573816"/>
            <a:ext cx="1588276" cy="6237884"/>
            <a:chOff x="2712568" y="953458"/>
            <a:chExt cx="2084832" cy="5493062"/>
          </a:xfrm>
        </p:grpSpPr>
        <p:sp>
          <p:nvSpPr>
            <p:cNvPr id="7" name="Shape 5">
              <a:extLst>
                <a:ext uri="{FF2B5EF4-FFF2-40B4-BE49-F238E27FC236}">
                  <a16:creationId xmlns:a16="http://schemas.microsoft.com/office/drawing/2014/main" id="{594A00C6-54AE-57D4-7DDE-F8C79999F307}"/>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7C3B0FB7-853C-51CF-84CF-A45352FB88E8}"/>
                </a:ext>
              </a:extLst>
            </p:cNvPr>
            <p:cNvSpPr/>
            <p:nvPr/>
          </p:nvSpPr>
          <p:spPr>
            <a:xfrm>
              <a:off x="2712568" y="95345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391AFEBE-7FE8-3A2C-0337-0D7446A5CC14}"/>
                </a:ext>
              </a:extLst>
            </p:cNvPr>
            <p:cNvSpPr/>
            <p:nvPr/>
          </p:nvSpPr>
          <p:spPr>
            <a:xfrm>
              <a:off x="2842539" y="1228049"/>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800" dirty="0">
                <a:latin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The WTA considers its overall audience approximately comparable to the ATP's, but acknowledges a meaningful gap in </a:t>
              </a:r>
              <a:r>
                <a:rPr lang="en-US" altLang="en-US" sz="800" dirty="0" err="1">
                  <a:latin typeface="Arial" panose="020B0604020202020204" pitchFamily="34" charset="0"/>
                </a:rPr>
                <a:t>monetisation</a:t>
              </a:r>
              <a:r>
                <a:rPr lang="en-US" altLang="en-US" sz="800" dirty="0">
                  <a:latin typeface="Arial" panose="020B0604020202020204" pitchFamily="34" charset="0"/>
                </a:rPr>
                <a:t> rather than audience size.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Audience demand is particularly sensitive to local-player success, creating significant upside in markets with leading female players.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China: &gt;300m cumulative viewers during 2024, with the Beijing WTA 1000 accounting for more than half; distribution expanded across Youku, Tencent, Migu and CCTV.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Poland is described as one of WTA's fastest-growing markets, driven heavily by Iga </a:t>
              </a:r>
              <a:r>
                <a:rPr lang="en-US" altLang="en-US" sz="800" dirty="0" err="1">
                  <a:latin typeface="Arial" panose="020B0604020202020204" pitchFamily="34" charset="0"/>
                </a:rPr>
                <a:t>Świątek's</a:t>
              </a:r>
              <a:r>
                <a:rPr lang="en-US" altLang="en-US" sz="800" dirty="0">
                  <a:latin typeface="Arial" panose="020B0604020202020204" pitchFamily="34" charset="0"/>
                </a:rPr>
                <a:t> success.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US momentum is supported by a strong generation of American players; five US players were in the top 20 when the new Tennis Channel agreement was negotiated.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Greece experienced a major rights-value increase following Maria </a:t>
              </a:r>
              <a:r>
                <a:rPr lang="en-US" altLang="en-US" sz="800" dirty="0" err="1">
                  <a:latin typeface="Arial" panose="020B0604020202020204" pitchFamily="34" charset="0"/>
                </a:rPr>
                <a:t>Sakkari's</a:t>
              </a:r>
              <a:r>
                <a:rPr lang="en-US" altLang="en-US" sz="800" dirty="0">
                  <a:latin typeface="Arial" panose="020B0604020202020204" pitchFamily="34" charset="0"/>
                </a:rPr>
                <a:t> rise to world No. 3.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WTA is increasingly treating YouTube, social media, streaming and highlights distribution as complements to traditional FTA exposure rather than relying exclusively on linear television for reach. </a:t>
              </a:r>
            </a:p>
          </p:txBody>
        </p:sp>
      </p:grpSp>
      <p:grpSp>
        <p:nvGrpSpPr>
          <p:cNvPr id="23" name="Group 22">
            <a:extLst>
              <a:ext uri="{FF2B5EF4-FFF2-40B4-BE49-F238E27FC236}">
                <a16:creationId xmlns:a16="http://schemas.microsoft.com/office/drawing/2014/main" id="{F549CAF7-E899-CF51-743F-967E4B44500E}"/>
              </a:ext>
            </a:extLst>
          </p:cNvPr>
          <p:cNvGrpSpPr/>
          <p:nvPr/>
        </p:nvGrpSpPr>
        <p:grpSpPr>
          <a:xfrm>
            <a:off x="3033343" y="540033"/>
            <a:ext cx="2089500" cy="6271667"/>
            <a:chOff x="5053432" y="923708"/>
            <a:chExt cx="2084832" cy="5522812"/>
          </a:xfrm>
        </p:grpSpPr>
        <p:sp>
          <p:nvSpPr>
            <p:cNvPr id="10" name="Shape 8">
              <a:extLst>
                <a:ext uri="{FF2B5EF4-FFF2-40B4-BE49-F238E27FC236}">
                  <a16:creationId xmlns:a16="http://schemas.microsoft.com/office/drawing/2014/main" id="{E38FC47D-47FD-C113-A550-76473E94D1B0}"/>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1C85B587-8751-3F60-D162-FEB523B66D71}"/>
                </a:ext>
              </a:extLst>
            </p:cNvPr>
            <p:cNvSpPr/>
            <p:nvPr/>
          </p:nvSpPr>
          <p:spPr>
            <a:xfrm>
              <a:off x="5053432" y="92370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A1453E2A-8762-5599-63E3-6B837DBE5E5B}"/>
                </a:ext>
              </a:extLst>
            </p:cNvPr>
            <p:cNvSpPr/>
            <p:nvPr/>
          </p:nvSpPr>
          <p:spPr>
            <a:xfrm>
              <a:off x="5130611" y="1233263"/>
              <a:ext cx="194986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Total media + betting/data: approximately $100m in 2025.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Betting/data — Stats Perform: ~$60m in 2025; renewed for 2027–29 at an increased value of &gt;$60m/year. Includes official data and live betting streams.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UK/Ireland + Italy + DACH — Sky: joint ATP/WTA deal worth ~€40m/year, 2024–28; approximately €8m/year (20%) allocated to WTA.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USA — Tennis Channel: current agreement approximately $7m/year, 2024–26.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USA — Tennis Channel renewal: approximately $14m/year average, 2026–32, effectively doubling the current rights value and becoming one of WTA's largest media contracts.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France/Australia/Turkey — beIN: combined three-market agreement worth approximately $5m/year, 2022–26.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Spain — Tennis Channel: approximately €0.5m/year, 2025–26.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Poland — Canal+: approximately $1m/year, 2021–26, with </a:t>
              </a:r>
              <a:r>
                <a:rPr lang="en-US" altLang="en-US" sz="800" dirty="0" err="1">
                  <a:latin typeface="Arial" panose="020B0604020202020204" pitchFamily="34" charset="0"/>
                </a:rPr>
                <a:t>Świątek's</a:t>
              </a:r>
              <a:r>
                <a:rPr lang="en-US" altLang="en-US" sz="800" dirty="0">
                  <a:latin typeface="Arial" panose="020B0604020202020204" pitchFamily="34" charset="0"/>
                </a:rPr>
                <a:t> success driving rights inflation.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Czech Republic + Slovakia — Canal+: approximately $5m combined across 2024–28.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Balkans — United Media: approximately €0.7m/year, 2024–26, up ~56% from €0.45m previously.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Greece — Nova/United Media: approximately €0.45m/year, 2021–26, up 350% from €0.1m/year previously.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Denmark — TV2: approximately €0.6m/year, through 2026.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China — Migu/Tencent/Youku: approximately $3–3.5m in 2025, up from ~$1.5m in 2024.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MENA: current DAZN FTA distribution; WTA Media has valued the region at $2–3m/year, while beIN has argued for ≤$1m and Saudi Sports Company reportedly floated ~$3m.</a:t>
              </a:r>
            </a:p>
          </p:txBody>
        </p:sp>
      </p:grpSp>
      <p:grpSp>
        <p:nvGrpSpPr>
          <p:cNvPr id="24" name="Group 23">
            <a:extLst>
              <a:ext uri="{FF2B5EF4-FFF2-40B4-BE49-F238E27FC236}">
                <a16:creationId xmlns:a16="http://schemas.microsoft.com/office/drawing/2014/main" id="{D3C8A3C6-6817-A77E-B909-41A08D7398DF}"/>
              </a:ext>
            </a:extLst>
          </p:cNvPr>
          <p:cNvGrpSpPr/>
          <p:nvPr/>
        </p:nvGrpSpPr>
        <p:grpSpPr>
          <a:xfrm>
            <a:off x="5155316" y="645187"/>
            <a:ext cx="2787845" cy="6166513"/>
            <a:chOff x="7394296" y="1016307"/>
            <a:chExt cx="2203704" cy="5430213"/>
          </a:xfrm>
        </p:grpSpPr>
        <p:sp>
          <p:nvSpPr>
            <p:cNvPr id="13" name="Shape 11">
              <a:extLst>
                <a:ext uri="{FF2B5EF4-FFF2-40B4-BE49-F238E27FC236}">
                  <a16:creationId xmlns:a16="http://schemas.microsoft.com/office/drawing/2014/main" id="{F757613E-71EC-37AD-2D0A-996734BEF7C1}"/>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DD8A5496-E07A-1106-F429-82636814FE16}"/>
                </a:ext>
              </a:extLst>
            </p:cNvPr>
            <p:cNvSpPr/>
            <p:nvPr/>
          </p:nvSpPr>
          <p:spPr>
            <a:xfrm>
              <a:off x="7449381" y="1016307"/>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86FC4000-779D-522E-9FA8-AA24548462E4}"/>
                </a:ext>
              </a:extLst>
            </p:cNvPr>
            <p:cNvSpPr/>
            <p:nvPr/>
          </p:nvSpPr>
          <p:spPr>
            <a:xfrm>
              <a:off x="7464281" y="1600200"/>
              <a:ext cx="206993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900" dirty="0">
                <a:latin typeface="Lato" panose="020F0502020204030203" pitchFamily="34" charset="0"/>
                <a:ea typeface="Lato" panose="020F0502020204030203" pitchFamily="34" charset="0"/>
                <a:cs typeface="Lato" panose="020F0502020204030203" pitchFamily="34" charset="0"/>
              </a:endParaRPr>
            </a:p>
          </p:txBody>
        </p:sp>
      </p:grpSp>
      <p:grpSp>
        <p:nvGrpSpPr>
          <p:cNvPr id="26" name="Group 25">
            <a:extLst>
              <a:ext uri="{FF2B5EF4-FFF2-40B4-BE49-F238E27FC236}">
                <a16:creationId xmlns:a16="http://schemas.microsoft.com/office/drawing/2014/main" id="{B3AC10AB-9E0D-C23C-9C39-3BF818088280}"/>
              </a:ext>
            </a:extLst>
          </p:cNvPr>
          <p:cNvGrpSpPr/>
          <p:nvPr/>
        </p:nvGrpSpPr>
        <p:grpSpPr>
          <a:xfrm>
            <a:off x="8010137" y="540032"/>
            <a:ext cx="4073833" cy="6271668"/>
            <a:chOff x="9735160" y="923708"/>
            <a:chExt cx="2084832" cy="5522812"/>
          </a:xfrm>
        </p:grpSpPr>
        <p:sp>
          <p:nvSpPr>
            <p:cNvPr id="16" name="Shape 14">
              <a:extLst>
                <a:ext uri="{FF2B5EF4-FFF2-40B4-BE49-F238E27FC236}">
                  <a16:creationId xmlns:a16="http://schemas.microsoft.com/office/drawing/2014/main" id="{573F89EB-4F27-3518-0172-ECE23AD51CF1}"/>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650F7A75-7FF7-D8D5-6611-62F06CA70F08}"/>
                </a:ext>
              </a:extLst>
            </p:cNvPr>
            <p:cNvSpPr/>
            <p:nvPr/>
          </p:nvSpPr>
          <p:spPr>
            <a:xfrm>
              <a:off x="9735160" y="92370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6D3203B2-41BE-E890-F596-C349D24D13E0}"/>
                </a:ext>
              </a:extLst>
            </p:cNvPr>
            <p:cNvSpPr/>
            <p:nvPr/>
          </p:nvSpPr>
          <p:spPr>
            <a:xfrm>
              <a:off x="9787935" y="1257331"/>
              <a:ext cx="197928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The WTA appears materially under-</a:t>
              </a:r>
              <a:r>
                <a:rPr lang="en-US" altLang="en-US" sz="800" dirty="0" err="1">
                  <a:latin typeface="Lato" panose="020F0502020204030203" pitchFamily="34" charset="0"/>
                  <a:ea typeface="Lato" panose="020F0502020204030203" pitchFamily="34" charset="0"/>
                  <a:cs typeface="Lato" panose="020F0502020204030203" pitchFamily="34" charset="0"/>
                </a:rPr>
                <a:t>monetised</a:t>
              </a:r>
              <a:r>
                <a:rPr lang="en-US" altLang="en-US" sz="800" dirty="0">
                  <a:latin typeface="Lato" panose="020F0502020204030203" pitchFamily="34" charset="0"/>
                  <a:ea typeface="Lato" panose="020F0502020204030203" pitchFamily="34" charset="0"/>
                  <a:cs typeface="Lato" panose="020F0502020204030203" pitchFamily="34" charset="0"/>
                </a:rPr>
                <a:t> relative to its audience. WTA leadership itself describes ATP and WTA audiences as "almost equal", while acknowledging that ATP is substantially further ahead commercially. This suggests the primary challenge is commercial conversion rather than fundamental consumer demand.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Betting/data dependence is unusually high. Roughly 60% of the WTA's ~$100m rights base comes from Stats Perform. This provides valuable guaranteed economics but creates significant concentration in a revenue category that is structurally different from traditional consumer media.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Traditional media rights therefore appear surprisingly small — only ~US$40m/year globally. For a tour with substantial worldwide audiences and year-round inventory, this highlights considerable potential upside if WTA Ventures can improve packaging and distribution.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The US renewal provides early evidence that repricing is possible. Doubling Tennis Channel's agreement to ~$14m/year suggests the commercial reset is already producing higher valuations in strategically important territories.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Local stars have an unusually direct effect on media value. </a:t>
              </a:r>
              <a:r>
                <a:rPr lang="en-US" altLang="en-US" sz="800" dirty="0" err="1">
                  <a:latin typeface="Lato" panose="020F0502020204030203" pitchFamily="34" charset="0"/>
                  <a:ea typeface="Lato" panose="020F0502020204030203" pitchFamily="34" charset="0"/>
                  <a:cs typeface="Lato" panose="020F0502020204030203" pitchFamily="34" charset="0"/>
                </a:rPr>
                <a:t>Świątek</a:t>
              </a:r>
              <a:r>
                <a:rPr lang="en-US" altLang="en-US" sz="800" dirty="0">
                  <a:latin typeface="Lato" panose="020F0502020204030203" pitchFamily="34" charset="0"/>
                  <a:ea typeface="Lato" panose="020F0502020204030203" pitchFamily="34" charset="0"/>
                  <a:cs typeface="Lato" panose="020F0502020204030203" pitchFamily="34" charset="0"/>
                </a:rPr>
                <a:t> in Poland, </a:t>
              </a:r>
              <a:r>
                <a:rPr lang="en-US" altLang="en-US" sz="800" dirty="0" err="1">
                  <a:latin typeface="Lato" panose="020F0502020204030203" pitchFamily="34" charset="0"/>
                  <a:ea typeface="Lato" panose="020F0502020204030203" pitchFamily="34" charset="0"/>
                  <a:cs typeface="Lato" panose="020F0502020204030203" pitchFamily="34" charset="0"/>
                </a:rPr>
                <a:t>Sakkari</a:t>
              </a:r>
              <a:r>
                <a:rPr lang="en-US" altLang="en-US" sz="800" dirty="0">
                  <a:latin typeface="Lato" panose="020F0502020204030203" pitchFamily="34" charset="0"/>
                  <a:ea typeface="Lato" panose="020F0502020204030203" pitchFamily="34" charset="0"/>
                  <a:cs typeface="Lato" panose="020F0502020204030203" pitchFamily="34" charset="0"/>
                </a:rPr>
                <a:t> in Greece, American top-20 players in the US and Zheng </a:t>
              </a:r>
              <a:r>
                <a:rPr lang="en-US" altLang="en-US" sz="800" dirty="0" err="1">
                  <a:latin typeface="Lato" panose="020F0502020204030203" pitchFamily="34" charset="0"/>
                  <a:ea typeface="Lato" panose="020F0502020204030203" pitchFamily="34" charset="0"/>
                  <a:cs typeface="Lato" panose="020F0502020204030203" pitchFamily="34" charset="0"/>
                </a:rPr>
                <a:t>Qinwen</a:t>
              </a:r>
              <a:r>
                <a:rPr lang="en-US" altLang="en-US" sz="800" dirty="0">
                  <a:latin typeface="Lato" panose="020F0502020204030203" pitchFamily="34" charset="0"/>
                  <a:ea typeface="Lato" panose="020F0502020204030203" pitchFamily="34" charset="0"/>
                  <a:cs typeface="Lato" panose="020F0502020204030203" pitchFamily="34" charset="0"/>
                </a:rPr>
                <a:t> in China have all been associated with significant audience or rights-value growth. This creates upside but also makes individual-market economics somewhat dependent on player cycles.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China represents the largest recovery opportunity. &gt;300m viewers in 2024 versus only ~$3–3.5m of 2025 rights revenue indicates a major audience-to-</a:t>
              </a:r>
              <a:r>
                <a:rPr lang="en-US" altLang="en-US" sz="800" dirty="0" err="1">
                  <a:latin typeface="Lato" panose="020F0502020204030203" pitchFamily="34" charset="0"/>
                  <a:ea typeface="Lato" panose="020F0502020204030203" pitchFamily="34" charset="0"/>
                  <a:cs typeface="Lato" panose="020F0502020204030203" pitchFamily="34" charset="0"/>
                </a:rPr>
                <a:t>monetisation</a:t>
              </a:r>
              <a:r>
                <a:rPr lang="en-US" altLang="en-US" sz="800" dirty="0">
                  <a:latin typeface="Lato" panose="020F0502020204030203" pitchFamily="34" charset="0"/>
                  <a:ea typeface="Lato" panose="020F0502020204030203" pitchFamily="34" charset="0"/>
                  <a:cs typeface="Lato" panose="020F0502020204030203" pitchFamily="34" charset="0"/>
                </a:rPr>
                <a:t> gap. Recovering even part of the economics of the former $160–170m </a:t>
              </a:r>
              <a:r>
                <a:rPr lang="en-US" altLang="en-US" sz="800" dirty="0" err="1">
                  <a:latin typeface="Lato" panose="020F0502020204030203" pitchFamily="34" charset="0"/>
                  <a:ea typeface="Lato" panose="020F0502020204030203" pitchFamily="34" charset="0"/>
                  <a:cs typeface="Lato" panose="020F0502020204030203" pitchFamily="34" charset="0"/>
                </a:rPr>
                <a:t>iQiyi</a:t>
              </a:r>
              <a:r>
                <a:rPr lang="en-US" altLang="en-US" sz="800" dirty="0">
                  <a:latin typeface="Lato" panose="020F0502020204030203" pitchFamily="34" charset="0"/>
                  <a:ea typeface="Lato" panose="020F0502020204030203" pitchFamily="34" charset="0"/>
                  <a:cs typeface="Lato" panose="020F0502020204030203" pitchFamily="34" charset="0"/>
                </a:rPr>
                <a:t> contract would materially increase WTA media revenue.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The WTA Ventures transition is strategically significant. Moving rights sales in-house should provide greater control over packaging, pricing, data and commercial strategy, while CVC's investment adds capital and commercial expertise. The trade-off is that the WTA assumes more direct execution responsibility.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Joint ATP/WTA packaging could be a major value lever. Sky's €40m/year combined agreement demonstrates the attractiveness of offering broadcasters a comprehensive year-round tennis proposition. Aggregating rights could reduce fragmentation and increase bargaining power.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At the same time, full commercial integration has trade-offs: WTA-specific sponsors may value the women's game independently, and determining fair value between the two tours remains a major obstacle to merger negotiations.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Lato" panose="020F0502020204030203" pitchFamily="34" charset="0"/>
                  <a:ea typeface="Lato" panose="020F0502020204030203" pitchFamily="34" charset="0"/>
                  <a:cs typeface="Lato" panose="020F0502020204030203" pitchFamily="34" charset="0"/>
                </a:rPr>
                <a:t>Overall: the WTA is a ~$100m rights property with a much larger audience footprint than its current media revenues imply. The 2026 transition from WTA Media to WTA Ventures, the doubling of US rights, recovering Chinese distribution and possible ATP commercial integration create a credible pathway toward significantly higher </a:t>
              </a:r>
              <a:r>
                <a:rPr lang="en-US" altLang="en-US" sz="800" dirty="0" err="1">
                  <a:latin typeface="Lato" panose="020F0502020204030203" pitchFamily="34" charset="0"/>
                  <a:ea typeface="Lato" panose="020F0502020204030203" pitchFamily="34" charset="0"/>
                  <a:cs typeface="Lato" panose="020F0502020204030203" pitchFamily="34" charset="0"/>
                </a:rPr>
                <a:t>monetisation</a:t>
              </a:r>
              <a:r>
                <a:rPr lang="en-US" altLang="en-US" sz="800" dirty="0">
                  <a:latin typeface="Lato" panose="020F0502020204030203" pitchFamily="34" charset="0"/>
                  <a:ea typeface="Lato" panose="020F0502020204030203" pitchFamily="34" charset="0"/>
                  <a:cs typeface="Lato" panose="020F0502020204030203" pitchFamily="34" charset="0"/>
                </a:rPr>
                <a:t>. The central opportunity is therefore not necessarily finding a larger audience, but extracting substantially more value from the audience the WTA already has.</a:t>
              </a:r>
            </a:p>
          </p:txBody>
        </p:sp>
      </p:grpSp>
      <p:sp>
        <p:nvSpPr>
          <p:cNvPr id="31" name="TextBox 30">
            <a:extLst>
              <a:ext uri="{FF2B5EF4-FFF2-40B4-BE49-F238E27FC236}">
                <a16:creationId xmlns:a16="http://schemas.microsoft.com/office/drawing/2014/main" id="{62D7D9A2-2DE5-68BF-2FC2-075A90E056E7}"/>
              </a:ext>
            </a:extLst>
          </p:cNvPr>
          <p:cNvSpPr txBox="1"/>
          <p:nvPr/>
        </p:nvSpPr>
        <p:spPr>
          <a:xfrm>
            <a:off x="5222292" y="1040889"/>
            <a:ext cx="2637462" cy="5493812"/>
          </a:xfrm>
          <a:prstGeom prst="rect">
            <a:avLst/>
          </a:prstGeom>
          <a:noFill/>
        </p:spPr>
        <p:txBody>
          <a:bodyPr wrap="square">
            <a:spAutoFit/>
          </a:bodyPr>
          <a:lstStyle/>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The WTA's commercial model changes fundamentally after 2026. WTA Media will disappear and WTA Ventures will directly control the media-rights commercial process, giving the tour greater ownership of its distribution strategy.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WTA Ventures has already begun operating independently in key territories, including the US and China, ahead of the full transition.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US rights value doubles from ~$7m to ~$14m/year under Tennis Channel's 2026–32 renewal, providing an important benchmark for the post-WTA Media cycle.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Betting/data rights are also increasing: Stats </a:t>
            </a:r>
            <a:r>
              <a:rPr lang="en-US" sz="900" dirty="0" err="1">
                <a:latin typeface="Lato" panose="020F0502020204030203" pitchFamily="34" charset="0"/>
                <a:ea typeface="Lato" panose="020F0502020204030203" pitchFamily="34" charset="0"/>
                <a:cs typeface="Lato" panose="020F0502020204030203" pitchFamily="34" charset="0"/>
              </a:rPr>
              <a:t>Perform's</a:t>
            </a:r>
            <a:r>
              <a:rPr lang="en-US" sz="900" dirty="0">
                <a:latin typeface="Lato" panose="020F0502020204030203" pitchFamily="34" charset="0"/>
                <a:ea typeface="Lato" panose="020F0502020204030203" pitchFamily="34" charset="0"/>
                <a:cs typeface="Lato" panose="020F0502020204030203" pitchFamily="34" charset="0"/>
              </a:rPr>
              <a:t> renewed 2027–29 agreement is worth &gt;$60m/year, supported partly by increased inventory.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WTA 125 inventory expanded dramatically to 50+ tournaments in 2025 versus 24 in 2022, increasing the amount of </a:t>
            </a:r>
            <a:r>
              <a:rPr lang="en-US" sz="900" dirty="0" err="1">
                <a:latin typeface="Lato" panose="020F0502020204030203" pitchFamily="34" charset="0"/>
                <a:ea typeface="Lato" panose="020F0502020204030203" pitchFamily="34" charset="0"/>
                <a:cs typeface="Lato" panose="020F0502020204030203" pitchFamily="34" charset="0"/>
              </a:rPr>
              <a:t>monetisable</a:t>
            </a:r>
            <a:r>
              <a:rPr lang="en-US" sz="900" dirty="0">
                <a:latin typeface="Lato" panose="020F0502020204030203" pitchFamily="34" charset="0"/>
                <a:ea typeface="Lato" panose="020F0502020204030203" pitchFamily="34" charset="0"/>
                <a:cs typeface="Lato" panose="020F0502020204030203" pitchFamily="34" charset="0"/>
              </a:rPr>
              <a:t> betting/data content.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China is recovering rapidly: rights revenue increased from ~$1.5m in 2024 to $3–3.5m in 2025 following the tour's return to the market.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However, Chinese rights remain dramatically below the previous $160–170m/10-year </a:t>
            </a:r>
            <a:r>
              <a:rPr lang="en-US" sz="900" dirty="0" err="1">
                <a:latin typeface="Lato" panose="020F0502020204030203" pitchFamily="34" charset="0"/>
                <a:ea typeface="Lato" panose="020F0502020204030203" pitchFamily="34" charset="0"/>
                <a:cs typeface="Lato" panose="020F0502020204030203" pitchFamily="34" charset="0"/>
              </a:rPr>
              <a:t>iQiyi</a:t>
            </a:r>
            <a:r>
              <a:rPr lang="en-US" sz="900" dirty="0">
                <a:latin typeface="Lato" panose="020F0502020204030203" pitchFamily="34" charset="0"/>
                <a:ea typeface="Lato" panose="020F0502020204030203" pitchFamily="34" charset="0"/>
                <a:cs typeface="Lato" panose="020F0502020204030203" pitchFamily="34" charset="0"/>
              </a:rPr>
              <a:t> agreement terminated following the Peng Shuai affair.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Japan remains a significant distribution gap: as of the source date, the WTA had no broadcaster after DAZN declined to renew. </a:t>
            </a:r>
          </a:p>
          <a:p>
            <a:pPr marL="285750" indent="-285750">
              <a:buFont typeface="Arial" panose="020B0604020202020204" pitchFamily="34" charset="0"/>
              <a:buChar char="•"/>
            </a:pPr>
            <a:r>
              <a:rPr lang="en-US" sz="900" dirty="0">
                <a:latin typeface="Lato" panose="020F0502020204030203" pitchFamily="34" charset="0"/>
                <a:ea typeface="Lato" panose="020F0502020204030203" pitchFamily="34" charset="0"/>
                <a:cs typeface="Lato" panose="020F0502020204030203" pitchFamily="34" charset="0"/>
              </a:rPr>
              <a:t>ATP/WTA commercial merger discussions remain strategically important, with the </a:t>
            </a:r>
            <a:r>
              <a:rPr lang="en-US" sz="900" dirty="0" err="1">
                <a:latin typeface="Lato" panose="020F0502020204030203" pitchFamily="34" charset="0"/>
                <a:ea typeface="Lato" panose="020F0502020204030203" pitchFamily="34" charset="0"/>
                <a:cs typeface="Lato" panose="020F0502020204030203" pitchFamily="34" charset="0"/>
              </a:rPr>
              <a:t>organisations</a:t>
            </a:r>
            <a:r>
              <a:rPr lang="en-US" sz="900" dirty="0">
                <a:latin typeface="Lato" panose="020F0502020204030203" pitchFamily="34" charset="0"/>
                <a:ea typeface="Lato" panose="020F0502020204030203" pitchFamily="34" charset="0"/>
                <a:cs typeface="Lato" panose="020F0502020204030203" pitchFamily="34" charset="0"/>
              </a:rPr>
              <a:t> reportedly having reached consensus on several key issues while legal/commercial complexities remain unresolved.</a:t>
            </a:r>
          </a:p>
        </p:txBody>
      </p:sp>
    </p:spTree>
    <p:extLst>
      <p:ext uri="{BB962C8B-B14F-4D97-AF65-F5344CB8AC3E}">
        <p14:creationId xmlns:p14="http://schemas.microsoft.com/office/powerpoint/2010/main" val="2205123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DD5723-F7FB-57D0-7E16-08CB5B2A0C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36FD8D8-5AD2-69A8-7919-2ACC2F2DD38C}"/>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BD5957A0-0054-D34F-A2B9-0C7A5C5F3F4A}"/>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WIMBELDON</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93B70793-2C28-F672-BAD9-C627C168850C}"/>
              </a:ext>
            </a:extLst>
          </p:cNvPr>
          <p:cNvGrpSpPr/>
          <p:nvPr/>
        </p:nvGrpSpPr>
        <p:grpSpPr>
          <a:xfrm>
            <a:off x="64999" y="598605"/>
            <a:ext cx="1244697" cy="6213102"/>
            <a:chOff x="371704" y="975284"/>
            <a:chExt cx="2084832" cy="5471236"/>
          </a:xfrm>
        </p:grpSpPr>
        <p:sp>
          <p:nvSpPr>
            <p:cNvPr id="4" name="Shape 2">
              <a:extLst>
                <a:ext uri="{FF2B5EF4-FFF2-40B4-BE49-F238E27FC236}">
                  <a16:creationId xmlns:a16="http://schemas.microsoft.com/office/drawing/2014/main" id="{F2705A51-A9DF-6B62-AC82-66B4D0E9F60A}"/>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2D3BF8BE-60D2-898E-5BC3-F3927F1627DB}"/>
                </a:ext>
              </a:extLst>
            </p:cNvPr>
            <p:cNvSpPr/>
            <p:nvPr/>
          </p:nvSpPr>
          <p:spPr>
            <a:xfrm>
              <a:off x="371704" y="975284"/>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8643FD01-CC46-AD94-8AC9-96CD3C9A7916}"/>
                </a:ext>
              </a:extLst>
            </p:cNvPr>
            <p:cNvSpPr/>
            <p:nvPr/>
          </p:nvSpPr>
          <p:spPr>
            <a:xfrm>
              <a:off x="499094" y="1244766"/>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700" dirty="0">
                <a:latin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Sport: tennis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Property: The Championships, Wimbledon, one of tennis's four Grand Slams </a:t>
              </a:r>
            </a:p>
            <a:p>
              <a:pPr marL="171450" lvl="0" indent="-171450" eaLnBrk="0" fontAlgn="base" hangingPunct="0">
                <a:spcBef>
                  <a:spcPct val="0"/>
                </a:spcBef>
                <a:spcAft>
                  <a:spcPct val="0"/>
                </a:spcAft>
                <a:buFont typeface="Arial" panose="020B0604020202020204" pitchFamily="34" charset="0"/>
                <a:buChar char="•"/>
              </a:pPr>
              <a:r>
                <a:rPr lang="en-US" altLang="en-US" sz="700" dirty="0" err="1">
                  <a:latin typeface="Arial" panose="020B0604020202020204" pitchFamily="34" charset="0"/>
                </a:rPr>
                <a:t>Organiser</a:t>
              </a:r>
              <a:r>
                <a:rPr lang="en-US" altLang="en-US" sz="700" dirty="0">
                  <a:latin typeface="Arial" panose="020B0604020202020204" pitchFamily="34" charset="0"/>
                </a:rPr>
                <a:t> and commercial rights holder: All England Lawn Tennis Club (AELTC)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Wimbledon is expected to generate &gt;$260m (€227.5m) of media-rights revenue in 2026.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Media rights represent just under half of AELTC's total income, making broadcasting its largest/one of its most important commercial revenue streams.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AELTC turnover reached £423.6m ($560.7m) in FY2024/25, encompassing broadcasting, ticketing, sponsorship, retail and F&amp;B.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Disney + BBC contribute just under $200m/year, approximately 70% of total broadcast revenue.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International broadcast and sponsorship rights are represented by IMG, while domestic media and betting rights are handled separately/directly.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AELTC distributes most of its annual surplus back into British tennis through the LTA; £48.1m was transferred in 2024/25. </a:t>
              </a:r>
            </a:p>
          </p:txBody>
        </p:sp>
      </p:grpSp>
      <p:grpSp>
        <p:nvGrpSpPr>
          <p:cNvPr id="22" name="Group 21">
            <a:extLst>
              <a:ext uri="{FF2B5EF4-FFF2-40B4-BE49-F238E27FC236}">
                <a16:creationId xmlns:a16="http://schemas.microsoft.com/office/drawing/2014/main" id="{97E46CCD-CE46-8D3C-4B52-52382717AEE5}"/>
              </a:ext>
            </a:extLst>
          </p:cNvPr>
          <p:cNvGrpSpPr/>
          <p:nvPr/>
        </p:nvGrpSpPr>
        <p:grpSpPr>
          <a:xfrm>
            <a:off x="1364245" y="573816"/>
            <a:ext cx="1588276" cy="6237884"/>
            <a:chOff x="2712568" y="953458"/>
            <a:chExt cx="2084832" cy="5493062"/>
          </a:xfrm>
        </p:grpSpPr>
        <p:sp>
          <p:nvSpPr>
            <p:cNvPr id="7" name="Shape 5">
              <a:extLst>
                <a:ext uri="{FF2B5EF4-FFF2-40B4-BE49-F238E27FC236}">
                  <a16:creationId xmlns:a16="http://schemas.microsoft.com/office/drawing/2014/main" id="{86DB0D79-868D-A8C3-1109-3F0A1E0EDD66}"/>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1642FB70-EC97-D76F-4CBE-6C53FE4DD2A8}"/>
                </a:ext>
              </a:extLst>
            </p:cNvPr>
            <p:cNvSpPr/>
            <p:nvPr/>
          </p:nvSpPr>
          <p:spPr>
            <a:xfrm>
              <a:off x="2712568" y="95345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10E18783-4D25-D462-E5CE-4EE9162EBD7F}"/>
                </a:ext>
              </a:extLst>
            </p:cNvPr>
            <p:cNvSpPr/>
            <p:nvPr/>
          </p:nvSpPr>
          <p:spPr>
            <a:xfrm>
              <a:off x="2842539" y="1228049"/>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800" dirty="0">
                <a:latin typeface="Arial" panose="020B0604020202020204"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Wimbledon combines premium global reach with exceptionally strong domestic mass-market penetration, supported by its century-long relationship with the BBC.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The BBC's broad FTA distribution is strategically important: market sources believe UK viewership would decline materially if most of Wimbledon moved behind a paywall.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The men's and women's singles finals are UK listed events, guaranteeing broad availability even if other tournament inventory were eventually moved to </a:t>
              </a:r>
              <a:r>
                <a:rPr lang="en-US" altLang="en-US" sz="800" dirty="0" err="1">
                  <a:latin typeface="Arial" panose="020B0604020202020204" pitchFamily="34" charset="0"/>
                </a:rPr>
                <a:t>pay-TV</a:t>
              </a:r>
              <a:r>
                <a:rPr lang="en-US" altLang="en-US" sz="800" dirty="0">
                  <a:latin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The US and UK constitute Wimbledon's most important broadcast markets and account for the majority of broadcast income.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Local-player success materially influences demand: Jannik Sinner has supported Italian rights growth, Carlos Alcaraz helps maintain Spanish tennis interest post-Nadal, and Iga </a:t>
              </a:r>
              <a:r>
                <a:rPr lang="en-US" altLang="en-US" sz="800" dirty="0" err="1">
                  <a:latin typeface="Arial" panose="020B0604020202020204" pitchFamily="34" charset="0"/>
                </a:rPr>
                <a:t>Świątek</a:t>
              </a:r>
              <a:r>
                <a:rPr lang="en-US" altLang="en-US" sz="800" dirty="0">
                  <a:latin typeface="Arial" panose="020B0604020202020204" pitchFamily="34" charset="0"/>
                </a:rPr>
                <a:t> has made tennis increasingly valuable in Poland.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Wimbledon benefits from the broader resurgence of tennis in the Americas, including rising US interest and player success, while João Fonseca is generating additional interest in Brazil. </a:t>
              </a:r>
            </a:p>
          </p:txBody>
        </p:sp>
      </p:grpSp>
      <p:grpSp>
        <p:nvGrpSpPr>
          <p:cNvPr id="23" name="Group 22">
            <a:extLst>
              <a:ext uri="{FF2B5EF4-FFF2-40B4-BE49-F238E27FC236}">
                <a16:creationId xmlns:a16="http://schemas.microsoft.com/office/drawing/2014/main" id="{AF059C3F-539F-8966-BE35-9C14593B2EE4}"/>
              </a:ext>
            </a:extLst>
          </p:cNvPr>
          <p:cNvGrpSpPr/>
          <p:nvPr/>
        </p:nvGrpSpPr>
        <p:grpSpPr>
          <a:xfrm>
            <a:off x="3033343" y="540033"/>
            <a:ext cx="2089500" cy="6271667"/>
            <a:chOff x="5053432" y="923708"/>
            <a:chExt cx="2084832" cy="5522812"/>
          </a:xfrm>
        </p:grpSpPr>
        <p:sp>
          <p:nvSpPr>
            <p:cNvPr id="10" name="Shape 8">
              <a:extLst>
                <a:ext uri="{FF2B5EF4-FFF2-40B4-BE49-F238E27FC236}">
                  <a16:creationId xmlns:a16="http://schemas.microsoft.com/office/drawing/2014/main" id="{3725A370-66BA-17E4-CB9D-D60DBE7B21EF}"/>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3C12FCBA-2ACE-3DD5-3B63-2CD73C18FCF0}"/>
                </a:ext>
              </a:extLst>
            </p:cNvPr>
            <p:cNvSpPr/>
            <p:nvPr/>
          </p:nvSpPr>
          <p:spPr>
            <a:xfrm>
              <a:off x="5053432" y="92370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A560D75A-25D0-F6F5-1C29-82E84359E2F5}"/>
                </a:ext>
              </a:extLst>
            </p:cNvPr>
            <p:cNvSpPr/>
            <p:nvPr/>
          </p:nvSpPr>
          <p:spPr>
            <a:xfrm>
              <a:off x="5130611" y="1233263"/>
              <a:ext cx="194986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Total media rights: &gt;$260m in 2026.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UK — BBC: just under £70m/year, 2025–27, for exclusive live rights; renewed through 2033 shortly before the 2026 tournament.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Americas — Disney: approximately $95m/year, 2024–35, covering US, Canada, Caribbean and Latin America including Brazil; more than double the ~$45m/year average of the previous contract.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Betting streaming/video — </a:t>
              </a:r>
              <a:r>
                <a:rPr lang="en-US" altLang="en-US" sz="700" dirty="0" err="1">
                  <a:latin typeface="Arial" panose="020B0604020202020204" pitchFamily="34" charset="0"/>
                </a:rPr>
                <a:t>Sportradar</a:t>
              </a:r>
              <a:r>
                <a:rPr lang="en-US" altLang="en-US" sz="700" dirty="0">
                  <a:latin typeface="Arial" panose="020B0604020202020204" pitchFamily="34" charset="0"/>
                </a:rPr>
                <a:t>: current rights worth approximately £12.5–13.5m in 2026; renewed for 2027–29 at a minimum guarantee of &gt;£15.5m/year, plus a new revenue-sharing component.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Italy — Sky Italia: €4–4.5m/year, 2023–26; increases to just below €7m/year from 2027–30.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France — beIN: approximately $7m/year, 2024–28, slightly above the previous ~$6.5m.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MENA — beIN: renewed for 2026–30; previous agreement generated approximately $6m/year. New fee not disclosed in the source.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Spain — Telefónica: approximately €5–6m/year, reportedly 2025–30, slightly above the previous &gt;€5m/year.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Germany &amp; Austria — Amazon: just over €4m/year, 2024–27; broadly flat versus Sky's previous contract.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11 European markets — WBD: approximately €5.2m/year, 2024–27, versus €4.8m previously.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Poland — Polsat: approximately $7m/year, 2025–28, reflecting the substantial increase in Polish tennis demand associated with </a:t>
              </a:r>
              <a:r>
                <a:rPr lang="en-US" altLang="en-US" sz="700" dirty="0" err="1">
                  <a:latin typeface="Arial" panose="020B0604020202020204" pitchFamily="34" charset="0"/>
                </a:rPr>
                <a:t>Świątek</a:t>
              </a:r>
              <a:r>
                <a:rPr lang="en-US" altLang="en-US" sz="700" dirty="0">
                  <a:latin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Australia — Nine: just below $5m/year, 2027–29; slight uplift on current economics.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APAC — SPOTV: approximately $6m/year, 2022–26, covering 14 markets.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Japan — NHK: approximately $6m/year, 2025–27, down from $6.5m largely because of yen depreciation.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China — Tencent: digital rights through 2027 with an escalating structure reaching approximately $1m in 2027; additional exposure comes through CCTV and Shanghai Media Group.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Denmark — DR: approximately €0.4m/year, 2024–26.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Arial" panose="020B0604020202020204" pitchFamily="34" charset="0"/>
                </a:rPr>
                <a:t>Portugal — </a:t>
              </a:r>
              <a:r>
                <a:rPr lang="en-US" altLang="en-US" sz="700" dirty="0" err="1">
                  <a:latin typeface="Arial" panose="020B0604020202020204" pitchFamily="34" charset="0"/>
                </a:rPr>
                <a:t>SportTV</a:t>
              </a:r>
              <a:r>
                <a:rPr lang="en-US" altLang="en-US" sz="700" dirty="0">
                  <a:latin typeface="Arial" panose="020B0604020202020204" pitchFamily="34" charset="0"/>
                </a:rPr>
                <a:t>: approximately $0.75m/year, 2023–26.</a:t>
              </a:r>
            </a:p>
          </p:txBody>
        </p:sp>
      </p:grpSp>
      <p:grpSp>
        <p:nvGrpSpPr>
          <p:cNvPr id="24" name="Group 23">
            <a:extLst>
              <a:ext uri="{FF2B5EF4-FFF2-40B4-BE49-F238E27FC236}">
                <a16:creationId xmlns:a16="http://schemas.microsoft.com/office/drawing/2014/main" id="{E928A1A6-6528-8BC6-427D-A4972D8BC55C}"/>
              </a:ext>
            </a:extLst>
          </p:cNvPr>
          <p:cNvGrpSpPr/>
          <p:nvPr/>
        </p:nvGrpSpPr>
        <p:grpSpPr>
          <a:xfrm>
            <a:off x="5155317" y="645187"/>
            <a:ext cx="2578524" cy="6166513"/>
            <a:chOff x="7394296" y="1016307"/>
            <a:chExt cx="2203704" cy="5430213"/>
          </a:xfrm>
        </p:grpSpPr>
        <p:sp>
          <p:nvSpPr>
            <p:cNvPr id="13" name="Shape 11">
              <a:extLst>
                <a:ext uri="{FF2B5EF4-FFF2-40B4-BE49-F238E27FC236}">
                  <a16:creationId xmlns:a16="http://schemas.microsoft.com/office/drawing/2014/main" id="{2F3E46D7-89B2-33A8-A1D6-D9E379EE8B7C}"/>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3EA06426-7C10-5C6F-32B4-E9AE10FB2C1E}"/>
                </a:ext>
              </a:extLst>
            </p:cNvPr>
            <p:cNvSpPr/>
            <p:nvPr/>
          </p:nvSpPr>
          <p:spPr>
            <a:xfrm>
              <a:off x="7449381" y="1016307"/>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72F554B0-777A-69D1-E9D0-3883821C7329}"/>
                </a:ext>
              </a:extLst>
            </p:cNvPr>
            <p:cNvSpPr/>
            <p:nvPr/>
          </p:nvSpPr>
          <p:spPr>
            <a:xfrm>
              <a:off x="7464281" y="1600200"/>
              <a:ext cx="206993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900" dirty="0">
                <a:latin typeface="Lato" panose="020F0502020204030203" pitchFamily="34" charset="0"/>
                <a:ea typeface="Lato" panose="020F0502020204030203" pitchFamily="34" charset="0"/>
                <a:cs typeface="Lato" panose="020F0502020204030203" pitchFamily="34" charset="0"/>
              </a:endParaRPr>
            </a:p>
          </p:txBody>
        </p:sp>
      </p:grpSp>
      <p:grpSp>
        <p:nvGrpSpPr>
          <p:cNvPr id="26" name="Group 25">
            <a:extLst>
              <a:ext uri="{FF2B5EF4-FFF2-40B4-BE49-F238E27FC236}">
                <a16:creationId xmlns:a16="http://schemas.microsoft.com/office/drawing/2014/main" id="{8245B47F-9D1E-2C48-F84B-526117A8B349}"/>
              </a:ext>
            </a:extLst>
          </p:cNvPr>
          <p:cNvGrpSpPr/>
          <p:nvPr/>
        </p:nvGrpSpPr>
        <p:grpSpPr>
          <a:xfrm>
            <a:off x="8010137" y="540032"/>
            <a:ext cx="4073833" cy="6271668"/>
            <a:chOff x="9735160" y="923708"/>
            <a:chExt cx="2084832" cy="5522812"/>
          </a:xfrm>
        </p:grpSpPr>
        <p:sp>
          <p:nvSpPr>
            <p:cNvPr id="16" name="Shape 14">
              <a:extLst>
                <a:ext uri="{FF2B5EF4-FFF2-40B4-BE49-F238E27FC236}">
                  <a16:creationId xmlns:a16="http://schemas.microsoft.com/office/drawing/2014/main" id="{944A3600-1FEC-98F9-AD72-847A5AAD1681}"/>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7304B154-C180-E8BA-001E-CC275E77E5FF}"/>
                </a:ext>
              </a:extLst>
            </p:cNvPr>
            <p:cNvSpPr/>
            <p:nvPr/>
          </p:nvSpPr>
          <p:spPr>
            <a:xfrm>
              <a:off x="9735160" y="92370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A1074A60-C9E1-EE86-A646-7DC99CC4A403}"/>
                </a:ext>
              </a:extLst>
            </p:cNvPr>
            <p:cNvSpPr/>
            <p:nvPr/>
          </p:nvSpPr>
          <p:spPr>
            <a:xfrm>
              <a:off x="9787935" y="1257331"/>
              <a:ext cx="197928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Wimbledon is an exceptionally efficient media property. A two-week annual tournament generates &gt;$260m of media-rights revenue, compared with properties requiring full multi-month seasons to generate comparable economics.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Revenue is highly concentrated in two markets. Disney (~$95m) plus BBC (&lt;£70m) account for ~70% of broadcast revenue. This provides strong anchor economics but creates exposure to US and UK media-market conditions — a risk explicitly </a:t>
              </a:r>
              <a:r>
                <a:rPr lang="en-US" altLang="en-US" sz="800" dirty="0" err="1">
                  <a:latin typeface="Arial" panose="020B0604020202020204" pitchFamily="34" charset="0"/>
                </a:rPr>
                <a:t>recognised</a:t>
              </a:r>
              <a:r>
                <a:rPr lang="en-US" altLang="en-US" sz="800" dirty="0">
                  <a:latin typeface="Arial" panose="020B0604020202020204" pitchFamily="34" charset="0"/>
                </a:rPr>
                <a:t> by the AELTC.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The Disney contract demonstrates significant pricing power. The ~$95m annual fee is more than double the ~$45m average under its predecessor, despite the AELTC renewing early without creating a full competitive auction.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BBC represents more than a pure revenue-</a:t>
              </a:r>
              <a:r>
                <a:rPr lang="en-US" altLang="en-US" sz="800" dirty="0" err="1">
                  <a:latin typeface="Arial" panose="020B0604020202020204" pitchFamily="34" charset="0"/>
                </a:rPr>
                <a:t>maximisation</a:t>
              </a:r>
              <a:r>
                <a:rPr lang="en-US" altLang="en-US" sz="800" dirty="0">
                  <a:latin typeface="Arial" panose="020B0604020202020204" pitchFamily="34" charset="0"/>
                </a:rPr>
                <a:t> decision. Wimbledon could theoretically place much more inventory behind a paywall, but the BBC provides extraordinary reach and cultural relevance in the UK. The AELTC therefore appears to </a:t>
              </a:r>
              <a:r>
                <a:rPr lang="en-US" altLang="en-US" sz="800" dirty="0" err="1">
                  <a:latin typeface="Arial" panose="020B0604020202020204" pitchFamily="34" charset="0"/>
                </a:rPr>
                <a:t>optimise</a:t>
              </a:r>
              <a:r>
                <a:rPr lang="en-US" altLang="en-US" sz="800" dirty="0">
                  <a:latin typeface="Arial" panose="020B0604020202020204" pitchFamily="34" charset="0"/>
                </a:rPr>
                <a:t> for a combination of rights value + audience reach + long-term brand equity.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This differentiates Wimbledon from many premium sports properties. Rather than repeatedly forcing broadcasters into competitive tenders, the AELTC has used very long strategic relationships — BBC domestically, Disney across the Americas and IMG internationally — to provide revenue visibility and distribution stability.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Local-player success creates meaningful incremental pricing upside. Italy's upcoming ~50%+ uplift and Poland's ~$7m annual valuation demonstrate how national stars can rapidly reprice individual territories.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Betting rights are becoming a meaningful third </a:t>
              </a:r>
              <a:r>
                <a:rPr lang="en-US" altLang="en-US" sz="800" dirty="0" err="1">
                  <a:latin typeface="Arial" panose="020B0604020202020204" pitchFamily="34" charset="0"/>
                </a:rPr>
                <a:t>monetisation</a:t>
              </a:r>
              <a:r>
                <a:rPr lang="en-US" altLang="en-US" sz="800" dirty="0">
                  <a:latin typeface="Arial" panose="020B0604020202020204" pitchFamily="34" charset="0"/>
                </a:rPr>
                <a:t> layer. The &gt;£15.5m minimum guarantee plus revenue share from 2027 provides incremental economics without </a:t>
              </a:r>
              <a:r>
                <a:rPr lang="en-US" altLang="en-US" sz="800" dirty="0" err="1">
                  <a:latin typeface="Arial" panose="020B0604020202020204" pitchFamily="34" charset="0"/>
                </a:rPr>
                <a:t>cannibalising</a:t>
              </a:r>
              <a:r>
                <a:rPr lang="en-US" altLang="en-US" sz="800" dirty="0">
                  <a:latin typeface="Arial" panose="020B0604020202020204" pitchFamily="34" charset="0"/>
                </a:rPr>
                <a:t> primary consumer broadcast packages.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China appears materially under-</a:t>
              </a:r>
              <a:r>
                <a:rPr lang="en-US" altLang="en-US" sz="800" dirty="0" err="1">
                  <a:latin typeface="Arial" panose="020B0604020202020204" pitchFamily="34" charset="0"/>
                </a:rPr>
                <a:t>monetised</a:t>
              </a:r>
              <a:r>
                <a:rPr lang="en-US" altLang="en-US" sz="800" dirty="0">
                  <a:latin typeface="Arial" panose="020B0604020202020204" pitchFamily="34" charset="0"/>
                </a:rPr>
                <a:t> relative to its scale. Tencent's digital rights reach only ~$1m by 2027, although CCTV/SMG provide additional exposure. This suggests Wimbledon currently </a:t>
              </a:r>
              <a:r>
                <a:rPr lang="en-US" altLang="en-US" sz="800" dirty="0" err="1">
                  <a:latin typeface="Arial" panose="020B0604020202020204" pitchFamily="34" charset="0"/>
                </a:rPr>
                <a:t>prioritises</a:t>
              </a:r>
              <a:r>
                <a:rPr lang="en-US" altLang="en-US" sz="800" dirty="0">
                  <a:latin typeface="Arial" panose="020B0604020202020204" pitchFamily="34" charset="0"/>
                </a:rPr>
                <a:t> reach and market development more than near-term rights </a:t>
              </a:r>
              <a:r>
                <a:rPr lang="en-US" altLang="en-US" sz="800" dirty="0" err="1">
                  <a:latin typeface="Arial" panose="020B0604020202020204" pitchFamily="34" charset="0"/>
                </a:rPr>
                <a:t>maximisation</a:t>
              </a:r>
              <a:r>
                <a:rPr lang="en-US" altLang="en-US" sz="800" dirty="0">
                  <a:latin typeface="Arial" panose="020B0604020202020204" pitchFamily="34" charset="0"/>
                </a:rPr>
                <a:t> there.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Overall: Wimbledon combines scarcity, global prestige, strong FTA reach and exceptionally valuable anchor contracts. Its &gt;$260m annual media-rights revenue is especially impressive given the competition lasts only two weeks. The central strength is not simply </a:t>
              </a:r>
              <a:r>
                <a:rPr lang="en-US" altLang="en-US" sz="800" dirty="0" err="1">
                  <a:latin typeface="Arial" panose="020B0604020202020204" pitchFamily="34" charset="0"/>
                </a:rPr>
                <a:t>maximising</a:t>
              </a:r>
              <a:r>
                <a:rPr lang="en-US" altLang="en-US" sz="800" dirty="0">
                  <a:latin typeface="Arial" panose="020B0604020202020204" pitchFamily="34" charset="0"/>
                </a:rPr>
                <a:t> every territory independently, but balancing premium pricing with broad distribution and long-term broadcaster relationships, which reinforces the tournament's cultural relevance and supports its pricing power over time.</a:t>
              </a:r>
            </a:p>
          </p:txBody>
        </p:sp>
      </p:grpSp>
      <p:sp>
        <p:nvSpPr>
          <p:cNvPr id="31" name="TextBox 30">
            <a:extLst>
              <a:ext uri="{FF2B5EF4-FFF2-40B4-BE49-F238E27FC236}">
                <a16:creationId xmlns:a16="http://schemas.microsoft.com/office/drawing/2014/main" id="{22F18045-B869-9398-8BB5-8D42017B90B2}"/>
              </a:ext>
            </a:extLst>
          </p:cNvPr>
          <p:cNvSpPr txBox="1"/>
          <p:nvPr/>
        </p:nvSpPr>
        <p:spPr>
          <a:xfrm>
            <a:off x="5222292" y="1040889"/>
            <a:ext cx="2401380" cy="5632311"/>
          </a:xfrm>
          <a:prstGeom prst="rect">
            <a:avLst/>
          </a:prstGeom>
          <a:noFill/>
        </p:spPr>
        <p:txBody>
          <a:bodyPr wrap="square">
            <a:spAutoFit/>
          </a:bodyPr>
          <a:lstStyle/>
          <a:p>
            <a:pPr marL="171450" lvl="0" indent="-171450" eaLnBrk="0" fontAlgn="base" hangingPunct="0">
              <a:spcBef>
                <a:spcPct val="0"/>
              </a:spcBef>
              <a:spcAft>
                <a:spcPct val="0"/>
              </a:spcAft>
              <a:buFont typeface="Arial" panose="020B0604020202020204" pitchFamily="34" charset="0"/>
              <a:buChar char="•"/>
            </a:pPr>
            <a:r>
              <a:rPr lang="en-US" altLang="en-US" sz="900" dirty="0">
                <a:latin typeface="Arial" panose="020B0604020202020204" pitchFamily="34" charset="0"/>
              </a:rPr>
              <a:t>BBC extended through 2033, preserving Wimbledon's distinctive combination of premium rights economics and near-universal domestic reach. </a:t>
            </a:r>
          </a:p>
          <a:p>
            <a:pPr marL="171450" lvl="0" indent="-171450" eaLnBrk="0" fontAlgn="base" hangingPunct="0">
              <a:spcBef>
                <a:spcPct val="0"/>
              </a:spcBef>
              <a:spcAft>
                <a:spcPct val="0"/>
              </a:spcAft>
              <a:buFont typeface="Arial" panose="020B0604020202020204" pitchFamily="34" charset="0"/>
              <a:buChar char="•"/>
            </a:pPr>
            <a:r>
              <a:rPr lang="en-US" altLang="en-US" sz="900" dirty="0">
                <a:latin typeface="Arial" panose="020B0604020202020204" pitchFamily="34" charset="0"/>
              </a:rPr>
              <a:t>Disney represents Wimbledon's largest individual media contract: its ~$95m/year Americas deal more than doubled the average value of its previous agreement. </a:t>
            </a:r>
          </a:p>
          <a:p>
            <a:pPr marL="171450" lvl="0" indent="-171450" eaLnBrk="0" fontAlgn="base" hangingPunct="0">
              <a:spcBef>
                <a:spcPct val="0"/>
              </a:spcBef>
              <a:spcAft>
                <a:spcPct val="0"/>
              </a:spcAft>
              <a:buFont typeface="Arial" panose="020B0604020202020204" pitchFamily="34" charset="0"/>
              <a:buChar char="•"/>
            </a:pPr>
            <a:r>
              <a:rPr lang="en-US" altLang="en-US" sz="900" dirty="0">
                <a:latin typeface="Arial" panose="020B0604020202020204" pitchFamily="34" charset="0"/>
              </a:rPr>
              <a:t>Notably, both Disney and BBC renewals were effectively negotiated directly rather than through competitive tenders, demonstrating the value Wimbledon places on long-term strategic broadcaster relationships. </a:t>
            </a:r>
          </a:p>
          <a:p>
            <a:pPr marL="171450" lvl="0" indent="-171450" eaLnBrk="0" fontAlgn="base" hangingPunct="0">
              <a:spcBef>
                <a:spcPct val="0"/>
              </a:spcBef>
              <a:spcAft>
                <a:spcPct val="0"/>
              </a:spcAft>
              <a:buFont typeface="Arial" panose="020B0604020202020204" pitchFamily="34" charset="0"/>
              <a:buChar char="•"/>
            </a:pPr>
            <a:r>
              <a:rPr lang="en-US" altLang="en-US" sz="900" dirty="0">
                <a:latin typeface="Arial" panose="020B0604020202020204" pitchFamily="34" charset="0"/>
              </a:rPr>
              <a:t>Betting-rights value continues to increase: the new </a:t>
            </a:r>
            <a:r>
              <a:rPr lang="en-US" altLang="en-US" sz="900" dirty="0" err="1">
                <a:latin typeface="Arial" panose="020B0604020202020204" pitchFamily="34" charset="0"/>
              </a:rPr>
              <a:t>Sportradar</a:t>
            </a:r>
            <a:r>
              <a:rPr lang="en-US" altLang="en-US" sz="900" dirty="0">
                <a:latin typeface="Arial" panose="020B0604020202020204" pitchFamily="34" charset="0"/>
              </a:rPr>
              <a:t> minimum guarantee exceeds £15.5m/year from 2027 versus just over £11m average under the current agreement, with revenue sharing adding further upside. </a:t>
            </a:r>
          </a:p>
          <a:p>
            <a:pPr marL="171450" lvl="0" indent="-171450" eaLnBrk="0" fontAlgn="base" hangingPunct="0">
              <a:spcBef>
                <a:spcPct val="0"/>
              </a:spcBef>
              <a:spcAft>
                <a:spcPct val="0"/>
              </a:spcAft>
              <a:buFont typeface="Arial" panose="020B0604020202020204" pitchFamily="34" charset="0"/>
              <a:buChar char="•"/>
            </a:pPr>
            <a:r>
              <a:rPr lang="en-US" altLang="en-US" sz="900" dirty="0">
                <a:latin typeface="Arial" panose="020B0604020202020204" pitchFamily="34" charset="0"/>
              </a:rPr>
              <a:t>Italy is one of the strongest growth markets: Sky's fee rises from €4–4.5m to almost €7m/year, coinciding with Sinner's emergence as a leading global player. </a:t>
            </a:r>
          </a:p>
          <a:p>
            <a:pPr marL="171450" lvl="0" indent="-171450" eaLnBrk="0" fontAlgn="base" hangingPunct="0">
              <a:spcBef>
                <a:spcPct val="0"/>
              </a:spcBef>
              <a:spcAft>
                <a:spcPct val="0"/>
              </a:spcAft>
              <a:buFont typeface="Arial" panose="020B0604020202020204" pitchFamily="34" charset="0"/>
              <a:buChar char="•"/>
            </a:pPr>
            <a:r>
              <a:rPr lang="en-US" altLang="en-US" sz="900" dirty="0">
                <a:latin typeface="Arial" panose="020B0604020202020204" pitchFamily="34" charset="0"/>
              </a:rPr>
              <a:t>Amazon has entered Wimbledon's rights ecosystem, acquiring Germany/Austria rights from Sky in its first Wimbledon agreement anywhere globally. </a:t>
            </a:r>
          </a:p>
          <a:p>
            <a:pPr marL="171450" lvl="0" indent="-171450" eaLnBrk="0" fontAlgn="base" hangingPunct="0">
              <a:spcBef>
                <a:spcPct val="0"/>
              </a:spcBef>
              <a:spcAft>
                <a:spcPct val="0"/>
              </a:spcAft>
              <a:buFont typeface="Arial" panose="020B0604020202020204" pitchFamily="34" charset="0"/>
              <a:buChar char="•"/>
            </a:pPr>
            <a:r>
              <a:rPr lang="en-US" altLang="en-US" sz="900" dirty="0">
                <a:latin typeface="Arial" panose="020B0604020202020204" pitchFamily="34" charset="0"/>
              </a:rPr>
              <a:t>WBD has continued consolidating its position as a pan-European Grand Slam broadcaster, holding all four majors across multiple European markets. </a:t>
            </a:r>
          </a:p>
          <a:p>
            <a:pPr marL="171450" lvl="0" indent="-171450" eaLnBrk="0" fontAlgn="base" hangingPunct="0">
              <a:spcBef>
                <a:spcPct val="0"/>
              </a:spcBef>
              <a:spcAft>
                <a:spcPct val="0"/>
              </a:spcAft>
              <a:buFont typeface="Arial" panose="020B0604020202020204" pitchFamily="34" charset="0"/>
              <a:buChar char="•"/>
            </a:pPr>
            <a:r>
              <a:rPr lang="en-US" altLang="en-US" sz="900" dirty="0">
                <a:latin typeface="Arial" panose="020B0604020202020204" pitchFamily="34" charset="0"/>
              </a:rPr>
              <a:t>Currency movements are becoming increasingly relevant: Japan's dollar-denominated fee declined despite stable local-currency economics and solid viewing performance. </a:t>
            </a:r>
          </a:p>
        </p:txBody>
      </p:sp>
    </p:spTree>
    <p:extLst>
      <p:ext uri="{BB962C8B-B14F-4D97-AF65-F5344CB8AC3E}">
        <p14:creationId xmlns:p14="http://schemas.microsoft.com/office/powerpoint/2010/main" val="1202034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609761-1E17-0EC9-89D0-E830351EAD4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453A802-DC28-010B-03FD-384CC571C95B}"/>
              </a:ext>
            </a:extLst>
          </p:cNvPr>
          <p:cNvSpPr/>
          <p:nvPr/>
        </p:nvSpPr>
        <p:spPr>
          <a:xfrm>
            <a:off x="365760" y="292608"/>
            <a:ext cx="1234440" cy="0"/>
          </a:xfrm>
          <a:prstGeom prst="line">
            <a:avLst/>
          </a:prstGeom>
          <a:noFill/>
          <a:ln w="9525">
            <a:solidFill>
              <a:srgbClr val="8C8C8C"/>
            </a:solidFill>
            <a:prstDash val="solid"/>
          </a:ln>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3" name="Text 1">
            <a:extLst>
              <a:ext uri="{FF2B5EF4-FFF2-40B4-BE49-F238E27FC236}">
                <a16:creationId xmlns:a16="http://schemas.microsoft.com/office/drawing/2014/main" id="{660ECC19-5016-4795-A1C3-D2DA4C634C58}"/>
              </a:ext>
            </a:extLst>
          </p:cNvPr>
          <p:cNvSpPr/>
          <p:nvPr/>
        </p:nvSpPr>
        <p:spPr>
          <a:xfrm>
            <a:off x="365760" y="365760"/>
            <a:ext cx="2286000" cy="365760"/>
          </a:xfrm>
          <a:prstGeom prst="rect">
            <a:avLst/>
          </a:prstGeom>
          <a:noFill/>
          <a:ln/>
        </p:spPr>
        <p:txBody>
          <a:bodyPr wrap="square" lIns="0" tIns="0" rIns="0" bIns="0" rtlCol="0" anchor="ctr"/>
          <a:lstStyle/>
          <a:p>
            <a:pPr marL="0" indent="0">
              <a:buNone/>
            </a:pPr>
            <a:r>
              <a:rPr lang="en-US" sz="900" kern="0" spc="100" dirty="0">
                <a:solidFill>
                  <a:srgbClr val="A38A57"/>
                </a:solidFill>
                <a:latin typeface="Lato" panose="020F0502020204030203" pitchFamily="34" charset="0"/>
                <a:ea typeface="Lato" panose="020F0502020204030203" pitchFamily="34" charset="0"/>
                <a:cs typeface="Lato" panose="020F0502020204030203" pitchFamily="34" charset="0"/>
              </a:rPr>
              <a:t>PGA TOUR</a:t>
            </a:r>
            <a:endParaRPr lang="en-US" sz="900" dirty="0">
              <a:latin typeface="Lato" panose="020F0502020204030203" pitchFamily="34" charset="0"/>
              <a:ea typeface="Lato" panose="020F0502020204030203" pitchFamily="34" charset="0"/>
              <a:cs typeface="Lato" panose="020F0502020204030203" pitchFamily="34" charset="0"/>
            </a:endParaRPr>
          </a:p>
        </p:txBody>
      </p:sp>
      <p:grpSp>
        <p:nvGrpSpPr>
          <p:cNvPr id="21" name="Group 20">
            <a:extLst>
              <a:ext uri="{FF2B5EF4-FFF2-40B4-BE49-F238E27FC236}">
                <a16:creationId xmlns:a16="http://schemas.microsoft.com/office/drawing/2014/main" id="{41E51392-CA6A-7C03-1B28-077D3B843A63}"/>
              </a:ext>
            </a:extLst>
          </p:cNvPr>
          <p:cNvGrpSpPr/>
          <p:nvPr/>
        </p:nvGrpSpPr>
        <p:grpSpPr>
          <a:xfrm>
            <a:off x="62269" y="604483"/>
            <a:ext cx="1247428" cy="6143557"/>
            <a:chOff x="349769" y="937648"/>
            <a:chExt cx="2106767" cy="5508872"/>
          </a:xfrm>
        </p:grpSpPr>
        <p:sp>
          <p:nvSpPr>
            <p:cNvPr id="4" name="Shape 2">
              <a:extLst>
                <a:ext uri="{FF2B5EF4-FFF2-40B4-BE49-F238E27FC236}">
                  <a16:creationId xmlns:a16="http://schemas.microsoft.com/office/drawing/2014/main" id="{1A8F2074-BAD9-122F-70E1-E78EBD9C5B6E}"/>
                </a:ext>
              </a:extLst>
            </p:cNvPr>
            <p:cNvSpPr/>
            <p:nvPr/>
          </p:nvSpPr>
          <p:spPr>
            <a:xfrm>
              <a:off x="371704"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5" name="Text 3">
              <a:extLst>
                <a:ext uri="{FF2B5EF4-FFF2-40B4-BE49-F238E27FC236}">
                  <a16:creationId xmlns:a16="http://schemas.microsoft.com/office/drawing/2014/main" id="{ECB476F3-577D-CDBA-0033-4A185909FA63}"/>
                </a:ext>
              </a:extLst>
            </p:cNvPr>
            <p:cNvSpPr/>
            <p:nvPr/>
          </p:nvSpPr>
          <p:spPr>
            <a:xfrm>
              <a:off x="349769" y="937648"/>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Overview</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6" name="Text 4">
              <a:extLst>
                <a:ext uri="{FF2B5EF4-FFF2-40B4-BE49-F238E27FC236}">
                  <a16:creationId xmlns:a16="http://schemas.microsoft.com/office/drawing/2014/main" id="{31FAF4B9-1F21-AF1F-6A4D-B96A45AE5F36}"/>
                </a:ext>
              </a:extLst>
            </p:cNvPr>
            <p:cNvSpPr/>
            <p:nvPr/>
          </p:nvSpPr>
          <p:spPr>
            <a:xfrm>
              <a:off x="486929" y="1265622"/>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endParaRPr lang="en-US" altLang="en-US" sz="700" dirty="0">
                <a:latin typeface="Lato" panose="020F0502020204030203" pitchFamily="34" charset="0"/>
                <a:ea typeface="Lato" panose="020F0502020204030203" pitchFamily="34" charset="0"/>
                <a:cs typeface="Lato" panose="020F0502020204030203" pitchFamily="34" charset="0"/>
              </a:endParaRP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Sport: golf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Property: PGA Tour, the leading US-based men's professional golf tour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Annual media-rights revenue is approaching $1bn, with approximately $900m expected in 2026.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Approximately 75% of media-rights revenue comes from the US, making the PGA Tour substantially more domestically concentrated than properties such as the Premier League or F1.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US national rights alone are worth approximately $700m/year across CBS, NBC and ESPN+, under agreements running through 2030.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International rights have been sold in-house since 2023, following the restructuring of the Tour's $2bn global partnership with Warner Bros. Discovery and closure of </a:t>
              </a:r>
              <a:r>
                <a:rPr lang="en-US" altLang="en-US" sz="700" dirty="0" err="1">
                  <a:latin typeface="Lato" panose="020F0502020204030203" pitchFamily="34" charset="0"/>
                  <a:ea typeface="Lato" panose="020F0502020204030203" pitchFamily="34" charset="0"/>
                  <a:cs typeface="Lato" panose="020F0502020204030203" pitchFamily="34" charset="0"/>
                </a:rPr>
                <a:t>GolfTV</a:t>
              </a:r>
              <a:r>
                <a:rPr lang="en-US" altLang="en-US" sz="700" dirty="0">
                  <a:latin typeface="Lato" panose="020F0502020204030203" pitchFamily="34" charset="0"/>
                  <a:ea typeface="Lato" panose="020F0502020204030203" pitchFamily="34" charset="0"/>
                  <a:cs typeface="Lato" panose="020F0502020204030203" pitchFamily="34" charset="0"/>
                </a:rPr>
                <a:t>.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The Tour is considering a significant competition redesign, potentially featuring fewer but more prominent tournaments, greater scarcity and promotion/relegation. </a:t>
              </a:r>
            </a:p>
            <a:p>
              <a:pPr marL="171450" lvl="0" indent="-171450" eaLnBrk="0" fontAlgn="base" hangingPunct="0">
                <a:spcBef>
                  <a:spcPct val="0"/>
                </a:spcBef>
                <a:spcAft>
                  <a:spcPct val="0"/>
                </a:spcAft>
                <a:buFont typeface="Arial" panose="020B0604020202020204" pitchFamily="34" charset="0"/>
                <a:buChar char="•"/>
              </a:pPr>
              <a:r>
                <a:rPr lang="en-US" altLang="en-US" sz="700" dirty="0">
                  <a:latin typeface="Lato" panose="020F0502020204030203" pitchFamily="34" charset="0"/>
                  <a:ea typeface="Lato" panose="020F0502020204030203" pitchFamily="34" charset="0"/>
                  <a:cs typeface="Lato" panose="020F0502020204030203" pitchFamily="34" charset="0"/>
                </a:rPr>
                <a:t>International agreements generally expire no later than 2030, preserving flexibility should the competition format change. </a:t>
              </a:r>
            </a:p>
          </p:txBody>
        </p:sp>
      </p:grpSp>
      <p:grpSp>
        <p:nvGrpSpPr>
          <p:cNvPr id="22" name="Group 21">
            <a:extLst>
              <a:ext uri="{FF2B5EF4-FFF2-40B4-BE49-F238E27FC236}">
                <a16:creationId xmlns:a16="http://schemas.microsoft.com/office/drawing/2014/main" id="{145EE4B9-28F1-60DE-7032-E4027FE42C25}"/>
              </a:ext>
            </a:extLst>
          </p:cNvPr>
          <p:cNvGrpSpPr/>
          <p:nvPr/>
        </p:nvGrpSpPr>
        <p:grpSpPr>
          <a:xfrm>
            <a:off x="1364244" y="731519"/>
            <a:ext cx="1796285" cy="6016521"/>
            <a:chOff x="2712568" y="1051560"/>
            <a:chExt cx="2084832" cy="5394960"/>
          </a:xfrm>
        </p:grpSpPr>
        <p:sp>
          <p:nvSpPr>
            <p:cNvPr id="7" name="Shape 5">
              <a:extLst>
                <a:ext uri="{FF2B5EF4-FFF2-40B4-BE49-F238E27FC236}">
                  <a16:creationId xmlns:a16="http://schemas.microsoft.com/office/drawing/2014/main" id="{80F2AF38-A2B4-E326-2251-DA3E798A1005}"/>
                </a:ext>
              </a:extLst>
            </p:cNvPr>
            <p:cNvSpPr/>
            <p:nvPr/>
          </p:nvSpPr>
          <p:spPr>
            <a:xfrm>
              <a:off x="2712568"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8" name="Text 6">
              <a:extLst>
                <a:ext uri="{FF2B5EF4-FFF2-40B4-BE49-F238E27FC236}">
                  <a16:creationId xmlns:a16="http://schemas.microsoft.com/office/drawing/2014/main" id="{7A93CD94-5EF2-4D5B-5339-4141B4CC30AA}"/>
                </a:ext>
              </a:extLst>
            </p:cNvPr>
            <p:cNvSpPr/>
            <p:nvPr/>
          </p:nvSpPr>
          <p:spPr>
            <a:xfrm>
              <a:off x="2712568"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Audience</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9" name="Text 7">
              <a:extLst>
                <a:ext uri="{FF2B5EF4-FFF2-40B4-BE49-F238E27FC236}">
                  <a16:creationId xmlns:a16="http://schemas.microsoft.com/office/drawing/2014/main" id="{7817ED84-7D1F-BAB8-3E5A-C3EF4F580F6C}"/>
                </a:ext>
              </a:extLst>
            </p:cNvPr>
            <p:cNvSpPr/>
            <p:nvPr/>
          </p:nvSpPr>
          <p:spPr>
            <a:xfrm>
              <a:off x="2849728" y="1600200"/>
              <a:ext cx="1810512" cy="4709160"/>
            </a:xfrm>
            <a:prstGeom prst="rect">
              <a:avLst/>
            </a:prstGeom>
            <a:noFill/>
            <a:ln/>
          </p:spPr>
          <p:txBody>
            <a:bodyPr wrap="square" lIns="0" tIns="0" rIns="0" bIns="0" rtlCol="0" anchor="t"/>
            <a:lstStyle/>
            <a:p>
              <a:pPr marL="127000" indent="-127000" algn="l">
                <a:lnSpc>
                  <a:spcPct val="105000"/>
                </a:lnSpc>
                <a:spcAft>
                  <a:spcPts val="600"/>
                </a:spcAft>
                <a:buSzPct val="100000"/>
                <a:buChar char="•"/>
              </a:pPr>
              <a:endParaRPr lang="en-US" sz="800" dirty="0">
                <a:solidFill>
                  <a:srgbClr val="1A1A1A"/>
                </a:solidFill>
                <a:latin typeface="Lato" panose="020F0502020204030203" pitchFamily="34" charset="0"/>
                <a:ea typeface="Lato" panose="020F0502020204030203" pitchFamily="34" charset="0"/>
                <a:cs typeface="Lato" panose="020F0502020204030203" pitchFamily="34" charset="0"/>
              </a:endParaRP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PGA Tour audiences are strongest in the US, consistent with the market contributing roughly three-quarters of total media-rights income.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The UK is the Tour's second-largest individual media market, illustrating golf's particularly strong commercial position in the UK and Ireland.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Japan is another major international market, supporting three separate PGA Tour broadcasters — U-Next, </a:t>
              </a:r>
              <a:r>
                <a:rPr lang="en-US" sz="800" dirty="0" err="1">
                  <a:solidFill>
                    <a:srgbClr val="1A1A1A"/>
                  </a:solidFill>
                  <a:latin typeface="Lato" panose="020F0502020204030203" pitchFamily="34" charset="0"/>
                  <a:ea typeface="Lato" panose="020F0502020204030203" pitchFamily="34" charset="0"/>
                  <a:cs typeface="Lato" panose="020F0502020204030203" pitchFamily="34" charset="0"/>
                </a:rPr>
                <a:t>Japanext</a:t>
              </a: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 and Golf Network — unique among markets outside the US.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Canada has demonstrated strong recent demand, with Bell Media's new agreement increasing materially from approximately $10–12m to ~$18m/year.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South Korea is a large golf market, although women's golf often generates stronger interest than men's golf because of participation levels and the success of Korean female players. </a:t>
              </a:r>
            </a:p>
            <a:p>
              <a:pPr marL="127000" indent="-127000" algn="l">
                <a:lnSpc>
                  <a:spcPct val="105000"/>
                </a:lnSpc>
                <a:spcAft>
                  <a:spcPts val="600"/>
                </a:spcAft>
                <a:buSzPct val="100000"/>
                <a:buChar char="•"/>
              </a:pPr>
              <a:r>
                <a:rPr lang="en-US" sz="800" dirty="0">
                  <a:solidFill>
                    <a:srgbClr val="1A1A1A"/>
                  </a:solidFill>
                  <a:latin typeface="Lato" panose="020F0502020204030203" pitchFamily="34" charset="0"/>
                  <a:ea typeface="Lato" panose="020F0502020204030203" pitchFamily="34" charset="0"/>
                  <a:cs typeface="Lato" panose="020F0502020204030203" pitchFamily="34" charset="0"/>
                </a:rPr>
                <a:t>The initial audience/commercial threat from LIV Golf appears to have moderated: PGA Tour has retained many important players and maintained or increased rights values in key markets.</a:t>
              </a:r>
            </a:p>
          </p:txBody>
        </p:sp>
      </p:grpSp>
      <p:grpSp>
        <p:nvGrpSpPr>
          <p:cNvPr id="23" name="Group 22">
            <a:extLst>
              <a:ext uri="{FF2B5EF4-FFF2-40B4-BE49-F238E27FC236}">
                <a16:creationId xmlns:a16="http://schemas.microsoft.com/office/drawing/2014/main" id="{AC306E9A-E0EB-672A-5333-851D1D7D1295}"/>
              </a:ext>
            </a:extLst>
          </p:cNvPr>
          <p:cNvGrpSpPr/>
          <p:nvPr/>
        </p:nvGrpSpPr>
        <p:grpSpPr>
          <a:xfrm>
            <a:off x="3215077" y="731519"/>
            <a:ext cx="2183188" cy="6016521"/>
            <a:chOff x="5053432" y="1051560"/>
            <a:chExt cx="2084832" cy="5394960"/>
          </a:xfrm>
        </p:grpSpPr>
        <p:sp>
          <p:nvSpPr>
            <p:cNvPr id="10" name="Shape 8">
              <a:extLst>
                <a:ext uri="{FF2B5EF4-FFF2-40B4-BE49-F238E27FC236}">
                  <a16:creationId xmlns:a16="http://schemas.microsoft.com/office/drawing/2014/main" id="{058750E2-F9BB-1228-8EBC-AA5030C400A4}"/>
                </a:ext>
              </a:extLst>
            </p:cNvPr>
            <p:cNvSpPr/>
            <p:nvPr/>
          </p:nvSpPr>
          <p:spPr>
            <a:xfrm>
              <a:off x="5053432"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1" name="Text 9">
              <a:extLst>
                <a:ext uri="{FF2B5EF4-FFF2-40B4-BE49-F238E27FC236}">
                  <a16:creationId xmlns:a16="http://schemas.microsoft.com/office/drawing/2014/main" id="{1920E439-4CB9-C15D-894A-E789846C337A}"/>
                </a:ext>
              </a:extLst>
            </p:cNvPr>
            <p:cNvSpPr/>
            <p:nvPr/>
          </p:nvSpPr>
          <p:spPr>
            <a:xfrm>
              <a:off x="5053432"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Media rights deals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2" name="Text 10">
              <a:extLst>
                <a:ext uri="{FF2B5EF4-FFF2-40B4-BE49-F238E27FC236}">
                  <a16:creationId xmlns:a16="http://schemas.microsoft.com/office/drawing/2014/main" id="{CD06C1CD-A614-67E6-0A30-ED81E557050E}"/>
                </a:ext>
              </a:extLst>
            </p:cNvPr>
            <p:cNvSpPr/>
            <p:nvPr/>
          </p:nvSpPr>
          <p:spPr>
            <a:xfrm>
              <a:off x="5072820" y="1525273"/>
              <a:ext cx="2007653"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Total PGA Tour media rights: approximately $900m in 2026, approaching $1bn annually.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USA — CBS + NBC + ESPN+: approximately $700m/year, 2022–30.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USA — ESPN+: approximately $75m/year within the domestic package for PGA Tour Live; represented the Tour's first separately sold US digital-rights package.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UK &amp; Ireland — Sky Sports: current 2026–29 agreement is slightly below the previous ~$32m/year contract; remains the PGA Tour's largest international territory.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Japan — U-Next/</a:t>
              </a:r>
              <a:r>
                <a:rPr lang="en-US" altLang="en-US" sz="800" dirty="0" err="1">
                  <a:latin typeface="Arial" panose="020B0604020202020204" pitchFamily="34" charset="0"/>
                </a:rPr>
                <a:t>Japanext</a:t>
              </a:r>
              <a:r>
                <a:rPr lang="en-US" altLang="en-US" sz="800" dirty="0">
                  <a:latin typeface="Arial" panose="020B0604020202020204" pitchFamily="34" charset="0"/>
                </a:rPr>
                <a:t>/Golf Network: approximately $18m/year combined, 2026–30; broadly flat in USD but higher in local currency due to yen depreciation.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Canada — Bell Media: approximately $18m/year, 2026–30, up from ~$10–12m/year in 2023–25.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Canada — Golf Channel: approximately another $6m/year, bringing identifiable Canadian value to roughly $24m/year.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Europe — WBD: reported at approximately $25m/year across retained European markets through 2027, although </a:t>
              </a:r>
              <a:r>
                <a:rPr lang="en-US" altLang="en-US" sz="800" dirty="0" err="1">
                  <a:latin typeface="Arial" panose="020B0604020202020204" pitchFamily="34" charset="0"/>
                </a:rPr>
                <a:t>SportBusiness</a:t>
              </a:r>
              <a:r>
                <a:rPr lang="en-US" altLang="en-US" sz="800" dirty="0">
                  <a:latin typeface="Arial" panose="020B0604020202020204" pitchFamily="34" charset="0"/>
                </a:rPr>
                <a:t> notes another source believes the actual value is materially lower.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France — Canal+: approximately $8m/year, 2024–30.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DACH — </a:t>
              </a:r>
              <a:r>
                <a:rPr lang="en-US" altLang="en-US" sz="800" dirty="0" err="1">
                  <a:latin typeface="Arial" panose="020B0604020202020204" pitchFamily="34" charset="0"/>
                </a:rPr>
                <a:t>MagentaTV</a:t>
              </a:r>
              <a:r>
                <a:rPr lang="en-US" altLang="en-US" sz="800" dirty="0">
                  <a:latin typeface="Arial" panose="020B0604020202020204" pitchFamily="34" charset="0"/>
                </a:rPr>
                <a:t>/Canal+/Sky: approximately $5m/year combined across PGA Tour + DP World Tour rights in Germany, Austria and Switzerland, 2026–29; Ryder Cup rights were also included in the sales process.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South Korea — SPOTV/Eclat: approximately $4m/year, 2025–27, down ~40% from JTBC's previous ~$7m/year.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Australia — Foxtel: approximately $3.5–5m/year, 2023–26, with a new agreement being negotiated.</a:t>
              </a:r>
            </a:p>
          </p:txBody>
        </p:sp>
      </p:grpSp>
      <p:grpSp>
        <p:nvGrpSpPr>
          <p:cNvPr id="24" name="Group 23">
            <a:extLst>
              <a:ext uri="{FF2B5EF4-FFF2-40B4-BE49-F238E27FC236}">
                <a16:creationId xmlns:a16="http://schemas.microsoft.com/office/drawing/2014/main" id="{386AD9D7-18ED-66CD-10C0-282D2106906C}"/>
              </a:ext>
            </a:extLst>
          </p:cNvPr>
          <p:cNvGrpSpPr/>
          <p:nvPr/>
        </p:nvGrpSpPr>
        <p:grpSpPr>
          <a:xfrm>
            <a:off x="5452814" y="731519"/>
            <a:ext cx="1950522" cy="6016521"/>
            <a:chOff x="7394296" y="1051560"/>
            <a:chExt cx="2203704" cy="5394960"/>
          </a:xfrm>
        </p:grpSpPr>
        <p:sp>
          <p:nvSpPr>
            <p:cNvPr id="13" name="Shape 11">
              <a:extLst>
                <a:ext uri="{FF2B5EF4-FFF2-40B4-BE49-F238E27FC236}">
                  <a16:creationId xmlns:a16="http://schemas.microsoft.com/office/drawing/2014/main" id="{39552434-4CCA-C720-8C29-F966C1DA16F2}"/>
                </a:ext>
              </a:extLst>
            </p:cNvPr>
            <p:cNvSpPr/>
            <p:nvPr/>
          </p:nvSpPr>
          <p:spPr>
            <a:xfrm>
              <a:off x="7394296" y="1051560"/>
              <a:ext cx="2203704"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a:latin typeface="Lato" panose="020F0502020204030203" pitchFamily="34" charset="0"/>
                <a:ea typeface="Lato" panose="020F0502020204030203" pitchFamily="34" charset="0"/>
                <a:cs typeface="Lato" panose="020F0502020204030203" pitchFamily="34" charset="0"/>
              </a:endParaRPr>
            </a:p>
          </p:txBody>
        </p:sp>
        <p:sp>
          <p:nvSpPr>
            <p:cNvPr id="14" name="Text 12">
              <a:extLst>
                <a:ext uri="{FF2B5EF4-FFF2-40B4-BE49-F238E27FC236}">
                  <a16:creationId xmlns:a16="http://schemas.microsoft.com/office/drawing/2014/main" id="{0AE9E17E-B930-7CFE-0E6F-1A236DE0EC07}"/>
                </a:ext>
              </a:extLst>
            </p:cNvPr>
            <p:cNvSpPr/>
            <p:nvPr/>
          </p:nvSpPr>
          <p:spPr>
            <a:xfrm>
              <a:off x="7449381"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Recent developments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5" name="Text 13">
              <a:extLst>
                <a:ext uri="{FF2B5EF4-FFF2-40B4-BE49-F238E27FC236}">
                  <a16:creationId xmlns:a16="http://schemas.microsoft.com/office/drawing/2014/main" id="{16C424E7-4BBD-1921-CB93-DDC432F60C57}"/>
                </a:ext>
              </a:extLst>
            </p:cNvPr>
            <p:cNvSpPr/>
            <p:nvPr/>
          </p:nvSpPr>
          <p:spPr>
            <a:xfrm>
              <a:off x="7464281" y="1600200"/>
              <a:ext cx="206993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PGA Tour has successfully taken international rights sales back in-house. The original WBD relationship was a 12-year, $2bn global agreement, but </a:t>
              </a:r>
              <a:r>
                <a:rPr lang="en-US" altLang="en-US" sz="800" dirty="0" err="1">
                  <a:latin typeface="Arial" panose="020B0604020202020204" pitchFamily="34" charset="0"/>
                </a:rPr>
                <a:t>GolfTV</a:t>
              </a:r>
              <a:r>
                <a:rPr lang="en-US" altLang="en-US" sz="800" dirty="0">
                  <a:latin typeface="Arial" panose="020B0604020202020204" pitchFamily="34" charset="0"/>
                </a:rPr>
                <a:t> closed in 2022 and the structure was subsequently dismantled.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WBD retains selected Latin American and European rights, but strategically important markets including the UK, France and Germany are now carved out and separately </a:t>
              </a:r>
              <a:r>
                <a:rPr lang="en-US" altLang="en-US" sz="800" dirty="0" err="1">
                  <a:latin typeface="Arial" panose="020B0604020202020204" pitchFamily="34" charset="0"/>
                </a:rPr>
                <a:t>monetised</a:t>
              </a:r>
              <a:r>
                <a:rPr lang="en-US" altLang="en-US" sz="800" dirty="0">
                  <a:latin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Joint selling with the DP World Tour is increasing. The new UK agreement was the first time the two tours formally sold rights together, while DACH rights were also marketed concurrently.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Canada delivered one of the strongest recent uplifts, with Bell Media increasing its fee from ~$10–12m to ~$18m/year.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South Korea moved in the opposite direction, declining ~40% to ~$4m/year amid political uncertainty.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LIV's immediate commercial threat has receded. Despite attracting major players after launching in 2022, the PGA Tour has broadly maintained its rights economics; LIV itself generated only $2.8m of non-US media-rights revenue in 2024.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The Tour is contemplating a major competition redesign designed to increase scarcity and prominence of individual events.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Potential early NFL rights negotiations could accelerate PGA Tour's own US renewal process, as the Tour may seek to secure broadcaster budgets before the NFL returns to market. </a:t>
              </a:r>
            </a:p>
          </p:txBody>
        </p:sp>
      </p:grpSp>
      <p:grpSp>
        <p:nvGrpSpPr>
          <p:cNvPr id="26" name="Group 25">
            <a:extLst>
              <a:ext uri="{FF2B5EF4-FFF2-40B4-BE49-F238E27FC236}">
                <a16:creationId xmlns:a16="http://schemas.microsoft.com/office/drawing/2014/main" id="{E0EB9381-C53B-6B6B-4F2F-364F0EE9C3CD}"/>
              </a:ext>
            </a:extLst>
          </p:cNvPr>
          <p:cNvGrpSpPr/>
          <p:nvPr/>
        </p:nvGrpSpPr>
        <p:grpSpPr>
          <a:xfrm>
            <a:off x="7465280" y="731519"/>
            <a:ext cx="4651463" cy="6016521"/>
            <a:chOff x="9735160" y="1051560"/>
            <a:chExt cx="2084832" cy="5394960"/>
          </a:xfrm>
        </p:grpSpPr>
        <p:sp>
          <p:nvSpPr>
            <p:cNvPr id="16" name="Shape 14">
              <a:extLst>
                <a:ext uri="{FF2B5EF4-FFF2-40B4-BE49-F238E27FC236}">
                  <a16:creationId xmlns:a16="http://schemas.microsoft.com/office/drawing/2014/main" id="{6BC666AB-A5F0-0F6D-719A-106E1AC18FD3}"/>
                </a:ext>
              </a:extLst>
            </p:cNvPr>
            <p:cNvSpPr/>
            <p:nvPr/>
          </p:nvSpPr>
          <p:spPr>
            <a:xfrm>
              <a:off x="9735160" y="1051560"/>
              <a:ext cx="2084832" cy="5394960"/>
            </a:xfrm>
            <a:prstGeom prst="roundRect">
              <a:avLst>
                <a:gd name="adj" fmla="val 5263"/>
              </a:avLst>
            </a:prstGeom>
            <a:solidFill>
              <a:srgbClr val="FFFFFF"/>
            </a:solidFill>
            <a:ln w="12700">
              <a:solidFill>
                <a:srgbClr val="A38A57"/>
              </a:solidFill>
              <a:prstDash val="solid"/>
            </a:ln>
            <a:effectLst>
              <a:outerShdw blurRad="38100" dist="12700" dir="5400000" algn="bl" rotWithShape="0">
                <a:srgbClr val="000000">
                  <a:alpha val="15000"/>
                </a:srgbClr>
              </a:outerShdw>
            </a:effectLst>
          </p:spPr>
          <p:txBody>
            <a:bodyPr/>
            <a:lstStyle/>
            <a:p>
              <a:endParaRPr lang="en-US" sz="900" dirty="0">
                <a:latin typeface="Lato" panose="020F0502020204030203" pitchFamily="34" charset="0"/>
                <a:ea typeface="Lato" panose="020F0502020204030203" pitchFamily="34" charset="0"/>
                <a:cs typeface="Lato" panose="020F0502020204030203" pitchFamily="34" charset="0"/>
              </a:endParaRPr>
            </a:p>
          </p:txBody>
        </p:sp>
        <p:sp>
          <p:nvSpPr>
            <p:cNvPr id="17" name="Text 15">
              <a:extLst>
                <a:ext uri="{FF2B5EF4-FFF2-40B4-BE49-F238E27FC236}">
                  <a16:creationId xmlns:a16="http://schemas.microsoft.com/office/drawing/2014/main" id="{664AE67F-C9B0-58E5-2948-CF71320F2226}"/>
                </a:ext>
              </a:extLst>
            </p:cNvPr>
            <p:cNvSpPr/>
            <p:nvPr/>
          </p:nvSpPr>
          <p:spPr>
            <a:xfrm>
              <a:off x="9735160" y="1188720"/>
              <a:ext cx="2084832" cy="457200"/>
            </a:xfrm>
            <a:prstGeom prst="rect">
              <a:avLst/>
            </a:prstGeom>
            <a:noFill/>
            <a:ln/>
          </p:spPr>
          <p:txBody>
            <a:bodyPr wrap="square" lIns="0" tIns="0" rIns="0" bIns="0" rtlCol="0" anchor="ctr"/>
            <a:lstStyle/>
            <a:p>
              <a:pPr marL="0" indent="0" algn="ctr">
                <a:buNone/>
              </a:pPr>
              <a:r>
                <a:rPr lang="en-US" sz="1100" b="1" dirty="0">
                  <a:solidFill>
                    <a:srgbClr val="1A1A1A"/>
                  </a:solidFill>
                  <a:latin typeface="Lato" panose="020F0502020204030203" pitchFamily="34" charset="0"/>
                  <a:ea typeface="Lato" panose="020F0502020204030203" pitchFamily="34" charset="0"/>
                  <a:cs typeface="Lato" panose="020F0502020204030203" pitchFamily="34" charset="0"/>
                </a:rPr>
                <a:t>Analysis</a:t>
              </a:r>
              <a:endParaRPr lang="en-US" sz="1100" dirty="0">
                <a:latin typeface="Lato" panose="020F0502020204030203" pitchFamily="34" charset="0"/>
                <a:ea typeface="Lato" panose="020F0502020204030203" pitchFamily="34" charset="0"/>
                <a:cs typeface="Lato" panose="020F0502020204030203" pitchFamily="34" charset="0"/>
              </a:endParaRPr>
            </a:p>
          </p:txBody>
        </p:sp>
        <p:sp>
          <p:nvSpPr>
            <p:cNvPr id="18" name="Text 16">
              <a:extLst>
                <a:ext uri="{FF2B5EF4-FFF2-40B4-BE49-F238E27FC236}">
                  <a16:creationId xmlns:a16="http://schemas.microsoft.com/office/drawing/2014/main" id="{C28DA384-35AC-AC5D-DF8A-843308A56261}"/>
                </a:ext>
              </a:extLst>
            </p:cNvPr>
            <p:cNvSpPr/>
            <p:nvPr/>
          </p:nvSpPr>
          <p:spPr>
            <a:xfrm>
              <a:off x="9872320" y="1558684"/>
              <a:ext cx="1810512" cy="4709160"/>
            </a:xfrm>
            <a:prstGeom prst="rect">
              <a:avLst/>
            </a:prstGeom>
            <a:noFill/>
            <a:ln/>
          </p:spPr>
          <p:txBody>
            <a:bodyPr wrap="square" lIns="0" tIns="0" rIns="0" bIns="0" rtlCol="0" anchor="t"/>
            <a:lstStyle/>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The PGA Tour is fundamentally a US media property with a global tail. Roughly $700m of ~$900m annual rights revenue comes from the US. This gives it substantial scale but also creates considerable exposure to the health and competitive dynamics of the US sports-media market.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Domestic rights are therefore the key value driver. The current CBS/NBC/ESPN+ agreements lock in substantial economics through 2030, but the next negotiation will be critical to whether the Tour can move decisively above the $1bn annual rights threshold.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NFL timing creates an unusual strategic consideration. Because the NFL absorbs enormous broadcaster budgets, the PGA Tour may prefer to negotiate early rather than compete for dollars after networks commit to a new NFL cycle.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Scarcity appears to be central to the Tour's next strategy. A smaller number of more meaningful tournaments could improve average audience, reduce viewer fatigue and make individual events more valuable to broadcasters. The trade-off would be less overall inventory.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International rights remain comparatively underdeveloped. If ~75% of ~$900m comes from the US, the rest of the world contributes only roughly $225m, despite golf's large global participation base.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Taking rights sales back in-house gives the Tour greater control over this upside. The WBD/</a:t>
              </a:r>
              <a:r>
                <a:rPr lang="en-US" altLang="en-US" sz="800" dirty="0" err="1">
                  <a:latin typeface="Arial" panose="020B0604020202020204" pitchFamily="34" charset="0"/>
                </a:rPr>
                <a:t>GolfTV</a:t>
              </a:r>
              <a:r>
                <a:rPr lang="en-US" altLang="en-US" sz="800" dirty="0">
                  <a:latin typeface="Arial" panose="020B0604020202020204" pitchFamily="34" charset="0"/>
                </a:rPr>
                <a:t> model offered a large guaranteed commitment but reduced direct control; the current structure allows the PGA Tour to </a:t>
              </a:r>
              <a:r>
                <a:rPr lang="en-US" altLang="en-US" sz="800" dirty="0" err="1">
                  <a:latin typeface="Arial" panose="020B0604020202020204" pitchFamily="34" charset="0"/>
                </a:rPr>
                <a:t>optimise</a:t>
              </a:r>
              <a:r>
                <a:rPr lang="en-US" altLang="en-US" sz="800" dirty="0">
                  <a:latin typeface="Arial" panose="020B0604020202020204" pitchFamily="34" charset="0"/>
                </a:rPr>
                <a:t> individual territories and retain more of the economics.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Joint selling with DP World Tour could improve bargaining power internationally. A broader year-round golf proposition gives broadcasters more inventory and potentially reduces fragmentation, particularly in European markets where both tours have relevance.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LIV remains a strategic variable but no longer appears to be an immediate media-rights crisis. PGA rights have generally held up despite player defections, while LIV's $2.8m of 2024 non-US media revenue illustrates the difficulty of translating heavy investment into broadcast value.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However, international performance is uneven. Canada has repriced strongly upward, while the UK is slightly down, Japan is broadly flat and South Korea has declined materially. The growth story is therefore less uniform than F1 or the Premier League. </a:t>
              </a:r>
            </a:p>
            <a:p>
              <a:pPr marL="171450" lvl="0" indent="-171450" eaLnBrk="0" fontAlgn="base" hangingPunct="0">
                <a:spcBef>
                  <a:spcPct val="0"/>
                </a:spcBef>
                <a:spcAft>
                  <a:spcPct val="0"/>
                </a:spcAft>
                <a:buFont typeface="Arial" panose="020B0604020202020204" pitchFamily="34" charset="0"/>
                <a:buChar char="•"/>
              </a:pPr>
              <a:r>
                <a:rPr lang="en-US" altLang="en-US" sz="800" dirty="0">
                  <a:latin typeface="Arial" panose="020B0604020202020204" pitchFamily="34" charset="0"/>
                </a:rPr>
                <a:t>Overall: the PGA Tour is a ~$900m annual media-rights property on the verge of the $1bn threshold, supported by exceptionally valuable long-term US contracts. Its next phase is likely to depend on three interconnected levers: creating greater scarcity through competition reform, expanding international </a:t>
              </a:r>
              <a:r>
                <a:rPr lang="en-US" altLang="en-US" sz="800" dirty="0" err="1">
                  <a:latin typeface="Arial" panose="020B0604020202020204" pitchFamily="34" charset="0"/>
                </a:rPr>
                <a:t>monetisation</a:t>
              </a:r>
              <a:r>
                <a:rPr lang="en-US" altLang="en-US" sz="800" dirty="0">
                  <a:latin typeface="Arial" panose="020B0604020202020204" pitchFamily="34" charset="0"/>
                </a:rPr>
                <a:t> under the in-house sales model, and timing the next US rights process to </a:t>
              </a:r>
              <a:r>
                <a:rPr lang="en-US" altLang="en-US" sz="800" dirty="0" err="1">
                  <a:latin typeface="Arial" panose="020B0604020202020204" pitchFamily="34" charset="0"/>
                </a:rPr>
                <a:t>maximise</a:t>
              </a:r>
              <a:r>
                <a:rPr lang="en-US" altLang="en-US" sz="800" dirty="0">
                  <a:latin typeface="Arial" panose="020B0604020202020204" pitchFamily="34" charset="0"/>
                </a:rPr>
                <a:t> broadcaster competition before major properties—particularly the NFL—absorb available budgets.</a:t>
              </a:r>
            </a:p>
          </p:txBody>
        </p:sp>
      </p:grpSp>
    </p:spTree>
    <p:extLst>
      <p:ext uri="{BB962C8B-B14F-4D97-AF65-F5344CB8AC3E}">
        <p14:creationId xmlns:p14="http://schemas.microsoft.com/office/powerpoint/2010/main" val="1884641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6171</TotalTime>
  <Words>14810</Words>
  <Application>Microsoft Macintosh PowerPoint</Application>
  <PresentationFormat>Widescreen</PresentationFormat>
  <Paragraphs>665</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Tomas Zubrys</cp:lastModifiedBy>
  <cp:revision>10</cp:revision>
  <dcterms:created xsi:type="dcterms:W3CDTF">2026-07-24T09:47:45Z</dcterms:created>
  <dcterms:modified xsi:type="dcterms:W3CDTF">2026-08-11T11:54:53Z</dcterms:modified>
</cp:coreProperties>
</file>