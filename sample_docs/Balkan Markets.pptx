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3039" r:id="rId2"/>
    <p:sldId id="3077" r:id="rId3"/>
    <p:sldId id="307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1"/>
    <p:restoredTop sz="94676"/>
  </p:normalViewPr>
  <p:slideViewPr>
    <p:cSldViewPr snapToGrid="0">
      <p:cViewPr varScale="1">
        <p:scale>
          <a:sx n="100" d="100"/>
          <a:sy n="100" d="100"/>
        </p:scale>
        <p:origin x="1104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50B1D2-5FE2-A64C-B95A-E7DE6160DF28}" type="datetimeFigureOut">
              <a:rPr lang="en-US" smtClean="0"/>
              <a:t>7/10/26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B2C21C-2490-774D-924B-A66E0C946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665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122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3600">
                <a:solidFill>
                  <a:schemeClr val="tx1"/>
                </a:solidFill>
                <a:latin typeface="Lato Light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charset="0"/>
              </a:defRPr>
            </a:lvl5pPr>
            <a:lvl6pPr marL="2514600" indent="-228600" defTabSz="18272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</a:defRPr>
            </a:lvl6pPr>
            <a:lvl7pPr marL="2971800" indent="-228600" defTabSz="18272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</a:defRPr>
            </a:lvl7pPr>
            <a:lvl8pPr marL="3429000" indent="-228600" defTabSz="18272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</a:defRPr>
            </a:lvl8pPr>
            <a:lvl9pPr marL="3886200" indent="-228600" defTabSz="18272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</a:defRPr>
            </a:lvl9pPr>
          </a:lstStyle>
          <a:p>
            <a:pPr marL="0" marR="0" lvl="0" indent="0" algn="r" defTabSz="18272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7A53183-9025-414C-A468-90C55BEEF52C}" type="slidenum">
              <a:rPr kumimoji="0" lang="en-US" altLang="en-US" sz="120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+mn-ea"/>
                <a:cs typeface="+mn-cs"/>
              </a:rPr>
              <a:pPr marL="0" marR="0" lvl="0" indent="0" algn="r" defTabSz="18272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12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anose="020B0606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68487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396CB-9E50-F087-8001-12B132137E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F82D20-D90B-14F9-C78A-4DBB3E2828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7C8B34-EE92-D8ED-3845-39A18A93B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E3C1F-1C48-3A40-870C-97C31D7B0B25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FE0B5F-D9B8-E5BD-D721-672B7503C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1B7BC-7DE5-A0F1-4CA9-8ACE21F38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88CD6-A9FA-EE48-A56B-38F6CBD7CC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650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2DC46-423A-4A5E-F95B-93415CB8B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883AE-0168-5AEC-8BFF-471B432C2A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A7ADB-4F34-360C-BBFD-5D9940A35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E3C1F-1C48-3A40-870C-97C31D7B0B25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C5B917-209A-137C-69BE-5F5244E66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3C0A32-D990-3BC8-2923-7C9B13DBE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88CD6-A9FA-EE48-A56B-38F6CBD7CC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61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3C895-A80C-E4ED-DF30-BB1C471F1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8A6436-4C0F-AD64-D030-5F809C6FFC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4957D4-1711-5A7C-03E2-98DE53C1F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E3C1F-1C48-3A40-870C-97C31D7B0B25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CE220-8706-34CA-AD8C-F80DC4E47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54E68-9765-148B-2734-FAF93B68E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88CD6-A9FA-EE48-A56B-38F6CBD7CC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013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87437-57E2-CFFF-6F92-BBCF07CDD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5A900-B9BE-3AFD-AE05-B963F52721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E828DC-B8D1-660C-4A71-416AB48152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66A542-595F-4AD9-DDB2-3ADA3DAAD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E3C1F-1C48-3A40-870C-97C31D7B0B25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DDC2EC-2754-31D6-9725-8BBBF3608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9BCBF9-4723-6713-6AC2-5C5EA77C3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88CD6-A9FA-EE48-A56B-38F6CBD7CC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999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ED7D7-5794-1CD4-A0A4-C8F43B247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BF0A78-07DB-CA7F-5B27-2DF5FE8EA9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78E243-A44A-CF7C-5B14-4A20406C74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A16A4F-E441-CEC5-B950-33F253BF54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274B3E-6720-8547-7002-B6C44328C7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5B4942-953C-085B-1193-4759D92D2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E3C1F-1C48-3A40-870C-97C31D7B0B25}" type="datetimeFigureOut">
              <a:rPr lang="en-US" smtClean="0"/>
              <a:t>7/10/26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60CC2D-0DE1-DB70-0621-66DFBDA3E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58719A-8420-DF4C-4D2F-7BFCCA616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88CD6-A9FA-EE48-A56B-38F6CBD7CC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722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D8005-8081-BAC1-5A81-E3D1418F0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12F594-7AD5-604D-348D-465AB0899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E3C1F-1C48-3A40-870C-97C31D7B0B25}" type="datetimeFigureOut">
              <a:rPr lang="en-US" smtClean="0"/>
              <a:t>7/10/26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05B07E-A666-139D-B279-90EE6FB5E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E53E42-5E4F-726E-FDE8-70C53BFED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88CD6-A9FA-EE48-A56B-38F6CBD7CC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49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022B7B-CAC7-D7B7-A13E-8DB1AF797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E3C1F-1C48-3A40-870C-97C31D7B0B25}" type="datetimeFigureOut">
              <a:rPr lang="en-US" smtClean="0"/>
              <a:t>7/10/26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1F6183-785F-08C4-DDED-454B4926F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460694-87F9-C0D5-8461-F6CAC9BAE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88CD6-A9FA-EE48-A56B-38F6CBD7CC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205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8C679-5FE0-8645-A5EC-509992D3A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3B67F-9228-CCB1-D773-5959EE028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B5679C-02BE-7BFA-E7B5-F10A68C938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97E496-2936-E804-E8F4-32C510044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E3C1F-1C48-3A40-870C-97C31D7B0B25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45AF72-6775-E823-5583-F496D863B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4F66C9-B2CF-980A-B10E-071D1D02F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88CD6-A9FA-EE48-A56B-38F6CBD7CC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243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BD107-5AE0-4696-C463-B58F78C77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D36C2B-2B85-357B-E53D-51E5751C93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6394D5-3268-36D5-17C5-078DB59235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29A81B-CBBE-AD8F-B368-5122535EF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E3C1F-1C48-3A40-870C-97C31D7B0B25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16F497-4BAB-E872-8AE4-B17D28060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DF7691-648A-9382-345D-B605E9F48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88CD6-A9FA-EE48-A56B-38F6CBD7CC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496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D48DB-5819-30FD-58AD-465627700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293ABE-32FF-0FC6-1CDA-0A35BC0D98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9CAF1-67E4-ABCE-5622-DCC27EC24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E3C1F-1C48-3A40-870C-97C31D7B0B25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B40E5-BEDF-BB14-51E1-81118072F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273099-7852-5992-3DAF-1A3EFDF11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88CD6-A9FA-EE48-A56B-38F6CBD7CC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232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14268F-F4AB-2C64-6414-42A0308247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8B8F23-858D-AB91-FE16-8C7C11170D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EAEB68-71F5-8689-2B93-F05843831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E3C1F-1C48-3A40-870C-97C31D7B0B25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06A387-ED54-BC02-FCE5-0B890C2AF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CF449-B174-13AE-C0BB-9FFADC38A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88CD6-A9FA-EE48-A56B-38F6CBD7CC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9236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4_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24"/>
          </p:nvPr>
        </p:nvSpPr>
        <p:spPr>
          <a:xfrm>
            <a:off x="0" y="0"/>
            <a:ext cx="5938960" cy="6873240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>
              <a:defRPr sz="1400"/>
            </a:lvl1pPr>
          </a:lstStyle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085760907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>
              <a:defRPr sz="1400"/>
            </a:lvl1pPr>
          </a:lstStyle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674882342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DE8CD5-1379-4568-A2F8-2834E12B4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6F44E7-F06B-DD0C-5EAF-9EBC956252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4DA18B-9280-567B-5BFC-04047D36C4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CE3C1F-1C48-3A40-870C-97C31D7B0B25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BDA973-A7A0-CDD8-01F5-179A428EF1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2DDF60-D13E-32F4-D2D1-6EEE8876B3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288CD6-A9FA-EE48-A56B-38F6CBD7CC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716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BBF3A27-A3BA-554F-A144-82F938C568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49710" y="2947133"/>
            <a:ext cx="3092580" cy="963734"/>
          </a:xfrm>
          <a:prstGeom prst="rect">
            <a:avLst/>
          </a:prstGeom>
        </p:spPr>
      </p:pic>
      <p:sp>
        <p:nvSpPr>
          <p:cNvPr id="3" name="TextBox 12">
            <a:extLst>
              <a:ext uri="{FF2B5EF4-FFF2-40B4-BE49-F238E27FC236}">
                <a16:creationId xmlns:a16="http://schemas.microsoft.com/office/drawing/2014/main" id="{18C36065-C441-73A5-D74B-EABB77C20F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3683" y="4821364"/>
            <a:ext cx="878463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charset="0"/>
              </a:defRPr>
            </a:lvl5pPr>
            <a:lvl6pPr marL="2514600" indent="-228600" defTabSz="18272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</a:defRPr>
            </a:lvl6pPr>
            <a:lvl7pPr marL="2971800" indent="-228600" defTabSz="18272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</a:defRPr>
            </a:lvl7pPr>
            <a:lvl8pPr marL="3429000" indent="-228600" defTabSz="18272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</a:defRPr>
            </a:lvl8pPr>
            <a:lvl9pPr marL="3886200" indent="-228600" defTabSz="18272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</a:defRPr>
            </a:lvl9pPr>
          </a:lstStyle>
          <a:p>
            <a:pPr algn="ctr" defTabSz="913379">
              <a:defRPr/>
            </a:pPr>
            <a:r>
              <a:rPr lang="de-DE" sz="1800" spc="300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MAIN TOPIC</a:t>
            </a:r>
          </a:p>
        </p:txBody>
      </p:sp>
      <p:sp>
        <p:nvSpPr>
          <p:cNvPr id="2" name="TextBox 20">
            <a:extLst>
              <a:ext uri="{FF2B5EF4-FFF2-40B4-BE49-F238E27FC236}">
                <a16:creationId xmlns:a16="http://schemas.microsoft.com/office/drawing/2014/main" id="{9DDBBC41-027F-E73C-B9B8-8E269CC4D3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02516" y="6469334"/>
            <a:ext cx="277149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charset="0"/>
              </a:defRPr>
            </a:lvl5pPr>
            <a:lvl6pPr marL="2514600" indent="-228600" defTabSz="18272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</a:defRPr>
            </a:lvl6pPr>
            <a:lvl7pPr marL="2971800" indent="-228600" defTabSz="18272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</a:defRPr>
            </a:lvl7pPr>
            <a:lvl8pPr marL="3429000" indent="-228600" defTabSz="18272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</a:defRPr>
            </a:lvl8pPr>
            <a:lvl9pPr marL="3886200" indent="-228600" defTabSz="18272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</a:defRPr>
            </a:lvl9pPr>
          </a:lstStyle>
          <a:p>
            <a:pPr defTabSz="914172">
              <a:defRPr/>
            </a:pPr>
            <a:r>
              <a:rPr lang="en-US" altLang="en-US" sz="10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DIN Condensed" charset="0"/>
              </a:rPr>
              <a:t>STRICTLY PRIVATE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1719452501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91109-9B7B-A897-36C7-7CF627C38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20">
            <a:extLst>
              <a:ext uri="{FF2B5EF4-FFF2-40B4-BE49-F238E27FC236}">
                <a16:creationId xmlns:a16="http://schemas.microsoft.com/office/drawing/2014/main" id="{A556091C-26F2-97E3-C9E3-71C0DF7AC9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107" y="487830"/>
            <a:ext cx="528420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 charset="0"/>
              </a:defRPr>
            </a:lvl5pPr>
            <a:lvl6pPr marL="2514600" indent="-228600" defTabSz="18272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</a:defRPr>
            </a:lvl6pPr>
            <a:lvl7pPr marL="2971800" indent="-228600" defTabSz="18272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</a:defRPr>
            </a:lvl7pPr>
            <a:lvl8pPr marL="3429000" indent="-228600" defTabSz="18272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</a:defRPr>
            </a:lvl8pPr>
            <a:lvl9pPr marL="3886200" indent="-228600" defTabSz="18272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</a:defRPr>
            </a:lvl9pPr>
          </a:lstStyle>
          <a:p>
            <a:pPr defTabSz="914172">
              <a:defRPr/>
            </a:pPr>
            <a:r>
              <a:rPr lang="en-US" altLang="en-US" sz="1600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DIN Condensed" charset="0"/>
              </a:rPr>
              <a:t>Market Overview – 6 Total Balkan Markets</a:t>
            </a:r>
          </a:p>
        </p:txBody>
      </p:sp>
      <p:cxnSp>
        <p:nvCxnSpPr>
          <p:cNvPr id="11" name="Straight Connector 35">
            <a:extLst>
              <a:ext uri="{FF2B5EF4-FFF2-40B4-BE49-F238E27FC236}">
                <a16:creationId xmlns:a16="http://schemas.microsoft.com/office/drawing/2014/main" id="{DE1000DB-7861-EE81-CD98-7AFC2A0B7431}"/>
              </a:ext>
            </a:extLst>
          </p:cNvPr>
          <p:cNvCxnSpPr/>
          <p:nvPr/>
        </p:nvCxnSpPr>
        <p:spPr>
          <a:xfrm>
            <a:off x="517107" y="487830"/>
            <a:ext cx="1279986" cy="0"/>
          </a:xfrm>
          <a:prstGeom prst="line">
            <a:avLst/>
          </a:prstGeom>
          <a:ln>
            <a:solidFill>
              <a:srgbClr val="AA92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3B18200-E670-0996-C2E2-D6171411B1B0}"/>
              </a:ext>
            </a:extLst>
          </p:cNvPr>
          <p:cNvSpPr txBox="1"/>
          <p:nvPr/>
        </p:nvSpPr>
        <p:spPr bwMode="auto">
          <a:xfrm>
            <a:off x="964424" y="934984"/>
            <a:ext cx="976849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171450" indent="-171450">
              <a:buClr>
                <a:srgbClr val="AA925C"/>
              </a:buClr>
              <a:buFont typeface="Wingdings" pitchFamily="2" charset="2"/>
              <a:buChar char="§"/>
            </a:pPr>
            <a:r>
              <a:rPr lang="en-US" sz="1200" dirty="0">
                <a:latin typeface="Lato "/>
                <a:ea typeface="Lato" panose="020F0502020204030203" pitchFamily="34" charset="0"/>
                <a:cs typeface="Lato" panose="020F0502020204030203" pitchFamily="34" charset="0"/>
              </a:rPr>
              <a:t>~6.8 M households across all markets</a:t>
            </a:r>
          </a:p>
          <a:p>
            <a:pPr marL="171450" indent="-171450">
              <a:buClr>
                <a:srgbClr val="AA925C"/>
              </a:buClr>
              <a:buFont typeface="Wingdings" pitchFamily="2" charset="2"/>
              <a:buChar char="§"/>
            </a:pPr>
            <a:r>
              <a:rPr lang="en-US" sz="1200" dirty="0">
                <a:latin typeface="Lato "/>
                <a:ea typeface="Lato" panose="020F0502020204030203" pitchFamily="34" charset="0"/>
                <a:cs typeface="Lato" panose="020F0502020204030203" pitchFamily="34" charset="0"/>
              </a:rPr>
              <a:t>83%+ internet penetration for all markets</a:t>
            </a:r>
          </a:p>
          <a:p>
            <a:pPr marL="171450" indent="-171450">
              <a:buClr>
                <a:srgbClr val="AA925C"/>
              </a:buClr>
              <a:buFont typeface="Wingdings" pitchFamily="2" charset="2"/>
              <a:buChar char="§"/>
            </a:pPr>
            <a:r>
              <a:rPr lang="en-US" sz="1200" dirty="0">
                <a:latin typeface="Lato "/>
                <a:ea typeface="Lato" panose="020F0502020204030203" pitchFamily="34" charset="0"/>
                <a:cs typeface="Lato" panose="020F0502020204030203" pitchFamily="34" charset="0"/>
              </a:rPr>
              <a:t>70%+ of of households already buy bundled Internet + TV + phone</a:t>
            </a:r>
          </a:p>
          <a:p>
            <a:pPr>
              <a:buClr>
                <a:srgbClr val="AA925C"/>
              </a:buClr>
            </a:pPr>
            <a:r>
              <a:rPr lang="en-US" sz="1200" dirty="0">
                <a:latin typeface="Lato 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</a:p>
          <a:p>
            <a:pPr marL="171450" indent="-171450">
              <a:buClr>
                <a:srgbClr val="AA925C"/>
              </a:buClr>
              <a:buFont typeface="Wingdings" pitchFamily="2" charset="2"/>
              <a:buChar char="§"/>
            </a:pPr>
            <a:endParaRPr lang="en-US" sz="1200" dirty="0">
              <a:latin typeface="Lato 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C71049F-6206-D565-82CA-DCBFEA21D5D5}"/>
              </a:ext>
            </a:extLst>
          </p:cNvPr>
          <p:cNvSpPr/>
          <p:nvPr/>
        </p:nvSpPr>
        <p:spPr>
          <a:xfrm>
            <a:off x="782434" y="1710163"/>
            <a:ext cx="1696453" cy="4800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kern="1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Households: ~2.58M (2022)</a:t>
            </a:r>
          </a:p>
          <a:p>
            <a:endParaRPr lang="en-US" sz="1200" kern="1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sz="1200" kern="1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Internet penetration: 91.8% (2025)</a:t>
            </a:r>
          </a:p>
          <a:p>
            <a:endParaRPr lang="en-US" sz="1200" kern="1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sz="1200" kern="1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Pay-TV mix: Cable-led — 53% of distribution revenue; IPTV 31%; Satellite 14% (2022)</a:t>
            </a:r>
          </a:p>
          <a:p>
            <a:endParaRPr lang="en-US" sz="1200" kern="1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sz="1200" kern="1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Streaming: HBO leads — 377K users, ahead of Netflix (271K) — 2025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B79ACF0-7177-E9D8-0200-37F3D18137D3}"/>
              </a:ext>
            </a:extLst>
          </p:cNvPr>
          <p:cNvSpPr/>
          <p:nvPr/>
        </p:nvSpPr>
        <p:spPr>
          <a:xfrm>
            <a:off x="2522441" y="1710163"/>
            <a:ext cx="1696453" cy="4800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Households: ~1.44M (2021)</a:t>
            </a:r>
          </a:p>
          <a:p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Internet penetration: 83.6% (2021)</a:t>
            </a:r>
          </a:p>
          <a:p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Pay-TV mix: IPTV-led — 50.5% of pay-TV subs (468K via HT/A1/Telemach); DTH 13%</a:t>
            </a:r>
          </a:p>
          <a:p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Streaming: HBO leads — 377K users, ahead of Netflix (211K) — 2025</a:t>
            </a:r>
            <a:endParaRPr lang="en-US" sz="1200" kern="1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4013381-6588-B1E2-93C2-FC56BF4FB0B2}"/>
              </a:ext>
            </a:extLst>
          </p:cNvPr>
          <p:cNvSpPr/>
          <p:nvPr/>
        </p:nvSpPr>
        <p:spPr>
          <a:xfrm>
            <a:off x="4262449" y="1710163"/>
            <a:ext cx="1696453" cy="4800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Households: ~0.86M (2021)</a:t>
            </a:r>
          </a:p>
          <a:p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Internet penetration: 90.8% (2024)</a:t>
            </a:r>
          </a:p>
          <a:p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Pay-TV mix: IPTV-led — 59.1% of households (Telekom Slovenije 213K + Telemach 100K+); DTH 4.6%</a:t>
            </a:r>
          </a:p>
          <a:p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Streaming: HBO leads — 377K users, ahead of Netflix (211K) — 2025</a:t>
            </a:r>
            <a:endParaRPr lang="en-US" sz="1200" kern="1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4ACC5BA-8678-7335-53F8-B1ED5AE1AEBC}"/>
              </a:ext>
            </a:extLst>
          </p:cNvPr>
          <p:cNvSpPr/>
          <p:nvPr/>
        </p:nvSpPr>
        <p:spPr>
          <a:xfrm>
            <a:off x="6002456" y="1710163"/>
            <a:ext cx="1696453" cy="4800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Households: ~1.13M (2025 projection)</a:t>
            </a:r>
          </a:p>
          <a:p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Internet penetration: 86.1% (2024)</a:t>
            </a:r>
          </a:p>
          <a:p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Pay-TV mix: IPTV-led — 42.2% of households (373.5K subs, 2021); DTH ~3.4%</a:t>
            </a:r>
          </a:p>
          <a:p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Streaming: HBO leads — 126K users, ahead of Netflix (121K) — 2025</a:t>
            </a:r>
            <a:endParaRPr lang="en-US" sz="1200" kern="1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B13948D-21FF-2BA6-6957-683DA4806012}"/>
              </a:ext>
            </a:extLst>
          </p:cNvPr>
          <p:cNvSpPr/>
          <p:nvPr/>
        </p:nvSpPr>
        <p:spPr>
          <a:xfrm>
            <a:off x="7742464" y="1710163"/>
            <a:ext cx="1696453" cy="4800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Households: ~215K (2023)</a:t>
            </a:r>
          </a:p>
          <a:p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Internet penetration: 89.8% of population (2025 projection)</a:t>
            </a:r>
          </a:p>
          <a:p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Pay-TV mix: DTH ~28% of households (2018, latest available); IPTV assumed dominant, no exact figure</a:t>
            </a:r>
          </a:p>
          <a:p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Streaming: HBO leads — 126K users, ahead of Netflix (30K) — 2025 · OTT market ~€21.3M (2024 est.)</a:t>
            </a:r>
            <a:endParaRPr lang="en-US" sz="1200" kern="1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C389B83-B379-E496-368F-4B48F520F592}"/>
              </a:ext>
            </a:extLst>
          </p:cNvPr>
          <p:cNvSpPr/>
          <p:nvPr/>
        </p:nvSpPr>
        <p:spPr>
          <a:xfrm>
            <a:off x="9482472" y="1710162"/>
            <a:ext cx="1696453" cy="4800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Households: ~599K (2021)</a:t>
            </a:r>
          </a:p>
          <a:p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Internet penetration: 87.2% (2024)</a:t>
            </a:r>
          </a:p>
          <a:p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Pay-TV mix: Cable-led — 86% of TV subs (2023); IPTV (</a:t>
            </a:r>
            <a:r>
              <a:rPr lang="en-US" sz="12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Makedonski</a:t>
            </a: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Telekom) 159K subs (2024)</a:t>
            </a:r>
          </a:p>
          <a:p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Streaming: HBO leads — 126K users, ahead of Netflix (60K) — 2025</a:t>
            </a:r>
            <a:endParaRPr lang="en-US" sz="1200" kern="1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AE3512-708F-A422-C0DC-0FA4C6029640}"/>
              </a:ext>
            </a:extLst>
          </p:cNvPr>
          <p:cNvSpPr txBox="1"/>
          <p:nvPr/>
        </p:nvSpPr>
        <p:spPr bwMode="auto">
          <a:xfrm>
            <a:off x="964424" y="2051135"/>
            <a:ext cx="125097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sz="1200" dirty="0">
                <a:solidFill>
                  <a:srgbClr val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Serbia</a:t>
            </a: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3BCC23-6840-5B6D-484B-537D4E3EDD7E}"/>
              </a:ext>
            </a:extLst>
          </p:cNvPr>
          <p:cNvSpPr txBox="1"/>
          <p:nvPr/>
        </p:nvSpPr>
        <p:spPr bwMode="auto">
          <a:xfrm>
            <a:off x="2660877" y="2051135"/>
            <a:ext cx="125097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sz="1200" dirty="0">
                <a:solidFill>
                  <a:srgbClr val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Croatia</a:t>
            </a: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E664FB-E47F-B22A-4FC1-A53ECEABE776}"/>
              </a:ext>
            </a:extLst>
          </p:cNvPr>
          <p:cNvSpPr txBox="1"/>
          <p:nvPr/>
        </p:nvSpPr>
        <p:spPr bwMode="auto">
          <a:xfrm>
            <a:off x="4444440" y="2051134"/>
            <a:ext cx="125097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sz="1200" dirty="0">
                <a:solidFill>
                  <a:srgbClr val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Slovenia</a:t>
            </a: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42D894-0EE9-DF4D-AB85-4004F19BB5AC}"/>
              </a:ext>
            </a:extLst>
          </p:cNvPr>
          <p:cNvSpPr txBox="1"/>
          <p:nvPr/>
        </p:nvSpPr>
        <p:spPr bwMode="auto">
          <a:xfrm>
            <a:off x="6165431" y="1958801"/>
            <a:ext cx="125097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GB" sz="1200" dirty="0">
                <a:solidFill>
                  <a:srgbClr val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Bosnia &amp; Herzegovina</a:t>
            </a: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288101-5DBB-2BBA-670A-02525CA3D2D2}"/>
              </a:ext>
            </a:extLst>
          </p:cNvPr>
          <p:cNvSpPr txBox="1"/>
          <p:nvPr/>
        </p:nvSpPr>
        <p:spPr bwMode="auto">
          <a:xfrm>
            <a:off x="7822900" y="2051134"/>
            <a:ext cx="125097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GB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Montenegro</a:t>
            </a: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191833-91E2-FD91-A049-899CC5ACE6D9}"/>
              </a:ext>
            </a:extLst>
          </p:cNvPr>
          <p:cNvSpPr txBox="1"/>
          <p:nvPr/>
        </p:nvSpPr>
        <p:spPr bwMode="auto">
          <a:xfrm>
            <a:off x="9606463" y="1958801"/>
            <a:ext cx="125097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GB" sz="1200" dirty="0">
                <a:solidFill>
                  <a:srgbClr val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North Macedonia</a:t>
            </a: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34CEE9A-44C8-373B-23CE-458CF5F315E9}"/>
              </a:ext>
            </a:extLst>
          </p:cNvPr>
          <p:cNvCxnSpPr/>
          <p:nvPr/>
        </p:nvCxnSpPr>
        <p:spPr>
          <a:xfrm>
            <a:off x="964424" y="2466633"/>
            <a:ext cx="12509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9818D69-2E65-4452-4BA4-8B93695F2D3A}"/>
              </a:ext>
            </a:extLst>
          </p:cNvPr>
          <p:cNvCxnSpPr/>
          <p:nvPr/>
        </p:nvCxnSpPr>
        <p:spPr>
          <a:xfrm>
            <a:off x="2709003" y="2466633"/>
            <a:ext cx="12509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4104C8D-2EE7-80B9-96DF-8163C137FED6}"/>
              </a:ext>
            </a:extLst>
          </p:cNvPr>
          <p:cNvCxnSpPr/>
          <p:nvPr/>
        </p:nvCxnSpPr>
        <p:spPr>
          <a:xfrm>
            <a:off x="4381868" y="2466633"/>
            <a:ext cx="12509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5B661A5-23A2-C1C1-744F-8405F2EB1178}"/>
              </a:ext>
            </a:extLst>
          </p:cNvPr>
          <p:cNvCxnSpPr/>
          <p:nvPr/>
        </p:nvCxnSpPr>
        <p:spPr>
          <a:xfrm>
            <a:off x="6126447" y="2466633"/>
            <a:ext cx="12509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4EF90C0-BCBE-7651-509A-539956378119}"/>
              </a:ext>
            </a:extLst>
          </p:cNvPr>
          <p:cNvCxnSpPr/>
          <p:nvPr/>
        </p:nvCxnSpPr>
        <p:spPr>
          <a:xfrm>
            <a:off x="7861884" y="2466633"/>
            <a:ext cx="12509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246961E-3328-843F-C9B1-69BB89ED9E63}"/>
              </a:ext>
            </a:extLst>
          </p:cNvPr>
          <p:cNvCxnSpPr/>
          <p:nvPr/>
        </p:nvCxnSpPr>
        <p:spPr>
          <a:xfrm>
            <a:off x="9606463" y="2466633"/>
            <a:ext cx="12509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7">
            <a:extLst>
              <a:ext uri="{FF2B5EF4-FFF2-40B4-BE49-F238E27FC236}">
                <a16:creationId xmlns:a16="http://schemas.microsoft.com/office/drawing/2014/main" id="{C78B6F9A-F33E-BC98-AA5F-4775F45F9C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6631" y="1943736"/>
            <a:ext cx="389156" cy="38915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14785F6F-98D7-997E-8688-345D4B465B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1065" y="1943736"/>
            <a:ext cx="389156" cy="389156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21F2F764-C0A3-4910-2552-B01258256B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5498" y="1943736"/>
            <a:ext cx="389156" cy="38915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32CC5C4E-E770-0B46-1FF4-BD46007ABC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9932" y="1943736"/>
            <a:ext cx="389156" cy="389156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1FF764B-7E31-0BA2-D940-F635FBB625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4365" y="1943736"/>
            <a:ext cx="389156" cy="38915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6DB394A-C622-C6A3-C36E-E7AFB3E843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08800" y="1943736"/>
            <a:ext cx="389156" cy="389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853971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1247407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380</Words>
  <Application>Microsoft Macintosh PowerPoint</Application>
  <PresentationFormat>Widescreen</PresentationFormat>
  <Paragraphs>62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Aptos</vt:lpstr>
      <vt:lpstr>Aptos Display</vt:lpstr>
      <vt:lpstr>Arial</vt:lpstr>
      <vt:lpstr>Lato</vt:lpstr>
      <vt:lpstr>Lato </vt:lpstr>
      <vt:lpstr>Open Sans</vt:lpstr>
      <vt:lpstr>Wingdings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Mike Rich</dc:creator>
  <cp:lastModifiedBy>Mike Rich</cp:lastModifiedBy>
  <cp:revision>1</cp:revision>
  <dcterms:created xsi:type="dcterms:W3CDTF">2026-07-10T12:10:28Z</dcterms:created>
  <dcterms:modified xsi:type="dcterms:W3CDTF">2026-07-10T12:11:51Z</dcterms:modified>
</cp:coreProperties>
</file>